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9"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0196" autoAdjust="0"/>
  </p:normalViewPr>
  <p:slideViewPr>
    <p:cSldViewPr snapToGrid="0" snapToObjects="1">
      <p:cViewPr varScale="1">
        <p:scale>
          <a:sx n="74" d="100"/>
          <a:sy n="74" d="100"/>
        </p:scale>
        <p:origin x="104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271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This presentation covers our TPSM group assignment where we investigate whether a positive work environment improves developer motivation using data analysis on a real HR dataset of 10,000 employees. We'll walk through descriptive, inferential, and predictive analysis.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roadmap for today. We'll cover 6 main sections. Each section builds on the previous one — we start by defining what we're measuring, then explore the data, test our hypotheses statistically, and finally use machine learning to predict outcomes.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statement has two key concepts. On the left: the statement itself. On the right: how we translate abstract concepts into actual dataset columns. Environment satisfaction and work-life balance measure the environment. Job involvement and satisfaction measure motivation. And crucially — attrition is our behavioural proxy: when developers leave, it signals disengagement and low motivation.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our 6 research objectives for the assignment. Walk through each numbered card: start with defining our variables (01), then descriptive (02), statistical testing (03), machine learning (04), scenario simulation (05), and finally our verdict (06). Mention that all 6 objectives feed into our final conclusion. Keep this slide to about 60–75 seconds.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used a three-tier analysis approach, which is standard for this type of research. Descriptive tells us what the data looks like. Inferential tells us if patterns are statistically significant. Predictive tells us if we can use environment factors to forecast who will leave. All coded in Python on Google Colab.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dataset overview. 10,000 employees, 23 variables, zero missing values — a clean dataset ready for analysis. Our focus is the 822 developers which is well above the 300 minimum required. The pie chart shows overall attrition at 22.5% — about 1 in 4 employees left.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engineered 4 new features. Work_Env_Score combines environment satisfaction and work-life balance, then subtracts overtime as a negative factor. Motivation_Score averages job involvement and satisfaction. We also created binary versions of Attrition and Overtime for the ML models. The developer subset gives us 822 clean records.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Zero missing values — the dataset was perfectly clean, no imputation needed. The 6 histograms show that all key variables are fairly uniformly distributed across their 1 to 5 scale. This is important — it means we have enough data at each level to make valid comparisons.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our strongest descriptive findings. Developers in Level 1 environments (lowest satisfaction) have 27.1% attrition, while Level 4 is only 12.7%. That's more than double. This clearly shows that poor work environments are associated with developers leaving — which we interpret as a proxy for low motivation and disengagement.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left chart shows average motivation score per environment level with error bars, and the right shows the distribution as boxplots. Motivation peaks at Level 3 with 3.132. This suggests there are diminishing returns — simply pushing environment quality very high doesn't proportionally increase motivation. Mid-range quality already achieves a good motivation score.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interesting paradox. Overtime barely changes motivation scores — 3.007 vs 3.004 — essentially no difference. BUT overtime is associated with higher attrition rates. This tells us that overtime creates invisible disengagement: employees don't consciously report lower motivation, but they vote with their feet by leaving. This nuance is important for our conclusion.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heatmap shows correlations between all key variables. The most important one is Environment Satisfaction and Attrition — a negative correlation of -0.14, meaning as environment satisfaction goes up, attrition goes down. Green cells indicate positive correlation, red cells negative. The diagonal would be all 1.0 as every variable correlates perfectly with itself.</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running our statistical tests, we clearly define our hypotheses. H0 says there is no relationship. H1 says there is. We test at the standard 5% significance level. We chose 4 different tests to look at the question from multiple angles — correlations, group comparisons, categorical associations, and non-parametric comparison of two groups.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key results here. Spearman shows no direct link between environment satisfaction and job involvement scores — BUT there IS a significant negative correlation with attrition (p=0.000062). Kruskal-Wallis shows motivation scores don't significantly differ across environment levels. So self-reported motivation stays similar, but actual exit behaviour changes significantly.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Chi-Square is our second significant result — p=0.000145 means there IS a significant association between environment satisfaction level and whether someone leaves. Point to the contingency table — red percentages for low env, green for high. Mann-Whitney is not significant because actual motivation SCORES don't change much, only exit behaviour does.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all 5 tests. 2 are significant — both related to attrition, not self-reported motivation scores. This is an important nuance: the environment doesn't change how people RATE their motivation, but it does change whether they STAY or LEAVE. Point to the stacked bar chart on the right side of fig7 — it visually shows how attrition distribution differs clearly across environment levels.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 ML to predict attrition — our behavioural proxy for motivation. Stratified split ensures the 22% attrition ratio is maintained in both train and test sets. We trained 3 different models of increasing complexity to compare performance. The 13 features include all our work environment variables plus demographic controls.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models perform well. AUC of 0.80 for Gradient Boosting means it correctly distinguishes between employees who left and who stayed 80% of the time — significantly better than random. Accuracy of 84.6% means 8 out of 10 predictions are correct. The ROC curves all sit well above the diagonal reference line, showing genuine predictive power.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our most powerful findings. Out of 13 features, work environment features collectively explain 47% of why people leave. Env Satisfaction alone is the 3rd most important feature. The pie chart on the right shows only environment-related features and their share. This is strong evidence that environment matters — even when controlling for salary, age, and experience.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most powerful slide. We took the average developer profile and only changed the environment variables. The result: attrition risk drops from 31.1% all the way to 6.3% — a 5x reduction. This is the clearest possible evidence that environment drives developer engagement. Pause here and let the audience take in the numbers.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dashboard brings together all our findings in one view. The top row shows our three key descriptive and ML findings. Bottom left shows the predictive power of our models. Bottom right shows all hypothesis test results. A quick scan of this slide tells the full story of our analysis.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statement is partially supported. The word 'partially' is honest and academically rigorous — and it actually shows depth of understanding. The direct correlation between environment and self-reported motivation scores is weak. BUT the relationship between environment and attrition — which is a behavioural indicator of motivation — is very strong and statistically significant across multiple tests and ML models.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Acknowledging limitations shows academic maturity — mention these proactively rather than waiting for the examiner to ask. Key limitation: we can't prove causation, only strong association. Key recommendation: the 5x attrition reduction in our scenario analysis is a compelling business case for investing in work environment improvements.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audience and open for questions. Be prepared to discuss: why motivation scores didn't change (social desirability bias, indirect measurement), why attrition is a valid proxy for motivation, and how the 5x scenario was generated using the Gradient Boosting model. If asked about causation vs correlation — be honest that this is observational data and we can't prove causation.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502920" cy="68580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1920240"/>
            <a:ext cx="1168603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005840"/>
            <a:ext cx="10515600" cy="502920"/>
          </a:xfrm>
          <a:prstGeom prst="rect">
            <a:avLst/>
          </a:prstGeom>
          <a:noFill/>
        </p:spPr>
        <p:txBody>
          <a:bodyPr wrap="square">
            <a:spAutoFit/>
          </a:bodyPr>
          <a:lstStyle/>
          <a:p>
            <a:pPr algn="l"/>
            <a:r>
              <a:rPr sz="1500" b="1" i="0">
                <a:solidFill>
                  <a:srgbClr val="F5A623"/>
                </a:solidFill>
                <a:latin typeface="Calibri"/>
              </a:rPr>
              <a:t>TPSM Group Assignment</a:t>
            </a:r>
          </a:p>
        </p:txBody>
      </p:sp>
      <p:sp>
        <p:nvSpPr>
          <p:cNvPr id="5" name="TextBox 4"/>
          <p:cNvSpPr txBox="1"/>
          <p:nvPr/>
        </p:nvSpPr>
        <p:spPr>
          <a:xfrm>
            <a:off x="777240" y="1965960"/>
            <a:ext cx="10241280" cy="1463040"/>
          </a:xfrm>
          <a:prstGeom prst="rect">
            <a:avLst/>
          </a:prstGeom>
          <a:noFill/>
        </p:spPr>
        <p:txBody>
          <a:bodyPr wrap="square">
            <a:spAutoFit/>
          </a:bodyPr>
          <a:lstStyle/>
          <a:p>
            <a:pPr algn="l"/>
            <a:r>
              <a:rPr sz="3600" b="1" i="0" dirty="0">
                <a:solidFill>
                  <a:srgbClr val="FFFFFF"/>
                </a:solidFill>
                <a:latin typeface="Calibri"/>
              </a:rPr>
              <a:t>Positive Work Environment
Improves Developer Motivation</a:t>
            </a:r>
          </a:p>
        </p:txBody>
      </p:sp>
      <p:sp>
        <p:nvSpPr>
          <p:cNvPr id="6" name="TextBox 5"/>
          <p:cNvSpPr txBox="1"/>
          <p:nvPr/>
        </p:nvSpPr>
        <p:spPr>
          <a:xfrm>
            <a:off x="777240" y="3200400"/>
            <a:ext cx="10058400" cy="457200"/>
          </a:xfrm>
          <a:prstGeom prst="rect">
            <a:avLst/>
          </a:prstGeom>
          <a:noFill/>
        </p:spPr>
        <p:txBody>
          <a:bodyPr wrap="square">
            <a:spAutoFit/>
          </a:bodyPr>
          <a:lstStyle/>
          <a:p>
            <a:pPr algn="l"/>
            <a:r>
              <a:rPr sz="1600" b="0" i="1">
                <a:solidFill>
                  <a:srgbClr val="D0D7E3"/>
                </a:solidFill>
                <a:latin typeface="Calibri"/>
              </a:rPr>
              <a:t>Analytical Statement Analysis using HR Attrition Dataset</a:t>
            </a:r>
          </a:p>
        </p:txBody>
      </p:sp>
      <p:sp>
        <p:nvSpPr>
          <p:cNvPr id="7" name="Rectangle 6"/>
          <p:cNvSpPr/>
          <p:nvPr/>
        </p:nvSpPr>
        <p:spPr>
          <a:xfrm>
            <a:off x="777240" y="3840480"/>
            <a:ext cx="10058400" cy="36576"/>
          </a:xfrm>
          <a:prstGeom prst="rect">
            <a:avLst/>
          </a:prstGeom>
          <a:solidFill>
            <a:srgbClr val="D0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977639"/>
            <a:ext cx="10058400" cy="365760"/>
          </a:xfrm>
          <a:prstGeom prst="rect">
            <a:avLst/>
          </a:prstGeom>
          <a:noFill/>
        </p:spPr>
        <p:txBody>
          <a:bodyPr wrap="square">
            <a:spAutoFit/>
          </a:bodyPr>
          <a:lstStyle/>
          <a:p>
            <a:pPr algn="l"/>
            <a:r>
              <a:rPr sz="1100" b="0" i="0">
                <a:solidFill>
                  <a:srgbClr val="6B7A99"/>
                </a:solidFill>
                <a:latin typeface="Calibri"/>
              </a:rPr>
              <a:t>Dataset: 10,000 Employee Records  |  Tools: Python · pandas · scipy · sklearn · seaborn  |  Platform: Google Colab</a:t>
            </a:r>
          </a:p>
        </p:txBody>
      </p:sp>
      <p:sp>
        <p:nvSpPr>
          <p:cNvPr id="9" name="TextBox 8"/>
          <p:cNvSpPr txBox="1"/>
          <p:nvPr/>
        </p:nvSpPr>
        <p:spPr>
          <a:xfrm>
            <a:off x="777240" y="4572000"/>
            <a:ext cx="3657600" cy="276999"/>
          </a:xfrm>
          <a:prstGeom prst="rect">
            <a:avLst/>
          </a:prstGeom>
          <a:noFill/>
        </p:spPr>
        <p:txBody>
          <a:bodyPr wrap="square">
            <a:spAutoFit/>
          </a:bodyPr>
          <a:lstStyle/>
          <a:p>
            <a:pPr algn="l"/>
            <a:r>
              <a:rPr lang="en-US" sz="1200" dirty="0">
                <a:solidFill>
                  <a:srgbClr val="6B7A99"/>
                </a:solidFill>
                <a:latin typeface="Calibri"/>
              </a:rPr>
              <a:t>April </a:t>
            </a:r>
            <a:r>
              <a:rPr sz="1200" b="0" i="0" dirty="0">
                <a:solidFill>
                  <a:srgbClr val="6B7A99"/>
                </a:solidFill>
                <a:latin typeface="Calibr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078992" cy="25603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896112" cy="228600"/>
          </a:xfrm>
          <a:prstGeom prst="rect">
            <a:avLst/>
          </a:prstGeom>
          <a:noFill/>
        </p:spPr>
        <p:txBody>
          <a:bodyPr wrap="square">
            <a:spAutoFit/>
          </a:bodyPr>
          <a:lstStyle/>
          <a:p>
            <a:pPr algn="l"/>
            <a:r>
              <a:rPr sz="900" b="1" i="0">
                <a:solidFill>
                  <a:srgbClr val="FFFFFF"/>
                </a:solidFill>
                <a:latin typeface="Calibri"/>
              </a:rPr>
              <a:t>OVERVIEW</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Presentation Roadmap</a:t>
            </a:r>
          </a:p>
        </p:txBody>
      </p:sp>
      <p:sp>
        <p:nvSpPr>
          <p:cNvPr id="6" name="Rectangle 5"/>
          <p:cNvSpPr/>
          <p:nvPr/>
        </p:nvSpPr>
        <p:spPr>
          <a:xfrm>
            <a:off x="320040" y="1170432"/>
            <a:ext cx="11521440" cy="3657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3657600" cy="2011680"/>
          </a:xfrm>
          <a:prstGeom prst="rect">
            <a:avLst/>
          </a:prstGeom>
          <a:solidFill>
            <a:srgbClr val="102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417320"/>
            <a:ext cx="3657600" cy="41148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72184"/>
            <a:ext cx="457200" cy="320040"/>
          </a:xfrm>
          <a:prstGeom prst="rect">
            <a:avLst/>
          </a:prstGeom>
          <a:noFill/>
        </p:spPr>
        <p:txBody>
          <a:bodyPr wrap="square">
            <a:spAutoFit/>
          </a:bodyPr>
          <a:lstStyle/>
          <a:p>
            <a:pPr algn="l"/>
            <a:r>
              <a:rPr sz="1800" b="1" i="0">
                <a:solidFill>
                  <a:srgbClr val="FFFFFF"/>
                </a:solidFill>
                <a:latin typeface="Calibri"/>
              </a:rPr>
              <a:t>01</a:t>
            </a:r>
          </a:p>
        </p:txBody>
      </p:sp>
      <p:sp>
        <p:nvSpPr>
          <p:cNvPr id="10" name="TextBox 9"/>
          <p:cNvSpPr txBox="1"/>
          <p:nvPr/>
        </p:nvSpPr>
        <p:spPr>
          <a:xfrm>
            <a:off x="868680" y="1481328"/>
            <a:ext cx="2926080" cy="320040"/>
          </a:xfrm>
          <a:prstGeom prst="rect">
            <a:avLst/>
          </a:prstGeom>
          <a:noFill/>
        </p:spPr>
        <p:txBody>
          <a:bodyPr wrap="square">
            <a:spAutoFit/>
          </a:bodyPr>
          <a:lstStyle/>
          <a:p>
            <a:pPr algn="l"/>
            <a:r>
              <a:rPr sz="1400" b="1" i="0">
                <a:solidFill>
                  <a:srgbClr val="FFFFFF"/>
                </a:solidFill>
                <a:latin typeface="Calibri"/>
              </a:rPr>
              <a:t>Introduction</a:t>
            </a:r>
          </a:p>
        </p:txBody>
      </p:sp>
      <p:sp>
        <p:nvSpPr>
          <p:cNvPr id="11" name="TextBox 10"/>
          <p:cNvSpPr txBox="1"/>
          <p:nvPr/>
        </p:nvSpPr>
        <p:spPr>
          <a:xfrm>
            <a:off x="429768" y="1920240"/>
            <a:ext cx="3429000" cy="1371600"/>
          </a:xfrm>
          <a:prstGeom prst="rect">
            <a:avLst/>
          </a:prstGeom>
          <a:noFill/>
        </p:spPr>
        <p:txBody>
          <a:bodyPr wrap="square">
            <a:spAutoFit/>
          </a:bodyPr>
          <a:lstStyle/>
          <a:p>
            <a:pPr algn="l"/>
            <a:r>
              <a:rPr sz="1100" b="0" i="0">
                <a:solidFill>
                  <a:srgbClr val="D0D7E3"/>
                </a:solidFill>
                <a:latin typeface="Calibri"/>
              </a:rPr>
              <a:t>Statement, variables, research design</a:t>
            </a:r>
          </a:p>
        </p:txBody>
      </p:sp>
      <p:sp>
        <p:nvSpPr>
          <p:cNvPr id="12" name="Rectangle 11"/>
          <p:cNvSpPr/>
          <p:nvPr/>
        </p:nvSpPr>
        <p:spPr>
          <a:xfrm>
            <a:off x="4270248" y="1417320"/>
            <a:ext cx="3657600" cy="2011680"/>
          </a:xfrm>
          <a:prstGeom prst="rect">
            <a:avLst/>
          </a:prstGeom>
          <a:solidFill>
            <a:srgbClr val="102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0248" y="1417320"/>
            <a:ext cx="3657600" cy="411480"/>
          </a:xfrm>
          <a:prstGeom prst="rect">
            <a:avLst/>
          </a:prstGeom>
          <a:solidFill>
            <a:srgbClr val="278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07408" y="1472184"/>
            <a:ext cx="457200" cy="320040"/>
          </a:xfrm>
          <a:prstGeom prst="rect">
            <a:avLst/>
          </a:prstGeom>
          <a:noFill/>
        </p:spPr>
        <p:txBody>
          <a:bodyPr wrap="square">
            <a:spAutoFit/>
          </a:bodyPr>
          <a:lstStyle/>
          <a:p>
            <a:pPr algn="l"/>
            <a:r>
              <a:rPr sz="1800" b="1" i="0">
                <a:solidFill>
                  <a:srgbClr val="FFFFFF"/>
                </a:solidFill>
                <a:latin typeface="Calibri"/>
              </a:rPr>
              <a:t>02</a:t>
            </a:r>
          </a:p>
        </p:txBody>
      </p:sp>
      <p:sp>
        <p:nvSpPr>
          <p:cNvPr id="15" name="TextBox 14"/>
          <p:cNvSpPr txBox="1"/>
          <p:nvPr/>
        </p:nvSpPr>
        <p:spPr>
          <a:xfrm>
            <a:off x="4818888" y="1481328"/>
            <a:ext cx="2926080" cy="320040"/>
          </a:xfrm>
          <a:prstGeom prst="rect">
            <a:avLst/>
          </a:prstGeom>
          <a:noFill/>
        </p:spPr>
        <p:txBody>
          <a:bodyPr wrap="square">
            <a:spAutoFit/>
          </a:bodyPr>
          <a:lstStyle/>
          <a:p>
            <a:pPr algn="l"/>
            <a:r>
              <a:rPr sz="1400" b="1" i="0">
                <a:solidFill>
                  <a:srgbClr val="FFFFFF"/>
                </a:solidFill>
                <a:latin typeface="Calibri"/>
              </a:rPr>
              <a:t>Dataset</a:t>
            </a:r>
          </a:p>
        </p:txBody>
      </p:sp>
      <p:sp>
        <p:nvSpPr>
          <p:cNvPr id="16" name="TextBox 15"/>
          <p:cNvSpPr txBox="1"/>
          <p:nvPr/>
        </p:nvSpPr>
        <p:spPr>
          <a:xfrm>
            <a:off x="4379976" y="1920240"/>
            <a:ext cx="3429000" cy="1371600"/>
          </a:xfrm>
          <a:prstGeom prst="rect">
            <a:avLst/>
          </a:prstGeom>
          <a:noFill/>
        </p:spPr>
        <p:txBody>
          <a:bodyPr wrap="square">
            <a:spAutoFit/>
          </a:bodyPr>
          <a:lstStyle/>
          <a:p>
            <a:pPr algn="l"/>
            <a:r>
              <a:rPr sz="1100" b="0" i="0">
                <a:solidFill>
                  <a:srgbClr val="D0D7E3"/>
                </a:solidFill>
                <a:latin typeface="Calibri"/>
              </a:rPr>
              <a:t>10,000 records, feature engineering, EDA</a:t>
            </a:r>
          </a:p>
        </p:txBody>
      </p:sp>
      <p:sp>
        <p:nvSpPr>
          <p:cNvPr id="17" name="Rectangle 16"/>
          <p:cNvSpPr/>
          <p:nvPr/>
        </p:nvSpPr>
        <p:spPr>
          <a:xfrm>
            <a:off x="8220456" y="1417320"/>
            <a:ext cx="3657600" cy="2011680"/>
          </a:xfrm>
          <a:prstGeom prst="rect">
            <a:avLst/>
          </a:prstGeom>
          <a:solidFill>
            <a:srgbClr val="102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0456" y="1417320"/>
            <a:ext cx="3657600" cy="411480"/>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57616" y="1472184"/>
            <a:ext cx="457200" cy="320040"/>
          </a:xfrm>
          <a:prstGeom prst="rect">
            <a:avLst/>
          </a:prstGeom>
          <a:noFill/>
        </p:spPr>
        <p:txBody>
          <a:bodyPr wrap="square">
            <a:spAutoFit/>
          </a:bodyPr>
          <a:lstStyle/>
          <a:p>
            <a:pPr algn="l"/>
            <a:r>
              <a:rPr sz="1800" b="1" i="0">
                <a:solidFill>
                  <a:srgbClr val="FFFFFF"/>
                </a:solidFill>
                <a:latin typeface="Calibri"/>
              </a:rPr>
              <a:t>03</a:t>
            </a:r>
          </a:p>
        </p:txBody>
      </p:sp>
      <p:sp>
        <p:nvSpPr>
          <p:cNvPr id="20" name="TextBox 19"/>
          <p:cNvSpPr txBox="1"/>
          <p:nvPr/>
        </p:nvSpPr>
        <p:spPr>
          <a:xfrm>
            <a:off x="8769096" y="1481328"/>
            <a:ext cx="2926080" cy="320040"/>
          </a:xfrm>
          <a:prstGeom prst="rect">
            <a:avLst/>
          </a:prstGeom>
          <a:noFill/>
        </p:spPr>
        <p:txBody>
          <a:bodyPr wrap="square">
            <a:spAutoFit/>
          </a:bodyPr>
          <a:lstStyle/>
          <a:p>
            <a:pPr algn="l"/>
            <a:r>
              <a:rPr sz="1400" b="1" i="0">
                <a:solidFill>
                  <a:srgbClr val="FFFFFF"/>
                </a:solidFill>
                <a:latin typeface="Calibri"/>
              </a:rPr>
              <a:t>Descriptive</a:t>
            </a:r>
          </a:p>
        </p:txBody>
      </p:sp>
      <p:sp>
        <p:nvSpPr>
          <p:cNvPr id="21" name="TextBox 20"/>
          <p:cNvSpPr txBox="1"/>
          <p:nvPr/>
        </p:nvSpPr>
        <p:spPr>
          <a:xfrm>
            <a:off x="8330183" y="1920240"/>
            <a:ext cx="3429000" cy="1371600"/>
          </a:xfrm>
          <a:prstGeom prst="rect">
            <a:avLst/>
          </a:prstGeom>
          <a:noFill/>
        </p:spPr>
        <p:txBody>
          <a:bodyPr wrap="square">
            <a:spAutoFit/>
          </a:bodyPr>
          <a:lstStyle/>
          <a:p>
            <a:pPr algn="l"/>
            <a:r>
              <a:rPr sz="1100" b="0" i="0">
                <a:solidFill>
                  <a:srgbClr val="D0D7E3"/>
                </a:solidFill>
                <a:latin typeface="Calibri"/>
              </a:rPr>
              <a:t>Distributions, attrition rates, correlations</a:t>
            </a:r>
          </a:p>
        </p:txBody>
      </p:sp>
      <p:sp>
        <p:nvSpPr>
          <p:cNvPr id="22" name="Rectangle 21"/>
          <p:cNvSpPr/>
          <p:nvPr/>
        </p:nvSpPr>
        <p:spPr>
          <a:xfrm>
            <a:off x="320040" y="3794760"/>
            <a:ext cx="3657600" cy="2011680"/>
          </a:xfrm>
          <a:prstGeom prst="rect">
            <a:avLst/>
          </a:prstGeom>
          <a:solidFill>
            <a:srgbClr val="102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3794760"/>
            <a:ext cx="3657600" cy="411480"/>
          </a:xfrm>
          <a:prstGeom prst="rect">
            <a:avLst/>
          </a:prstGeom>
          <a:solidFill>
            <a:srgbClr val="7B3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849624"/>
            <a:ext cx="457200" cy="320040"/>
          </a:xfrm>
          <a:prstGeom prst="rect">
            <a:avLst/>
          </a:prstGeom>
          <a:noFill/>
        </p:spPr>
        <p:txBody>
          <a:bodyPr wrap="square">
            <a:spAutoFit/>
          </a:bodyPr>
          <a:lstStyle/>
          <a:p>
            <a:pPr algn="l"/>
            <a:r>
              <a:rPr sz="1800" b="1" i="0">
                <a:solidFill>
                  <a:srgbClr val="FFFFFF"/>
                </a:solidFill>
                <a:latin typeface="Calibri"/>
              </a:rPr>
              <a:t>04</a:t>
            </a:r>
          </a:p>
        </p:txBody>
      </p:sp>
      <p:sp>
        <p:nvSpPr>
          <p:cNvPr id="25" name="TextBox 24"/>
          <p:cNvSpPr txBox="1"/>
          <p:nvPr/>
        </p:nvSpPr>
        <p:spPr>
          <a:xfrm>
            <a:off x="868680" y="3858768"/>
            <a:ext cx="2926080" cy="320040"/>
          </a:xfrm>
          <a:prstGeom prst="rect">
            <a:avLst/>
          </a:prstGeom>
          <a:noFill/>
        </p:spPr>
        <p:txBody>
          <a:bodyPr wrap="square">
            <a:spAutoFit/>
          </a:bodyPr>
          <a:lstStyle/>
          <a:p>
            <a:pPr algn="l"/>
            <a:r>
              <a:rPr sz="1400" b="1" i="0">
                <a:solidFill>
                  <a:srgbClr val="FFFFFF"/>
                </a:solidFill>
                <a:latin typeface="Calibri"/>
              </a:rPr>
              <a:t>Inferential</a:t>
            </a:r>
          </a:p>
        </p:txBody>
      </p:sp>
      <p:sp>
        <p:nvSpPr>
          <p:cNvPr id="26" name="TextBox 25"/>
          <p:cNvSpPr txBox="1"/>
          <p:nvPr/>
        </p:nvSpPr>
        <p:spPr>
          <a:xfrm>
            <a:off x="429768" y="4297680"/>
            <a:ext cx="3429000" cy="1371600"/>
          </a:xfrm>
          <a:prstGeom prst="rect">
            <a:avLst/>
          </a:prstGeom>
          <a:noFill/>
        </p:spPr>
        <p:txBody>
          <a:bodyPr wrap="square">
            <a:spAutoFit/>
          </a:bodyPr>
          <a:lstStyle/>
          <a:p>
            <a:pPr algn="l"/>
            <a:r>
              <a:rPr sz="1100" b="0" i="0">
                <a:solidFill>
                  <a:srgbClr val="D0D7E3"/>
                </a:solidFill>
                <a:latin typeface="Calibri"/>
              </a:rPr>
              <a:t>4 hypothesis tests, p-values, verdicts</a:t>
            </a:r>
          </a:p>
        </p:txBody>
      </p:sp>
      <p:sp>
        <p:nvSpPr>
          <p:cNvPr id="27" name="Rectangle 26"/>
          <p:cNvSpPr/>
          <p:nvPr/>
        </p:nvSpPr>
        <p:spPr>
          <a:xfrm>
            <a:off x="4270248" y="3794760"/>
            <a:ext cx="3657600" cy="2011680"/>
          </a:xfrm>
          <a:prstGeom prst="rect">
            <a:avLst/>
          </a:prstGeom>
          <a:solidFill>
            <a:srgbClr val="102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70248" y="3794760"/>
            <a:ext cx="3657600" cy="411480"/>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07408" y="3849624"/>
            <a:ext cx="457200" cy="320040"/>
          </a:xfrm>
          <a:prstGeom prst="rect">
            <a:avLst/>
          </a:prstGeom>
          <a:noFill/>
        </p:spPr>
        <p:txBody>
          <a:bodyPr wrap="square">
            <a:spAutoFit/>
          </a:bodyPr>
          <a:lstStyle/>
          <a:p>
            <a:pPr algn="l"/>
            <a:r>
              <a:rPr sz="1800" b="1" i="0">
                <a:solidFill>
                  <a:srgbClr val="FFFFFF"/>
                </a:solidFill>
                <a:latin typeface="Calibri"/>
              </a:rPr>
              <a:t>05</a:t>
            </a:r>
          </a:p>
        </p:txBody>
      </p:sp>
      <p:sp>
        <p:nvSpPr>
          <p:cNvPr id="30" name="TextBox 29"/>
          <p:cNvSpPr txBox="1"/>
          <p:nvPr/>
        </p:nvSpPr>
        <p:spPr>
          <a:xfrm>
            <a:off x="4818888" y="3858768"/>
            <a:ext cx="2926080" cy="320040"/>
          </a:xfrm>
          <a:prstGeom prst="rect">
            <a:avLst/>
          </a:prstGeom>
          <a:noFill/>
        </p:spPr>
        <p:txBody>
          <a:bodyPr wrap="square">
            <a:spAutoFit/>
          </a:bodyPr>
          <a:lstStyle/>
          <a:p>
            <a:pPr algn="l"/>
            <a:r>
              <a:rPr sz="1400" b="1" i="0">
                <a:solidFill>
                  <a:srgbClr val="FFFFFF"/>
                </a:solidFill>
                <a:latin typeface="Calibri"/>
              </a:rPr>
              <a:t>Predictive / ML</a:t>
            </a:r>
          </a:p>
        </p:txBody>
      </p:sp>
      <p:sp>
        <p:nvSpPr>
          <p:cNvPr id="31" name="TextBox 30"/>
          <p:cNvSpPr txBox="1"/>
          <p:nvPr/>
        </p:nvSpPr>
        <p:spPr>
          <a:xfrm>
            <a:off x="4379976" y="4297680"/>
            <a:ext cx="3429000" cy="1371600"/>
          </a:xfrm>
          <a:prstGeom prst="rect">
            <a:avLst/>
          </a:prstGeom>
          <a:noFill/>
        </p:spPr>
        <p:txBody>
          <a:bodyPr wrap="square">
            <a:spAutoFit/>
          </a:bodyPr>
          <a:lstStyle/>
          <a:p>
            <a:pPr algn="l"/>
            <a:r>
              <a:rPr sz="1100" b="0" i="0">
                <a:solidFill>
                  <a:srgbClr val="D0D7E3"/>
                </a:solidFill>
                <a:latin typeface="Calibri"/>
              </a:rPr>
              <a:t>3 models, AUC, feature importance, scenarios</a:t>
            </a:r>
          </a:p>
        </p:txBody>
      </p:sp>
      <p:sp>
        <p:nvSpPr>
          <p:cNvPr id="32" name="Rectangle 31"/>
          <p:cNvSpPr/>
          <p:nvPr/>
        </p:nvSpPr>
        <p:spPr>
          <a:xfrm>
            <a:off x="8220456" y="3794760"/>
            <a:ext cx="3657600" cy="2011680"/>
          </a:xfrm>
          <a:prstGeom prst="rect">
            <a:avLst/>
          </a:prstGeom>
          <a:solidFill>
            <a:srgbClr val="102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220456" y="3794760"/>
            <a:ext cx="3657600" cy="41148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57616" y="3849624"/>
            <a:ext cx="457200" cy="320040"/>
          </a:xfrm>
          <a:prstGeom prst="rect">
            <a:avLst/>
          </a:prstGeom>
          <a:noFill/>
        </p:spPr>
        <p:txBody>
          <a:bodyPr wrap="square">
            <a:spAutoFit/>
          </a:bodyPr>
          <a:lstStyle/>
          <a:p>
            <a:pPr algn="l"/>
            <a:r>
              <a:rPr sz="1800" b="1" i="0">
                <a:solidFill>
                  <a:srgbClr val="FFFFFF"/>
                </a:solidFill>
                <a:latin typeface="Calibri"/>
              </a:rPr>
              <a:t>06</a:t>
            </a:r>
          </a:p>
        </p:txBody>
      </p:sp>
      <p:sp>
        <p:nvSpPr>
          <p:cNvPr id="35" name="TextBox 34"/>
          <p:cNvSpPr txBox="1"/>
          <p:nvPr/>
        </p:nvSpPr>
        <p:spPr>
          <a:xfrm>
            <a:off x="8769096" y="3858768"/>
            <a:ext cx="2926080" cy="320040"/>
          </a:xfrm>
          <a:prstGeom prst="rect">
            <a:avLst/>
          </a:prstGeom>
          <a:noFill/>
        </p:spPr>
        <p:txBody>
          <a:bodyPr wrap="square">
            <a:spAutoFit/>
          </a:bodyPr>
          <a:lstStyle/>
          <a:p>
            <a:pPr algn="l"/>
            <a:r>
              <a:rPr sz="1400" b="1" i="0">
                <a:solidFill>
                  <a:srgbClr val="FFFFFF"/>
                </a:solidFill>
                <a:latin typeface="Calibri"/>
              </a:rPr>
              <a:t>Conclusion</a:t>
            </a:r>
          </a:p>
        </p:txBody>
      </p:sp>
      <p:sp>
        <p:nvSpPr>
          <p:cNvPr id="36" name="TextBox 35"/>
          <p:cNvSpPr txBox="1"/>
          <p:nvPr/>
        </p:nvSpPr>
        <p:spPr>
          <a:xfrm>
            <a:off x="8330183" y="4297680"/>
            <a:ext cx="3429000" cy="1371600"/>
          </a:xfrm>
          <a:prstGeom prst="rect">
            <a:avLst/>
          </a:prstGeom>
          <a:noFill/>
        </p:spPr>
        <p:txBody>
          <a:bodyPr wrap="square">
            <a:spAutoFit/>
          </a:bodyPr>
          <a:lstStyle/>
          <a:p>
            <a:pPr algn="l"/>
            <a:r>
              <a:rPr sz="1100" b="0" i="0">
                <a:solidFill>
                  <a:srgbClr val="D0D7E3"/>
                </a:solidFill>
                <a:latin typeface="Calibri"/>
              </a:rPr>
              <a:t>Verdict, key takeaways,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481328" cy="25603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1298448" cy="228600"/>
          </a:xfrm>
          <a:prstGeom prst="rect">
            <a:avLst/>
          </a:prstGeom>
          <a:noFill/>
        </p:spPr>
        <p:txBody>
          <a:bodyPr wrap="square">
            <a:spAutoFit/>
          </a:bodyPr>
          <a:lstStyle/>
          <a:p>
            <a:pPr algn="l"/>
            <a:r>
              <a:rPr sz="900" b="1" i="0">
                <a:solidFill>
                  <a:srgbClr val="FFFFFF"/>
                </a:solidFill>
                <a:latin typeface="Calibri"/>
              </a:rPr>
              <a:t>INTRODUCTION</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What Are We Investigating?</a:t>
            </a:r>
          </a:p>
        </p:txBody>
      </p:sp>
      <p:sp>
        <p:nvSpPr>
          <p:cNvPr id="6" name="Rectangle 5"/>
          <p:cNvSpPr/>
          <p:nvPr/>
        </p:nvSpPr>
        <p:spPr>
          <a:xfrm>
            <a:off x="320040" y="1170432"/>
            <a:ext cx="11521440" cy="3657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25880"/>
            <a:ext cx="5486400" cy="52120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25880"/>
            <a:ext cx="5486400" cy="41148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371600"/>
            <a:ext cx="5120640" cy="365760"/>
          </a:xfrm>
          <a:prstGeom prst="rect">
            <a:avLst/>
          </a:prstGeom>
          <a:noFill/>
        </p:spPr>
        <p:txBody>
          <a:bodyPr wrap="square">
            <a:spAutoFit/>
          </a:bodyPr>
          <a:lstStyle/>
          <a:p>
            <a:pPr algn="l"/>
            <a:r>
              <a:rPr sz="1300" b="1" i="0">
                <a:solidFill>
                  <a:srgbClr val="FFFFFF"/>
                </a:solidFill>
                <a:latin typeface="Calibri"/>
              </a:rPr>
              <a:t>The Analytical Statement</a:t>
            </a:r>
          </a:p>
        </p:txBody>
      </p:sp>
      <p:sp>
        <p:nvSpPr>
          <p:cNvPr id="10" name="TextBox 9"/>
          <p:cNvSpPr txBox="1"/>
          <p:nvPr/>
        </p:nvSpPr>
        <p:spPr>
          <a:xfrm>
            <a:off x="502920" y="1874519"/>
            <a:ext cx="5212080" cy="1097280"/>
          </a:xfrm>
          <a:prstGeom prst="rect">
            <a:avLst/>
          </a:prstGeom>
          <a:noFill/>
        </p:spPr>
        <p:txBody>
          <a:bodyPr wrap="square">
            <a:spAutoFit/>
          </a:bodyPr>
          <a:lstStyle/>
          <a:p>
            <a:pPr algn="l"/>
            <a:r>
              <a:rPr sz="1800" b="1" i="1">
                <a:solidFill>
                  <a:srgbClr val="F5A623"/>
                </a:solidFill>
                <a:latin typeface="Calibri"/>
              </a:rPr>
              <a:t>"Positive Work Environment
Improves Developer Motivation"</a:t>
            </a:r>
          </a:p>
        </p:txBody>
      </p:sp>
      <p:sp>
        <p:nvSpPr>
          <p:cNvPr id="11" name="TextBox 10"/>
          <p:cNvSpPr txBox="1"/>
          <p:nvPr/>
        </p:nvSpPr>
        <p:spPr>
          <a:xfrm>
            <a:off x="502920" y="3108960"/>
            <a:ext cx="5120640" cy="320040"/>
          </a:xfrm>
          <a:prstGeom prst="rect">
            <a:avLst/>
          </a:prstGeom>
          <a:noFill/>
        </p:spPr>
        <p:txBody>
          <a:bodyPr wrap="square">
            <a:spAutoFit/>
          </a:bodyPr>
          <a:lstStyle/>
          <a:p>
            <a:pPr algn="l"/>
            <a:r>
              <a:rPr sz="1200" b="1" i="0">
                <a:solidFill>
                  <a:srgbClr val="D0D7E3"/>
                </a:solidFill>
                <a:latin typeface="Calibri"/>
              </a:rPr>
              <a:t>This means we need to:</a:t>
            </a:r>
          </a:p>
        </p:txBody>
      </p:sp>
      <p:sp>
        <p:nvSpPr>
          <p:cNvPr id="12" name="TextBox 11"/>
          <p:cNvSpPr txBox="1"/>
          <p:nvPr/>
        </p:nvSpPr>
        <p:spPr>
          <a:xfrm>
            <a:off x="502920" y="3474720"/>
            <a:ext cx="5120640" cy="2286000"/>
          </a:xfrm>
          <a:prstGeom prst="rect">
            <a:avLst/>
          </a:prstGeom>
          <a:noFill/>
        </p:spPr>
        <p:txBody>
          <a:bodyPr wrap="square">
            <a:spAutoFit/>
          </a:bodyPr>
          <a:lstStyle/>
          <a:p>
            <a:pPr algn="l">
              <a:spcAft>
                <a:spcPts val="400"/>
              </a:spcAft>
            </a:pPr>
            <a:r>
              <a:rPr sz="1200">
                <a:solidFill>
                  <a:srgbClr val="F4F6F9"/>
                </a:solidFill>
                <a:latin typeface="Calibri"/>
              </a:rPr>
              <a:t>▸  Define 'positive work environment' using measurable variables</a:t>
            </a:r>
          </a:p>
          <a:p>
            <a:pPr algn="l">
              <a:spcAft>
                <a:spcPts val="400"/>
              </a:spcAft>
            </a:pPr>
            <a:r>
              <a:rPr sz="1200">
                <a:solidFill>
                  <a:srgbClr val="F4F6F9"/>
                </a:solidFill>
                <a:latin typeface="Calibri"/>
              </a:rPr>
              <a:t>▸  Define 'developer motivation' using measurable variables</a:t>
            </a:r>
          </a:p>
          <a:p>
            <a:pPr algn="l">
              <a:spcAft>
                <a:spcPts val="400"/>
              </a:spcAft>
            </a:pPr>
            <a:r>
              <a:rPr sz="1200">
                <a:solidFill>
                  <a:srgbClr val="F4F6F9"/>
                </a:solidFill>
                <a:latin typeface="Calibri"/>
              </a:rPr>
              <a:t>▸  Use data to verify if the relationship holds</a:t>
            </a:r>
          </a:p>
          <a:p>
            <a:pPr algn="l">
              <a:spcAft>
                <a:spcPts val="400"/>
              </a:spcAft>
            </a:pPr>
            <a:r>
              <a:rPr sz="1200">
                <a:solidFill>
                  <a:srgbClr val="F4F6F9"/>
                </a:solidFill>
                <a:latin typeface="Calibri"/>
              </a:rPr>
              <a:t>▸  Apply statistical tests and ML models for rigour</a:t>
            </a:r>
          </a:p>
        </p:txBody>
      </p:sp>
      <p:sp>
        <p:nvSpPr>
          <p:cNvPr id="13" name="Rectangle 12"/>
          <p:cNvSpPr/>
          <p:nvPr/>
        </p:nvSpPr>
        <p:spPr>
          <a:xfrm>
            <a:off x="6080760" y="1325880"/>
            <a:ext cx="5760720" cy="52120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1325880"/>
            <a:ext cx="576072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1371600"/>
            <a:ext cx="5303520" cy="365760"/>
          </a:xfrm>
          <a:prstGeom prst="rect">
            <a:avLst/>
          </a:prstGeom>
          <a:noFill/>
        </p:spPr>
        <p:txBody>
          <a:bodyPr wrap="square">
            <a:spAutoFit/>
          </a:bodyPr>
          <a:lstStyle/>
          <a:p>
            <a:pPr algn="l"/>
            <a:r>
              <a:rPr sz="1300" b="1" i="0">
                <a:solidFill>
                  <a:srgbClr val="0D234A"/>
                </a:solidFill>
                <a:latin typeface="Calibri"/>
              </a:rPr>
              <a:t>Variable Mapping</a:t>
            </a:r>
          </a:p>
        </p:txBody>
      </p:sp>
      <p:sp>
        <p:nvSpPr>
          <p:cNvPr id="16" name="Rectangle 15"/>
          <p:cNvSpPr/>
          <p:nvPr/>
        </p:nvSpPr>
        <p:spPr>
          <a:xfrm>
            <a:off x="6263640" y="1874519"/>
            <a:ext cx="5394960" cy="1234440"/>
          </a:xfrm>
          <a:prstGeom prst="rect">
            <a:avLst/>
          </a:prstGeom>
          <a:solidFill>
            <a:srgbClr val="0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938528"/>
            <a:ext cx="5029200" cy="365760"/>
          </a:xfrm>
          <a:prstGeom prst="rect">
            <a:avLst/>
          </a:prstGeom>
          <a:noFill/>
        </p:spPr>
        <p:txBody>
          <a:bodyPr wrap="square">
            <a:spAutoFit/>
          </a:bodyPr>
          <a:lstStyle/>
          <a:p>
            <a:pPr algn="l"/>
            <a:r>
              <a:rPr sz="1200" b="1" i="0">
                <a:solidFill>
                  <a:srgbClr val="FFFFFF"/>
                </a:solidFill>
                <a:latin typeface="Calibri"/>
              </a:rPr>
              <a:t>🌿  Positive Work Environment</a:t>
            </a:r>
          </a:p>
        </p:txBody>
      </p:sp>
      <p:sp>
        <p:nvSpPr>
          <p:cNvPr id="18" name="TextBox 17"/>
          <p:cNvSpPr txBox="1"/>
          <p:nvPr/>
        </p:nvSpPr>
        <p:spPr>
          <a:xfrm>
            <a:off x="6446520" y="2331720"/>
            <a:ext cx="5029200" cy="822960"/>
          </a:xfrm>
          <a:prstGeom prst="rect">
            <a:avLst/>
          </a:prstGeom>
          <a:noFill/>
        </p:spPr>
        <p:txBody>
          <a:bodyPr wrap="square">
            <a:spAutoFit/>
          </a:bodyPr>
          <a:lstStyle/>
          <a:p>
            <a:pPr algn="l">
              <a:spcAft>
                <a:spcPts val="400"/>
              </a:spcAft>
            </a:pPr>
            <a:r>
              <a:rPr sz="1100">
                <a:solidFill>
                  <a:srgbClr val="A0FFD0"/>
                </a:solidFill>
                <a:latin typeface="Calibri"/>
              </a:rPr>
              <a:t>▸  Environment_Satisfaction (1–5)</a:t>
            </a:r>
          </a:p>
          <a:p>
            <a:pPr algn="l">
              <a:spcAft>
                <a:spcPts val="400"/>
              </a:spcAft>
            </a:pPr>
            <a:r>
              <a:rPr sz="1100">
                <a:solidFill>
                  <a:srgbClr val="A0FFD0"/>
                </a:solidFill>
                <a:latin typeface="Calibri"/>
              </a:rPr>
              <a:t>▸  Work_life_balance (1–5)</a:t>
            </a:r>
          </a:p>
          <a:p>
            <a:pPr algn="l">
              <a:spcAft>
                <a:spcPts val="400"/>
              </a:spcAft>
            </a:pPr>
            <a:r>
              <a:rPr sz="1100">
                <a:solidFill>
                  <a:srgbClr val="A0FFD0"/>
                </a:solidFill>
                <a:latin typeface="Calibri"/>
              </a:rPr>
              <a:t>▸  Overtime (Yes/No)</a:t>
            </a:r>
          </a:p>
        </p:txBody>
      </p:sp>
      <p:sp>
        <p:nvSpPr>
          <p:cNvPr id="19" name="Rectangle 18"/>
          <p:cNvSpPr/>
          <p:nvPr/>
        </p:nvSpPr>
        <p:spPr>
          <a:xfrm>
            <a:off x="6263640" y="3246120"/>
            <a:ext cx="5394960" cy="1234440"/>
          </a:xfrm>
          <a:prstGeom prst="rect">
            <a:avLst/>
          </a:prstGeom>
          <a:solidFill>
            <a:srgbClr val="003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3310128"/>
            <a:ext cx="5029200" cy="365760"/>
          </a:xfrm>
          <a:prstGeom prst="rect">
            <a:avLst/>
          </a:prstGeom>
          <a:noFill/>
        </p:spPr>
        <p:txBody>
          <a:bodyPr wrap="square">
            <a:spAutoFit/>
          </a:bodyPr>
          <a:lstStyle/>
          <a:p>
            <a:pPr algn="l"/>
            <a:r>
              <a:rPr sz="1200" b="1" i="0">
                <a:solidFill>
                  <a:srgbClr val="FFFFFF"/>
                </a:solidFill>
                <a:latin typeface="Calibri"/>
              </a:rPr>
              <a:t>🎯  Developer Motivation</a:t>
            </a:r>
          </a:p>
        </p:txBody>
      </p:sp>
      <p:sp>
        <p:nvSpPr>
          <p:cNvPr id="21" name="TextBox 20"/>
          <p:cNvSpPr txBox="1"/>
          <p:nvPr/>
        </p:nvSpPr>
        <p:spPr>
          <a:xfrm>
            <a:off x="6446520" y="3703320"/>
            <a:ext cx="5029200" cy="822960"/>
          </a:xfrm>
          <a:prstGeom prst="rect">
            <a:avLst/>
          </a:prstGeom>
          <a:noFill/>
        </p:spPr>
        <p:txBody>
          <a:bodyPr wrap="square">
            <a:spAutoFit/>
          </a:bodyPr>
          <a:lstStyle/>
          <a:p>
            <a:pPr algn="l">
              <a:spcAft>
                <a:spcPts val="400"/>
              </a:spcAft>
            </a:pPr>
            <a:r>
              <a:rPr sz="1100">
                <a:solidFill>
                  <a:srgbClr val="A0D0FF"/>
                </a:solidFill>
                <a:latin typeface="Calibri"/>
              </a:rPr>
              <a:t>▸  Job_Involvement (1–5)</a:t>
            </a:r>
          </a:p>
          <a:p>
            <a:pPr algn="l">
              <a:spcAft>
                <a:spcPts val="400"/>
              </a:spcAft>
            </a:pPr>
            <a:r>
              <a:rPr sz="1100">
                <a:solidFill>
                  <a:srgbClr val="A0D0FF"/>
                </a:solidFill>
                <a:latin typeface="Calibri"/>
              </a:rPr>
              <a:t>▸  Job_Satisfaction (1–5)</a:t>
            </a:r>
          </a:p>
        </p:txBody>
      </p:sp>
      <p:sp>
        <p:nvSpPr>
          <p:cNvPr id="22" name="Rectangle 21"/>
          <p:cNvSpPr/>
          <p:nvPr/>
        </p:nvSpPr>
        <p:spPr>
          <a:xfrm>
            <a:off x="6263640" y="4617720"/>
            <a:ext cx="5394960" cy="1234440"/>
          </a:xfrm>
          <a:prstGeom prst="rect">
            <a:avLst/>
          </a:prstGeom>
          <a:solidFill>
            <a:srgbClr val="40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4681728"/>
            <a:ext cx="5029200" cy="365760"/>
          </a:xfrm>
          <a:prstGeom prst="rect">
            <a:avLst/>
          </a:prstGeom>
          <a:noFill/>
        </p:spPr>
        <p:txBody>
          <a:bodyPr wrap="square">
            <a:spAutoFit/>
          </a:bodyPr>
          <a:lstStyle/>
          <a:p>
            <a:pPr algn="l"/>
            <a:r>
              <a:rPr sz="1200" b="1" i="0">
                <a:solidFill>
                  <a:srgbClr val="FFFFFF"/>
                </a:solidFill>
                <a:latin typeface="Calibri"/>
              </a:rPr>
              <a:t>📊  Outcome (Behaviour Proxy)</a:t>
            </a:r>
          </a:p>
        </p:txBody>
      </p:sp>
      <p:sp>
        <p:nvSpPr>
          <p:cNvPr id="24" name="TextBox 23"/>
          <p:cNvSpPr txBox="1"/>
          <p:nvPr/>
        </p:nvSpPr>
        <p:spPr>
          <a:xfrm>
            <a:off x="6446520" y="5074920"/>
            <a:ext cx="5029200" cy="822960"/>
          </a:xfrm>
          <a:prstGeom prst="rect">
            <a:avLst/>
          </a:prstGeom>
          <a:noFill/>
        </p:spPr>
        <p:txBody>
          <a:bodyPr wrap="square">
            <a:spAutoFit/>
          </a:bodyPr>
          <a:lstStyle/>
          <a:p>
            <a:pPr algn="l">
              <a:spcAft>
                <a:spcPts val="400"/>
              </a:spcAft>
            </a:pPr>
            <a:r>
              <a:rPr sz="1100">
                <a:solidFill>
                  <a:srgbClr val="FFC090"/>
                </a:solidFill>
                <a:latin typeface="Calibri"/>
              </a:rPr>
              <a:t>▸  Attrition — leaving company = disengagement = low motivation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691640" cy="25603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80"/>
            <a:ext cx="1508760" cy="228600"/>
          </a:xfrm>
          <a:prstGeom prst="rect">
            <a:avLst/>
          </a:prstGeom>
          <a:noFill/>
        </p:spPr>
        <p:txBody>
          <a:bodyPr wrap="square">
            <a:spAutoFit/>
          </a:bodyPr>
          <a:lstStyle/>
          <a:p>
            <a:pPr algn="l"/>
            <a:r>
              <a:rPr sz="900" b="1" i="0">
                <a:solidFill>
                  <a:srgbClr val="FFFFFF"/>
                </a:solidFill>
                <a:latin typeface="Calibri"/>
              </a:rPr>
              <a:t>INTRODUCTION</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Research Objectives</a:t>
            </a:r>
          </a:p>
        </p:txBody>
      </p:sp>
      <p:sp>
        <p:nvSpPr>
          <p:cNvPr id="6" name="Rectangle 5"/>
          <p:cNvSpPr/>
          <p:nvPr/>
        </p:nvSpPr>
        <p:spPr>
          <a:xfrm>
            <a:off x="320040" y="1170432"/>
            <a:ext cx="11521440" cy="3657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25880"/>
            <a:ext cx="11521440" cy="566928"/>
          </a:xfrm>
          <a:prstGeom prst="rect">
            <a:avLst/>
          </a:prstGeom>
          <a:solidFill>
            <a:srgbClr val="0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25880"/>
            <a:ext cx="7315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371600"/>
            <a:ext cx="2926080" cy="256032"/>
          </a:xfrm>
          <a:prstGeom prst="rect">
            <a:avLst/>
          </a:prstGeom>
          <a:noFill/>
        </p:spPr>
        <p:txBody>
          <a:bodyPr wrap="square">
            <a:spAutoFit/>
          </a:bodyPr>
          <a:lstStyle/>
          <a:p>
            <a:pPr algn="l"/>
            <a:r>
              <a:rPr sz="1100" b="1" i="0">
                <a:solidFill>
                  <a:srgbClr val="F5A623"/>
                </a:solidFill>
                <a:latin typeface="Calibri"/>
              </a:rPr>
              <a:t>Analytical Statement:</a:t>
            </a:r>
          </a:p>
        </p:txBody>
      </p:sp>
      <p:sp>
        <p:nvSpPr>
          <p:cNvPr id="10" name="TextBox 9"/>
          <p:cNvSpPr txBox="1"/>
          <p:nvPr/>
        </p:nvSpPr>
        <p:spPr>
          <a:xfrm>
            <a:off x="530352" y="1581912"/>
            <a:ext cx="11064240" cy="274320"/>
          </a:xfrm>
          <a:prstGeom prst="rect">
            <a:avLst/>
          </a:prstGeom>
          <a:noFill/>
        </p:spPr>
        <p:txBody>
          <a:bodyPr wrap="square">
            <a:spAutoFit/>
          </a:bodyPr>
          <a:lstStyle/>
          <a:p>
            <a:pPr algn="l"/>
            <a:r>
              <a:rPr sz="1300" b="1" i="1">
                <a:solidFill>
                  <a:srgbClr val="FFFFFF"/>
                </a:solidFill>
                <a:latin typeface="Calibri"/>
              </a:rPr>
              <a:t>"Positive Work Environment Improves Developer Motivation"</a:t>
            </a:r>
          </a:p>
        </p:txBody>
      </p:sp>
      <p:sp>
        <p:nvSpPr>
          <p:cNvPr id="11" name="Rectangle 10"/>
          <p:cNvSpPr/>
          <p:nvPr/>
        </p:nvSpPr>
        <p:spPr>
          <a:xfrm>
            <a:off x="320040" y="2011680"/>
            <a:ext cx="5577840" cy="138988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2011680"/>
            <a:ext cx="64008" cy="138988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4632" y="2176272"/>
            <a:ext cx="402336" cy="40233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4632" y="2176272"/>
            <a:ext cx="402336" cy="402336"/>
          </a:xfrm>
          <a:prstGeom prst="rect">
            <a:avLst/>
          </a:prstGeom>
          <a:noFill/>
        </p:spPr>
        <p:txBody>
          <a:bodyPr wrap="square">
            <a:spAutoFit/>
          </a:bodyPr>
          <a:lstStyle/>
          <a:p>
            <a:pPr algn="ctr"/>
            <a:r>
              <a:rPr sz="1400" b="1" i="0">
                <a:solidFill>
                  <a:srgbClr val="FFFFFF"/>
                </a:solidFill>
                <a:latin typeface="Calibri"/>
              </a:rPr>
              <a:t>01</a:t>
            </a:r>
          </a:p>
        </p:txBody>
      </p:sp>
      <p:sp>
        <p:nvSpPr>
          <p:cNvPr id="15" name="TextBox 14"/>
          <p:cNvSpPr txBox="1"/>
          <p:nvPr/>
        </p:nvSpPr>
        <p:spPr>
          <a:xfrm>
            <a:off x="1005840" y="2148840"/>
            <a:ext cx="4754879" cy="384048"/>
          </a:xfrm>
          <a:prstGeom prst="rect">
            <a:avLst/>
          </a:prstGeom>
          <a:noFill/>
        </p:spPr>
        <p:txBody>
          <a:bodyPr wrap="square">
            <a:spAutoFit/>
          </a:bodyPr>
          <a:lstStyle/>
          <a:p>
            <a:pPr algn="l"/>
            <a:r>
              <a:rPr sz="1300" b="1" i="0">
                <a:solidFill>
                  <a:srgbClr val="008B8B"/>
                </a:solidFill>
                <a:latin typeface="Calibri"/>
              </a:rPr>
              <a:t>Measure Developer Satisfaction</a:t>
            </a:r>
          </a:p>
        </p:txBody>
      </p:sp>
      <p:sp>
        <p:nvSpPr>
          <p:cNvPr id="16" name="TextBox 15"/>
          <p:cNvSpPr txBox="1"/>
          <p:nvPr/>
        </p:nvSpPr>
        <p:spPr>
          <a:xfrm>
            <a:off x="484632" y="2606040"/>
            <a:ext cx="5303520" cy="713232"/>
          </a:xfrm>
          <a:prstGeom prst="rect">
            <a:avLst/>
          </a:prstGeom>
          <a:noFill/>
        </p:spPr>
        <p:txBody>
          <a:bodyPr wrap="square">
            <a:spAutoFit/>
          </a:bodyPr>
          <a:lstStyle/>
          <a:p>
            <a:pPr algn="l"/>
            <a:r>
              <a:rPr sz="1050" b="0" i="0">
                <a:solidFill>
                  <a:srgbClr val="D0D7E3"/>
                </a:solidFill>
                <a:latin typeface="Calibri"/>
              </a:rPr>
              <a:t>Measure how satisfied developers are using two survey questions — Job Satisfaction and Job Involvement — as proxies for motivation and career fulfilment.</a:t>
            </a:r>
          </a:p>
        </p:txBody>
      </p:sp>
      <p:sp>
        <p:nvSpPr>
          <p:cNvPr id="17" name="Rectangle 16"/>
          <p:cNvSpPr/>
          <p:nvPr/>
        </p:nvSpPr>
        <p:spPr>
          <a:xfrm>
            <a:off x="6565392" y="2011680"/>
            <a:ext cx="5577840" cy="138988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65392" y="2011680"/>
            <a:ext cx="64008" cy="13898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729983" y="2176272"/>
            <a:ext cx="402336" cy="40233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29983" y="2176272"/>
            <a:ext cx="402336" cy="402336"/>
          </a:xfrm>
          <a:prstGeom prst="rect">
            <a:avLst/>
          </a:prstGeom>
          <a:noFill/>
        </p:spPr>
        <p:txBody>
          <a:bodyPr wrap="square">
            <a:spAutoFit/>
          </a:bodyPr>
          <a:lstStyle/>
          <a:p>
            <a:pPr algn="ctr"/>
            <a:r>
              <a:rPr sz="1400" b="1" i="0">
                <a:solidFill>
                  <a:srgbClr val="0D234A"/>
                </a:solidFill>
                <a:latin typeface="Calibri"/>
              </a:rPr>
              <a:t>02</a:t>
            </a:r>
          </a:p>
        </p:txBody>
      </p:sp>
      <p:sp>
        <p:nvSpPr>
          <p:cNvPr id="21" name="TextBox 20"/>
          <p:cNvSpPr txBox="1"/>
          <p:nvPr/>
        </p:nvSpPr>
        <p:spPr>
          <a:xfrm>
            <a:off x="7251192" y="2148840"/>
            <a:ext cx="4754879" cy="384048"/>
          </a:xfrm>
          <a:prstGeom prst="rect">
            <a:avLst/>
          </a:prstGeom>
          <a:noFill/>
        </p:spPr>
        <p:txBody>
          <a:bodyPr wrap="square">
            <a:spAutoFit/>
          </a:bodyPr>
          <a:lstStyle/>
          <a:p>
            <a:pPr algn="l"/>
            <a:r>
              <a:rPr sz="1300" b="1" i="0">
                <a:solidFill>
                  <a:srgbClr val="F5A623"/>
                </a:solidFill>
                <a:latin typeface="Calibri"/>
              </a:rPr>
              <a:t>Label Retention Status</a:t>
            </a:r>
          </a:p>
        </p:txBody>
      </p:sp>
      <p:sp>
        <p:nvSpPr>
          <p:cNvPr id="22" name="TextBox 21"/>
          <p:cNvSpPr txBox="1"/>
          <p:nvPr/>
        </p:nvSpPr>
        <p:spPr>
          <a:xfrm>
            <a:off x="6729983" y="2606040"/>
            <a:ext cx="5303520" cy="713232"/>
          </a:xfrm>
          <a:prstGeom prst="rect">
            <a:avLst/>
          </a:prstGeom>
          <a:noFill/>
        </p:spPr>
        <p:txBody>
          <a:bodyPr wrap="square">
            <a:spAutoFit/>
          </a:bodyPr>
          <a:lstStyle/>
          <a:p>
            <a:pPr algn="l"/>
            <a:r>
              <a:rPr sz="1050" b="0" i="0">
                <a:solidFill>
                  <a:srgbClr val="D0D7E3"/>
                </a:solidFill>
                <a:latin typeface="Calibri"/>
              </a:rPr>
              <a:t>Label each developer as either Retained (Attrition = No) or Looking to Leave (Attrition = Yes) based on their recorded attrition outcome in the dataset.</a:t>
            </a:r>
          </a:p>
        </p:txBody>
      </p:sp>
      <p:sp>
        <p:nvSpPr>
          <p:cNvPr id="23" name="Rectangle 22"/>
          <p:cNvSpPr/>
          <p:nvPr/>
        </p:nvSpPr>
        <p:spPr>
          <a:xfrm>
            <a:off x="320040" y="3511296"/>
            <a:ext cx="5577840" cy="138988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 y="3511296"/>
            <a:ext cx="64008" cy="1389888"/>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84632" y="3675888"/>
            <a:ext cx="402336" cy="402336"/>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4632" y="3675888"/>
            <a:ext cx="402336" cy="402336"/>
          </a:xfrm>
          <a:prstGeom prst="rect">
            <a:avLst/>
          </a:prstGeom>
          <a:noFill/>
        </p:spPr>
        <p:txBody>
          <a:bodyPr wrap="square">
            <a:spAutoFit/>
          </a:bodyPr>
          <a:lstStyle/>
          <a:p>
            <a:pPr algn="ctr"/>
            <a:r>
              <a:rPr sz="1400" b="1" i="0">
                <a:solidFill>
                  <a:srgbClr val="FFFFFF"/>
                </a:solidFill>
                <a:latin typeface="Calibri"/>
              </a:rPr>
              <a:t>03</a:t>
            </a:r>
          </a:p>
        </p:txBody>
      </p:sp>
      <p:sp>
        <p:nvSpPr>
          <p:cNvPr id="27" name="TextBox 26"/>
          <p:cNvSpPr txBox="1"/>
          <p:nvPr/>
        </p:nvSpPr>
        <p:spPr>
          <a:xfrm>
            <a:off x="1005840" y="3648456"/>
            <a:ext cx="4754879" cy="384048"/>
          </a:xfrm>
          <a:prstGeom prst="rect">
            <a:avLst/>
          </a:prstGeom>
          <a:noFill/>
        </p:spPr>
        <p:txBody>
          <a:bodyPr wrap="square">
            <a:spAutoFit/>
          </a:bodyPr>
          <a:lstStyle/>
          <a:p>
            <a:pPr algn="l"/>
            <a:r>
              <a:rPr sz="1300" b="1" i="0">
                <a:solidFill>
                  <a:srgbClr val="E88A00"/>
                </a:solidFill>
                <a:latin typeface="Calibri"/>
              </a:rPr>
              <a:t>Descriptive Analytics</a:t>
            </a:r>
          </a:p>
        </p:txBody>
      </p:sp>
      <p:sp>
        <p:nvSpPr>
          <p:cNvPr id="28" name="TextBox 27"/>
          <p:cNvSpPr txBox="1"/>
          <p:nvPr/>
        </p:nvSpPr>
        <p:spPr>
          <a:xfrm>
            <a:off x="484632" y="4105656"/>
            <a:ext cx="5303520" cy="713232"/>
          </a:xfrm>
          <a:prstGeom prst="rect">
            <a:avLst/>
          </a:prstGeom>
          <a:noFill/>
        </p:spPr>
        <p:txBody>
          <a:bodyPr wrap="square">
            <a:spAutoFit/>
          </a:bodyPr>
          <a:lstStyle/>
          <a:p>
            <a:pPr algn="l"/>
            <a:r>
              <a:rPr sz="1050" b="0" i="0">
                <a:solidFill>
                  <a:srgbClr val="D0D7E3"/>
                </a:solidFill>
                <a:latin typeface="Calibri"/>
              </a:rPr>
              <a:t>Summarise satisfaction scores, attrition rates, and environment distributions across developer groups to identify visible trends and patterns in the data.</a:t>
            </a:r>
          </a:p>
        </p:txBody>
      </p:sp>
      <p:sp>
        <p:nvSpPr>
          <p:cNvPr id="29" name="Rectangle 28"/>
          <p:cNvSpPr/>
          <p:nvPr/>
        </p:nvSpPr>
        <p:spPr>
          <a:xfrm>
            <a:off x="6565392" y="3511296"/>
            <a:ext cx="5577840" cy="138988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565392" y="3511296"/>
            <a:ext cx="64008" cy="1389888"/>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729983" y="3675888"/>
            <a:ext cx="402336" cy="402336"/>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29983" y="3675888"/>
            <a:ext cx="402336" cy="402336"/>
          </a:xfrm>
          <a:prstGeom prst="rect">
            <a:avLst/>
          </a:prstGeom>
          <a:noFill/>
        </p:spPr>
        <p:txBody>
          <a:bodyPr wrap="square">
            <a:spAutoFit/>
          </a:bodyPr>
          <a:lstStyle/>
          <a:p>
            <a:pPr algn="ctr"/>
            <a:r>
              <a:rPr sz="1400" b="1" i="0">
                <a:solidFill>
                  <a:srgbClr val="FFFFFF"/>
                </a:solidFill>
                <a:latin typeface="Calibri"/>
              </a:rPr>
              <a:t>04</a:t>
            </a:r>
          </a:p>
        </p:txBody>
      </p:sp>
      <p:sp>
        <p:nvSpPr>
          <p:cNvPr id="33" name="TextBox 32"/>
          <p:cNvSpPr txBox="1"/>
          <p:nvPr/>
        </p:nvSpPr>
        <p:spPr>
          <a:xfrm>
            <a:off x="7251192" y="3648456"/>
            <a:ext cx="4754879" cy="384048"/>
          </a:xfrm>
          <a:prstGeom prst="rect">
            <a:avLst/>
          </a:prstGeom>
          <a:noFill/>
        </p:spPr>
        <p:txBody>
          <a:bodyPr wrap="square">
            <a:spAutoFit/>
          </a:bodyPr>
          <a:lstStyle/>
          <a:p>
            <a:pPr algn="l"/>
            <a:r>
              <a:rPr sz="1300" b="1" i="0">
                <a:solidFill>
                  <a:srgbClr val="9B59D6"/>
                </a:solidFill>
                <a:latin typeface="Calibri"/>
              </a:rPr>
              <a:t>Inferential Analytics</a:t>
            </a:r>
          </a:p>
        </p:txBody>
      </p:sp>
      <p:sp>
        <p:nvSpPr>
          <p:cNvPr id="34" name="TextBox 33"/>
          <p:cNvSpPr txBox="1"/>
          <p:nvPr/>
        </p:nvSpPr>
        <p:spPr>
          <a:xfrm>
            <a:off x="6729983" y="4105656"/>
            <a:ext cx="5303520" cy="713232"/>
          </a:xfrm>
          <a:prstGeom prst="rect">
            <a:avLst/>
          </a:prstGeom>
          <a:noFill/>
        </p:spPr>
        <p:txBody>
          <a:bodyPr wrap="square">
            <a:spAutoFit/>
          </a:bodyPr>
          <a:lstStyle/>
          <a:p>
            <a:pPr algn="l"/>
            <a:r>
              <a:rPr sz="1050" b="0" i="0">
                <a:solidFill>
                  <a:srgbClr val="D0D7E3"/>
                </a:solidFill>
                <a:latin typeface="Calibri"/>
              </a:rPr>
              <a:t>Apply three statistical tests — Spearman Correlation, Chi-Square, and Kruskal-Wallis — at α=0.05 to determine whether satisfaction significantly connects to retention.</a:t>
            </a:r>
          </a:p>
        </p:txBody>
      </p:sp>
      <p:sp>
        <p:nvSpPr>
          <p:cNvPr id="35" name="Rectangle 34"/>
          <p:cNvSpPr/>
          <p:nvPr/>
        </p:nvSpPr>
        <p:spPr>
          <a:xfrm>
            <a:off x="320040" y="5010912"/>
            <a:ext cx="5577840" cy="138988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20040" y="5010912"/>
            <a:ext cx="64008" cy="1389888"/>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84632" y="5175504"/>
            <a:ext cx="402336" cy="402336"/>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4632" y="5175504"/>
            <a:ext cx="402336" cy="402336"/>
          </a:xfrm>
          <a:prstGeom prst="rect">
            <a:avLst/>
          </a:prstGeom>
          <a:noFill/>
        </p:spPr>
        <p:txBody>
          <a:bodyPr wrap="square">
            <a:spAutoFit/>
          </a:bodyPr>
          <a:lstStyle/>
          <a:p>
            <a:pPr algn="ctr"/>
            <a:r>
              <a:rPr sz="1400" b="1" i="0">
                <a:solidFill>
                  <a:srgbClr val="FFFFFF"/>
                </a:solidFill>
                <a:latin typeface="Calibri"/>
              </a:rPr>
              <a:t>05</a:t>
            </a:r>
          </a:p>
        </p:txBody>
      </p:sp>
      <p:sp>
        <p:nvSpPr>
          <p:cNvPr id="39" name="TextBox 38"/>
          <p:cNvSpPr txBox="1"/>
          <p:nvPr/>
        </p:nvSpPr>
        <p:spPr>
          <a:xfrm>
            <a:off x="1005840" y="5148072"/>
            <a:ext cx="4754879" cy="384048"/>
          </a:xfrm>
          <a:prstGeom prst="rect">
            <a:avLst/>
          </a:prstGeom>
          <a:noFill/>
        </p:spPr>
        <p:txBody>
          <a:bodyPr wrap="square">
            <a:spAutoFit/>
          </a:bodyPr>
          <a:lstStyle/>
          <a:p>
            <a:pPr algn="l"/>
            <a:r>
              <a:rPr sz="1300" b="1" i="0">
                <a:solidFill>
                  <a:srgbClr val="1A6EC8"/>
                </a:solidFill>
                <a:latin typeface="Calibri"/>
              </a:rPr>
              <a:t>Predictive Analytics</a:t>
            </a:r>
          </a:p>
        </p:txBody>
      </p:sp>
      <p:sp>
        <p:nvSpPr>
          <p:cNvPr id="40" name="TextBox 39"/>
          <p:cNvSpPr txBox="1"/>
          <p:nvPr/>
        </p:nvSpPr>
        <p:spPr>
          <a:xfrm>
            <a:off x="484632" y="5605272"/>
            <a:ext cx="5303520" cy="713232"/>
          </a:xfrm>
          <a:prstGeom prst="rect">
            <a:avLst/>
          </a:prstGeom>
          <a:noFill/>
        </p:spPr>
        <p:txBody>
          <a:bodyPr wrap="square">
            <a:spAutoFit/>
          </a:bodyPr>
          <a:lstStyle/>
          <a:p>
            <a:pPr algn="l"/>
            <a:r>
              <a:rPr sz="1050" b="0" i="0">
                <a:solidFill>
                  <a:srgbClr val="D0D7E3"/>
                </a:solidFill>
                <a:latin typeface="Calibri"/>
              </a:rPr>
              <a:t>Train Logistic Regression, Random Forest, and Gradient Boosting models to predict retention and measure how much satisfaction drives that prediction.</a:t>
            </a:r>
          </a:p>
        </p:txBody>
      </p:sp>
      <p:sp>
        <p:nvSpPr>
          <p:cNvPr id="41" name="Rectangle 40"/>
          <p:cNvSpPr/>
          <p:nvPr/>
        </p:nvSpPr>
        <p:spPr>
          <a:xfrm>
            <a:off x="6565392" y="5010912"/>
            <a:ext cx="5577840" cy="138988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565392" y="5010912"/>
            <a:ext cx="64008" cy="1389888"/>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729983" y="5175504"/>
            <a:ext cx="402336" cy="402336"/>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729983" y="5175504"/>
            <a:ext cx="402336" cy="402336"/>
          </a:xfrm>
          <a:prstGeom prst="rect">
            <a:avLst/>
          </a:prstGeom>
          <a:noFill/>
        </p:spPr>
        <p:txBody>
          <a:bodyPr wrap="square">
            <a:spAutoFit/>
          </a:bodyPr>
          <a:lstStyle/>
          <a:p>
            <a:pPr algn="ctr"/>
            <a:r>
              <a:rPr sz="1400" b="1" i="0">
                <a:solidFill>
                  <a:srgbClr val="FFFFFF"/>
                </a:solidFill>
                <a:latin typeface="Calibri"/>
              </a:rPr>
              <a:t>06</a:t>
            </a:r>
          </a:p>
        </p:txBody>
      </p:sp>
      <p:sp>
        <p:nvSpPr>
          <p:cNvPr id="45" name="TextBox 44"/>
          <p:cNvSpPr txBox="1"/>
          <p:nvPr/>
        </p:nvSpPr>
        <p:spPr>
          <a:xfrm>
            <a:off x="7251192" y="5148072"/>
            <a:ext cx="4754879" cy="384048"/>
          </a:xfrm>
          <a:prstGeom prst="rect">
            <a:avLst/>
          </a:prstGeom>
          <a:noFill/>
        </p:spPr>
        <p:txBody>
          <a:bodyPr wrap="square">
            <a:spAutoFit/>
          </a:bodyPr>
          <a:lstStyle/>
          <a:p>
            <a:pPr algn="l"/>
            <a:r>
              <a:rPr sz="1300" b="1" i="0">
                <a:solidFill>
                  <a:srgbClr val="E83A3A"/>
                </a:solidFill>
                <a:latin typeface="Calibri"/>
              </a:rPr>
              <a:t>Final Justification</a:t>
            </a:r>
          </a:p>
        </p:txBody>
      </p:sp>
      <p:sp>
        <p:nvSpPr>
          <p:cNvPr id="46" name="TextBox 45"/>
          <p:cNvSpPr txBox="1"/>
          <p:nvPr/>
        </p:nvSpPr>
        <p:spPr>
          <a:xfrm>
            <a:off x="6729983" y="5605272"/>
            <a:ext cx="5303520" cy="713232"/>
          </a:xfrm>
          <a:prstGeom prst="rect">
            <a:avLst/>
          </a:prstGeom>
          <a:noFill/>
        </p:spPr>
        <p:txBody>
          <a:bodyPr wrap="square">
            <a:spAutoFit/>
          </a:bodyPr>
          <a:lstStyle/>
          <a:p>
            <a:pPr algn="l"/>
            <a:r>
              <a:rPr sz="1050" b="0" i="0">
                <a:solidFill>
                  <a:srgbClr val="D0D7E3"/>
                </a:solidFill>
                <a:latin typeface="Calibri"/>
              </a:rPr>
              <a:t>Accept or reject the analytical statement based on combined evidence from descriptive, inferential, and predictive analysis — with full academic justification.</a:t>
            </a:r>
          </a:p>
        </p:txBody>
      </p:sp>
      <p:sp>
        <p:nvSpPr>
          <p:cNvPr id="47" name="Rectangle 46"/>
          <p:cNvSpPr/>
          <p:nvPr/>
        </p:nvSpPr>
        <p:spPr>
          <a:xfrm>
            <a:off x="320040" y="6327648"/>
            <a:ext cx="11521440" cy="384048"/>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2920" y="6373368"/>
            <a:ext cx="11155680" cy="301752"/>
          </a:xfrm>
          <a:prstGeom prst="rect">
            <a:avLst/>
          </a:prstGeom>
          <a:noFill/>
        </p:spPr>
        <p:txBody>
          <a:bodyPr wrap="square">
            <a:spAutoFit/>
          </a:bodyPr>
          <a:lstStyle/>
          <a:p>
            <a:pPr algn="ctr"/>
            <a:r>
              <a:rPr sz="1000" b="0" i="0">
                <a:solidFill>
                  <a:srgbClr val="6B7A99"/>
                </a:solidFill>
                <a:latin typeface="Calibri"/>
              </a:rPr>
              <a:t>Dataset: 10,000 HR Records  |  Developer Subset: n = 822  |  Tools: Python · pandas · scipy · sklearn · seaborn  |  Platform: Google Colab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481328" cy="25603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1298448" cy="228600"/>
          </a:xfrm>
          <a:prstGeom prst="rect">
            <a:avLst/>
          </a:prstGeom>
          <a:noFill/>
        </p:spPr>
        <p:txBody>
          <a:bodyPr wrap="square">
            <a:spAutoFit/>
          </a:bodyPr>
          <a:lstStyle/>
          <a:p>
            <a:pPr algn="l"/>
            <a:r>
              <a:rPr sz="900" b="1" i="0">
                <a:solidFill>
                  <a:srgbClr val="FFFFFF"/>
                </a:solidFill>
                <a:latin typeface="Calibri"/>
              </a:rPr>
              <a:t>INTRODUCTION</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Analysis Framework &amp; Tools</a:t>
            </a:r>
          </a:p>
        </p:txBody>
      </p:sp>
      <p:sp>
        <p:nvSpPr>
          <p:cNvPr id="6" name="Rectangle 5"/>
          <p:cNvSpPr/>
          <p:nvPr/>
        </p:nvSpPr>
        <p:spPr>
          <a:xfrm>
            <a:off x="320040" y="1170432"/>
            <a:ext cx="11521440" cy="36576"/>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3611880" cy="274320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71600"/>
            <a:ext cx="3611880" cy="4572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17320"/>
            <a:ext cx="457200" cy="365760"/>
          </a:xfrm>
          <a:prstGeom prst="rect">
            <a:avLst/>
          </a:prstGeom>
          <a:noFill/>
        </p:spPr>
        <p:txBody>
          <a:bodyPr wrap="square">
            <a:spAutoFit/>
          </a:bodyPr>
          <a:lstStyle/>
          <a:p>
            <a:pPr algn="l"/>
            <a:r>
              <a:rPr sz="2000" b="1" i="0">
                <a:solidFill>
                  <a:srgbClr val="FFFFFF"/>
                </a:solidFill>
                <a:latin typeface="Calibri"/>
              </a:rPr>
              <a:t>01</a:t>
            </a:r>
          </a:p>
        </p:txBody>
      </p:sp>
      <p:sp>
        <p:nvSpPr>
          <p:cNvPr id="10" name="TextBox 9"/>
          <p:cNvSpPr txBox="1"/>
          <p:nvPr/>
        </p:nvSpPr>
        <p:spPr>
          <a:xfrm>
            <a:off x="868680" y="1417320"/>
            <a:ext cx="2926080" cy="365760"/>
          </a:xfrm>
          <a:prstGeom prst="rect">
            <a:avLst/>
          </a:prstGeom>
          <a:noFill/>
        </p:spPr>
        <p:txBody>
          <a:bodyPr wrap="square">
            <a:spAutoFit/>
          </a:bodyPr>
          <a:lstStyle/>
          <a:p>
            <a:pPr algn="l"/>
            <a:r>
              <a:rPr sz="1300" b="1" i="0">
                <a:solidFill>
                  <a:srgbClr val="FFFFFF"/>
                </a:solidFill>
                <a:latin typeface="Calibri"/>
              </a:rPr>
              <a:t>Descriptive Analysis</a:t>
            </a:r>
          </a:p>
        </p:txBody>
      </p:sp>
      <p:sp>
        <p:nvSpPr>
          <p:cNvPr id="11" name="TextBox 10"/>
          <p:cNvSpPr txBox="1"/>
          <p:nvPr/>
        </p:nvSpPr>
        <p:spPr>
          <a:xfrm>
            <a:off x="457200" y="1920240"/>
            <a:ext cx="3337560" cy="1188720"/>
          </a:xfrm>
          <a:prstGeom prst="rect">
            <a:avLst/>
          </a:prstGeom>
          <a:noFill/>
        </p:spPr>
        <p:txBody>
          <a:bodyPr wrap="square">
            <a:spAutoFit/>
          </a:bodyPr>
          <a:lstStyle/>
          <a:p>
            <a:pPr algn="l"/>
            <a:r>
              <a:rPr sz="1150" b="0" i="0">
                <a:solidFill>
                  <a:srgbClr val="D0D7E3"/>
                </a:solidFill>
                <a:latin typeface="Calibri"/>
              </a:rPr>
              <a:t>Distributions, means, attrition rates
by environment level, correlation heatmap</a:t>
            </a:r>
          </a:p>
        </p:txBody>
      </p:sp>
      <p:sp>
        <p:nvSpPr>
          <p:cNvPr id="12" name="TextBox 11"/>
          <p:cNvSpPr txBox="1"/>
          <p:nvPr/>
        </p:nvSpPr>
        <p:spPr>
          <a:xfrm>
            <a:off x="4023359" y="2468880"/>
            <a:ext cx="274320" cy="457200"/>
          </a:xfrm>
          <a:prstGeom prst="rect">
            <a:avLst/>
          </a:prstGeom>
          <a:noFill/>
        </p:spPr>
        <p:txBody>
          <a:bodyPr wrap="square">
            <a:spAutoFit/>
          </a:bodyPr>
          <a:lstStyle/>
          <a:p>
            <a:pPr algn="ctr"/>
            <a:r>
              <a:rPr sz="2000" b="1" i="0">
                <a:solidFill>
                  <a:srgbClr val="6B7A99"/>
                </a:solidFill>
                <a:latin typeface="Calibri"/>
              </a:rPr>
              <a:t>→</a:t>
            </a:r>
          </a:p>
        </p:txBody>
      </p:sp>
      <p:sp>
        <p:nvSpPr>
          <p:cNvPr id="13" name="Rectangle 12"/>
          <p:cNvSpPr/>
          <p:nvPr/>
        </p:nvSpPr>
        <p:spPr>
          <a:xfrm>
            <a:off x="4270248" y="1371600"/>
            <a:ext cx="3611880" cy="274320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70248" y="1371600"/>
            <a:ext cx="3611880" cy="457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07408" y="1417320"/>
            <a:ext cx="457200" cy="365760"/>
          </a:xfrm>
          <a:prstGeom prst="rect">
            <a:avLst/>
          </a:prstGeom>
          <a:noFill/>
        </p:spPr>
        <p:txBody>
          <a:bodyPr wrap="square">
            <a:spAutoFit/>
          </a:bodyPr>
          <a:lstStyle/>
          <a:p>
            <a:pPr algn="l"/>
            <a:r>
              <a:rPr sz="2000" b="1" i="0">
                <a:solidFill>
                  <a:srgbClr val="FFFFFF"/>
                </a:solidFill>
                <a:latin typeface="Calibri"/>
              </a:rPr>
              <a:t>02</a:t>
            </a:r>
          </a:p>
        </p:txBody>
      </p:sp>
      <p:sp>
        <p:nvSpPr>
          <p:cNvPr id="16" name="TextBox 15"/>
          <p:cNvSpPr txBox="1"/>
          <p:nvPr/>
        </p:nvSpPr>
        <p:spPr>
          <a:xfrm>
            <a:off x="4818888" y="1417320"/>
            <a:ext cx="2926080" cy="365760"/>
          </a:xfrm>
          <a:prstGeom prst="rect">
            <a:avLst/>
          </a:prstGeom>
          <a:noFill/>
        </p:spPr>
        <p:txBody>
          <a:bodyPr wrap="square">
            <a:spAutoFit/>
          </a:bodyPr>
          <a:lstStyle/>
          <a:p>
            <a:pPr algn="l"/>
            <a:r>
              <a:rPr sz="1300" b="1" i="0">
                <a:solidFill>
                  <a:srgbClr val="FFFFFF"/>
                </a:solidFill>
                <a:latin typeface="Calibri"/>
              </a:rPr>
              <a:t>Inferential Analysis</a:t>
            </a:r>
          </a:p>
        </p:txBody>
      </p:sp>
      <p:sp>
        <p:nvSpPr>
          <p:cNvPr id="17" name="TextBox 16"/>
          <p:cNvSpPr txBox="1"/>
          <p:nvPr/>
        </p:nvSpPr>
        <p:spPr>
          <a:xfrm>
            <a:off x="4407408" y="1920240"/>
            <a:ext cx="3337560" cy="1188720"/>
          </a:xfrm>
          <a:prstGeom prst="rect">
            <a:avLst/>
          </a:prstGeom>
          <a:noFill/>
        </p:spPr>
        <p:txBody>
          <a:bodyPr wrap="square">
            <a:spAutoFit/>
          </a:bodyPr>
          <a:lstStyle/>
          <a:p>
            <a:pPr algn="l"/>
            <a:r>
              <a:rPr sz="1150" b="0" i="0">
                <a:solidFill>
                  <a:srgbClr val="D0D7E3"/>
                </a:solidFill>
                <a:latin typeface="Calibri"/>
              </a:rPr>
              <a:t>Spearman, Kruskal-Wallis, Chi-Square,
Mann-Whitney U — p-values &amp; significance</a:t>
            </a:r>
          </a:p>
        </p:txBody>
      </p:sp>
      <p:sp>
        <p:nvSpPr>
          <p:cNvPr id="18" name="TextBox 17"/>
          <p:cNvSpPr txBox="1"/>
          <p:nvPr/>
        </p:nvSpPr>
        <p:spPr>
          <a:xfrm>
            <a:off x="7973567" y="2468880"/>
            <a:ext cx="274320" cy="457200"/>
          </a:xfrm>
          <a:prstGeom prst="rect">
            <a:avLst/>
          </a:prstGeom>
          <a:noFill/>
        </p:spPr>
        <p:txBody>
          <a:bodyPr wrap="square">
            <a:spAutoFit/>
          </a:bodyPr>
          <a:lstStyle/>
          <a:p>
            <a:pPr algn="ctr"/>
            <a:r>
              <a:rPr sz="2000" b="1" i="0">
                <a:solidFill>
                  <a:srgbClr val="6B7A99"/>
                </a:solidFill>
                <a:latin typeface="Calibri"/>
              </a:rPr>
              <a:t>→</a:t>
            </a:r>
          </a:p>
        </p:txBody>
      </p:sp>
      <p:sp>
        <p:nvSpPr>
          <p:cNvPr id="19" name="Rectangle 18"/>
          <p:cNvSpPr/>
          <p:nvPr/>
        </p:nvSpPr>
        <p:spPr>
          <a:xfrm>
            <a:off x="8220456" y="1371600"/>
            <a:ext cx="3611880" cy="274320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20456" y="1371600"/>
            <a:ext cx="3611880" cy="45720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57616" y="1417320"/>
            <a:ext cx="457200" cy="365760"/>
          </a:xfrm>
          <a:prstGeom prst="rect">
            <a:avLst/>
          </a:prstGeom>
          <a:noFill/>
        </p:spPr>
        <p:txBody>
          <a:bodyPr wrap="square">
            <a:spAutoFit/>
          </a:bodyPr>
          <a:lstStyle/>
          <a:p>
            <a:pPr algn="l"/>
            <a:r>
              <a:rPr sz="2000" b="1" i="0">
                <a:solidFill>
                  <a:srgbClr val="FFFFFF"/>
                </a:solidFill>
                <a:latin typeface="Calibri"/>
              </a:rPr>
              <a:t>03</a:t>
            </a:r>
          </a:p>
        </p:txBody>
      </p:sp>
      <p:sp>
        <p:nvSpPr>
          <p:cNvPr id="22" name="TextBox 21"/>
          <p:cNvSpPr txBox="1"/>
          <p:nvPr/>
        </p:nvSpPr>
        <p:spPr>
          <a:xfrm>
            <a:off x="8769096" y="1417320"/>
            <a:ext cx="2926080" cy="365760"/>
          </a:xfrm>
          <a:prstGeom prst="rect">
            <a:avLst/>
          </a:prstGeom>
          <a:noFill/>
        </p:spPr>
        <p:txBody>
          <a:bodyPr wrap="square">
            <a:spAutoFit/>
          </a:bodyPr>
          <a:lstStyle/>
          <a:p>
            <a:pPr algn="l"/>
            <a:r>
              <a:rPr sz="1300" b="1" i="0">
                <a:solidFill>
                  <a:srgbClr val="FFFFFF"/>
                </a:solidFill>
                <a:latin typeface="Calibri"/>
              </a:rPr>
              <a:t>Predictive Analysis</a:t>
            </a:r>
          </a:p>
        </p:txBody>
      </p:sp>
      <p:sp>
        <p:nvSpPr>
          <p:cNvPr id="23" name="TextBox 22"/>
          <p:cNvSpPr txBox="1"/>
          <p:nvPr/>
        </p:nvSpPr>
        <p:spPr>
          <a:xfrm>
            <a:off x="8357616" y="1920240"/>
            <a:ext cx="3337560" cy="1188720"/>
          </a:xfrm>
          <a:prstGeom prst="rect">
            <a:avLst/>
          </a:prstGeom>
          <a:noFill/>
        </p:spPr>
        <p:txBody>
          <a:bodyPr wrap="square">
            <a:spAutoFit/>
          </a:bodyPr>
          <a:lstStyle/>
          <a:p>
            <a:pPr algn="l"/>
            <a:r>
              <a:rPr sz="1150" b="0" i="0">
                <a:solidFill>
                  <a:srgbClr val="D0D7E3"/>
                </a:solidFill>
                <a:latin typeface="Calibri"/>
              </a:rPr>
              <a:t>Logistic Regression, Random Forest,
Gradient Boosting — AUC, accuracy, features</a:t>
            </a:r>
          </a:p>
        </p:txBody>
      </p:sp>
      <p:sp>
        <p:nvSpPr>
          <p:cNvPr id="24" name="TextBox 23"/>
          <p:cNvSpPr txBox="1"/>
          <p:nvPr/>
        </p:nvSpPr>
        <p:spPr>
          <a:xfrm>
            <a:off x="320040" y="4389120"/>
            <a:ext cx="1828800" cy="365760"/>
          </a:xfrm>
          <a:prstGeom prst="rect">
            <a:avLst/>
          </a:prstGeom>
          <a:noFill/>
        </p:spPr>
        <p:txBody>
          <a:bodyPr wrap="square">
            <a:spAutoFit/>
          </a:bodyPr>
          <a:lstStyle/>
          <a:p>
            <a:pPr algn="l"/>
            <a:r>
              <a:rPr sz="1200" b="1" i="0">
                <a:solidFill>
                  <a:srgbClr val="F5A623"/>
                </a:solidFill>
                <a:latin typeface="Calibri"/>
              </a:rPr>
              <a:t>Tools Used:</a:t>
            </a:r>
          </a:p>
        </p:txBody>
      </p:sp>
      <p:sp>
        <p:nvSpPr>
          <p:cNvPr id="25" name="Rectangle 24"/>
          <p:cNvSpPr/>
          <p:nvPr/>
        </p:nvSpPr>
        <p:spPr>
          <a:xfrm>
            <a:off x="320040"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59" y="4800600"/>
            <a:ext cx="1234440" cy="320040"/>
          </a:xfrm>
          <a:prstGeom prst="rect">
            <a:avLst/>
          </a:prstGeom>
          <a:noFill/>
        </p:spPr>
        <p:txBody>
          <a:bodyPr wrap="square">
            <a:spAutoFit/>
          </a:bodyPr>
          <a:lstStyle/>
          <a:p>
            <a:pPr algn="ctr"/>
            <a:r>
              <a:rPr sz="1050" b="1" i="0">
                <a:solidFill>
                  <a:srgbClr val="008B8B"/>
                </a:solidFill>
                <a:latin typeface="Calibri"/>
              </a:rPr>
              <a:t>Python 3</a:t>
            </a:r>
          </a:p>
        </p:txBody>
      </p:sp>
      <p:sp>
        <p:nvSpPr>
          <p:cNvPr id="27" name="Rectangle 26"/>
          <p:cNvSpPr/>
          <p:nvPr/>
        </p:nvSpPr>
        <p:spPr>
          <a:xfrm>
            <a:off x="1773936"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19656" y="4800600"/>
            <a:ext cx="1234440" cy="320040"/>
          </a:xfrm>
          <a:prstGeom prst="rect">
            <a:avLst/>
          </a:prstGeom>
          <a:noFill/>
        </p:spPr>
        <p:txBody>
          <a:bodyPr wrap="square">
            <a:spAutoFit/>
          </a:bodyPr>
          <a:lstStyle/>
          <a:p>
            <a:pPr algn="ctr"/>
            <a:r>
              <a:rPr sz="1050" b="1" i="0">
                <a:solidFill>
                  <a:srgbClr val="008B8B"/>
                </a:solidFill>
                <a:latin typeface="Calibri"/>
              </a:rPr>
              <a:t>pandas</a:t>
            </a:r>
          </a:p>
        </p:txBody>
      </p:sp>
      <p:sp>
        <p:nvSpPr>
          <p:cNvPr id="29" name="Rectangle 28"/>
          <p:cNvSpPr/>
          <p:nvPr/>
        </p:nvSpPr>
        <p:spPr>
          <a:xfrm>
            <a:off x="3227832"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73552" y="4800600"/>
            <a:ext cx="1234440" cy="320040"/>
          </a:xfrm>
          <a:prstGeom prst="rect">
            <a:avLst/>
          </a:prstGeom>
          <a:noFill/>
        </p:spPr>
        <p:txBody>
          <a:bodyPr wrap="square">
            <a:spAutoFit/>
          </a:bodyPr>
          <a:lstStyle/>
          <a:p>
            <a:pPr algn="ctr"/>
            <a:r>
              <a:rPr sz="1050" b="1" i="0">
                <a:solidFill>
                  <a:srgbClr val="008B8B"/>
                </a:solidFill>
                <a:latin typeface="Calibri"/>
              </a:rPr>
              <a:t>numpy</a:t>
            </a:r>
          </a:p>
        </p:txBody>
      </p:sp>
      <p:sp>
        <p:nvSpPr>
          <p:cNvPr id="31" name="Rectangle 30"/>
          <p:cNvSpPr/>
          <p:nvPr/>
        </p:nvSpPr>
        <p:spPr>
          <a:xfrm>
            <a:off x="4681728"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27448" y="4800600"/>
            <a:ext cx="1234440" cy="320040"/>
          </a:xfrm>
          <a:prstGeom prst="rect">
            <a:avLst/>
          </a:prstGeom>
          <a:noFill/>
        </p:spPr>
        <p:txBody>
          <a:bodyPr wrap="square">
            <a:spAutoFit/>
          </a:bodyPr>
          <a:lstStyle/>
          <a:p>
            <a:pPr algn="ctr"/>
            <a:r>
              <a:rPr sz="1050" b="1" i="0">
                <a:solidFill>
                  <a:srgbClr val="008B8B"/>
                </a:solidFill>
                <a:latin typeface="Calibri"/>
              </a:rPr>
              <a:t>scipy</a:t>
            </a:r>
          </a:p>
        </p:txBody>
      </p:sp>
      <p:sp>
        <p:nvSpPr>
          <p:cNvPr id="33" name="Rectangle 32"/>
          <p:cNvSpPr/>
          <p:nvPr/>
        </p:nvSpPr>
        <p:spPr>
          <a:xfrm>
            <a:off x="6135624"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81344" y="4800600"/>
            <a:ext cx="1234440" cy="320040"/>
          </a:xfrm>
          <a:prstGeom prst="rect">
            <a:avLst/>
          </a:prstGeom>
          <a:noFill/>
        </p:spPr>
        <p:txBody>
          <a:bodyPr wrap="square">
            <a:spAutoFit/>
          </a:bodyPr>
          <a:lstStyle/>
          <a:p>
            <a:pPr algn="ctr"/>
            <a:r>
              <a:rPr sz="1050" b="1" i="0">
                <a:solidFill>
                  <a:srgbClr val="008B8B"/>
                </a:solidFill>
                <a:latin typeface="Calibri"/>
              </a:rPr>
              <a:t>scikit-learn</a:t>
            </a:r>
          </a:p>
        </p:txBody>
      </p:sp>
      <p:sp>
        <p:nvSpPr>
          <p:cNvPr id="35" name="Rectangle 34"/>
          <p:cNvSpPr/>
          <p:nvPr/>
        </p:nvSpPr>
        <p:spPr>
          <a:xfrm>
            <a:off x="7589520"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5240" y="4800600"/>
            <a:ext cx="1234440" cy="320040"/>
          </a:xfrm>
          <a:prstGeom prst="rect">
            <a:avLst/>
          </a:prstGeom>
          <a:noFill/>
        </p:spPr>
        <p:txBody>
          <a:bodyPr wrap="square">
            <a:spAutoFit/>
          </a:bodyPr>
          <a:lstStyle/>
          <a:p>
            <a:pPr algn="ctr"/>
            <a:r>
              <a:rPr sz="1050" b="1" i="0">
                <a:solidFill>
                  <a:srgbClr val="008B8B"/>
                </a:solidFill>
                <a:latin typeface="Calibri"/>
              </a:rPr>
              <a:t>seaborn</a:t>
            </a:r>
          </a:p>
        </p:txBody>
      </p:sp>
      <p:sp>
        <p:nvSpPr>
          <p:cNvPr id="37" name="Rectangle 36"/>
          <p:cNvSpPr/>
          <p:nvPr/>
        </p:nvSpPr>
        <p:spPr>
          <a:xfrm>
            <a:off x="9043416"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089136" y="4800600"/>
            <a:ext cx="1234440" cy="320040"/>
          </a:xfrm>
          <a:prstGeom prst="rect">
            <a:avLst/>
          </a:prstGeom>
          <a:noFill/>
        </p:spPr>
        <p:txBody>
          <a:bodyPr wrap="square">
            <a:spAutoFit/>
          </a:bodyPr>
          <a:lstStyle/>
          <a:p>
            <a:pPr algn="ctr"/>
            <a:r>
              <a:rPr sz="1050" b="1" i="0">
                <a:solidFill>
                  <a:srgbClr val="008B8B"/>
                </a:solidFill>
                <a:latin typeface="Calibri"/>
              </a:rPr>
              <a:t>matplotlib</a:t>
            </a:r>
          </a:p>
        </p:txBody>
      </p:sp>
      <p:sp>
        <p:nvSpPr>
          <p:cNvPr id="39" name="Rectangle 38"/>
          <p:cNvSpPr/>
          <p:nvPr/>
        </p:nvSpPr>
        <p:spPr>
          <a:xfrm>
            <a:off x="10497312" y="4754880"/>
            <a:ext cx="1325880" cy="411480"/>
          </a:xfrm>
          <a:prstGeom prst="rect">
            <a:avLst/>
          </a:prstGeom>
          <a:solidFill>
            <a:srgbClr val="1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543032" y="4800600"/>
            <a:ext cx="1234440" cy="320040"/>
          </a:xfrm>
          <a:prstGeom prst="rect">
            <a:avLst/>
          </a:prstGeom>
          <a:noFill/>
        </p:spPr>
        <p:txBody>
          <a:bodyPr wrap="square">
            <a:spAutoFit/>
          </a:bodyPr>
          <a:lstStyle/>
          <a:p>
            <a:pPr algn="ctr"/>
            <a:r>
              <a:rPr sz="1050" b="1" i="0">
                <a:solidFill>
                  <a:srgbClr val="008B8B"/>
                </a:solidFill>
                <a:latin typeface="Calibri"/>
              </a:rPr>
              <a:t>Google Colab</a:t>
            </a:r>
          </a:p>
        </p:txBody>
      </p:sp>
      <p:sp>
        <p:nvSpPr>
          <p:cNvPr id="41" name="Rectangle 40"/>
          <p:cNvSpPr/>
          <p:nvPr/>
        </p:nvSpPr>
        <p:spPr>
          <a:xfrm>
            <a:off x="320040" y="5349240"/>
            <a:ext cx="11521440" cy="438912"/>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2920" y="5394960"/>
            <a:ext cx="11155680" cy="365760"/>
          </a:xfrm>
          <a:prstGeom prst="rect">
            <a:avLst/>
          </a:prstGeom>
          <a:noFill/>
        </p:spPr>
        <p:txBody>
          <a:bodyPr wrap="square">
            <a:spAutoFit/>
          </a:bodyPr>
          <a:lstStyle/>
          <a:p>
            <a:pPr algn="ctr"/>
            <a:r>
              <a:rPr sz="1150" b="0" i="0">
                <a:solidFill>
                  <a:srgbClr val="D0D7E3"/>
                </a:solidFill>
                <a:latin typeface="Calibri"/>
              </a:rPr>
              <a:t>Significance Level: α = 0.05  |  Developer Subset: n = 822  |  Full Dataset: n = 10,000  |  Train/Test Split: 80/20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978408" cy="2560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795528" cy="228600"/>
          </a:xfrm>
          <a:prstGeom prst="rect">
            <a:avLst/>
          </a:prstGeom>
          <a:noFill/>
        </p:spPr>
        <p:txBody>
          <a:bodyPr wrap="square">
            <a:spAutoFit/>
          </a:bodyPr>
          <a:lstStyle/>
          <a:p>
            <a:pPr algn="l"/>
            <a:r>
              <a:rPr sz="900" b="1" i="0">
                <a:solidFill>
                  <a:srgbClr val="FFFFFF"/>
                </a:solidFill>
                <a:latin typeface="Calibri"/>
              </a:rPr>
              <a:t>DATASET</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About the HR Attrition Dataset</a:t>
            </a:r>
          </a:p>
        </p:txBody>
      </p:sp>
      <p:sp>
        <p:nvSpPr>
          <p:cNvPr id="6" name="Rectangle 5"/>
          <p:cNvSpPr/>
          <p:nvPr/>
        </p:nvSpPr>
        <p:spPr>
          <a:xfrm>
            <a:off x="320040" y="1170432"/>
            <a:ext cx="1152144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417320"/>
            <a:ext cx="1920240" cy="502920"/>
          </a:xfrm>
          <a:prstGeom prst="rect">
            <a:avLst/>
          </a:prstGeom>
          <a:noFill/>
        </p:spPr>
        <p:txBody>
          <a:bodyPr wrap="square">
            <a:spAutoFit/>
          </a:bodyPr>
          <a:lstStyle/>
          <a:p>
            <a:pPr algn="ctr"/>
            <a:r>
              <a:rPr sz="2600" b="1" i="0">
                <a:solidFill>
                  <a:srgbClr val="F5A623"/>
                </a:solidFill>
                <a:latin typeface="Calibri"/>
              </a:rPr>
              <a:t>10,000</a:t>
            </a:r>
          </a:p>
        </p:txBody>
      </p:sp>
      <p:sp>
        <p:nvSpPr>
          <p:cNvPr id="9" name="TextBox 8"/>
          <p:cNvSpPr txBox="1"/>
          <p:nvPr/>
        </p:nvSpPr>
        <p:spPr>
          <a:xfrm>
            <a:off x="411479" y="1901952"/>
            <a:ext cx="1920240" cy="411480"/>
          </a:xfrm>
          <a:prstGeom prst="rect">
            <a:avLst/>
          </a:prstGeom>
          <a:noFill/>
        </p:spPr>
        <p:txBody>
          <a:bodyPr wrap="square">
            <a:spAutoFit/>
          </a:bodyPr>
          <a:lstStyle/>
          <a:p>
            <a:pPr algn="ctr"/>
            <a:r>
              <a:rPr sz="1100" b="0" i="0">
                <a:solidFill>
                  <a:srgbClr val="D0D7E3"/>
                </a:solidFill>
                <a:latin typeface="Calibri"/>
              </a:rPr>
              <a:t>Total Employee Records</a:t>
            </a:r>
          </a:p>
        </p:txBody>
      </p:sp>
      <p:sp>
        <p:nvSpPr>
          <p:cNvPr id="10" name="Rectangle 9"/>
          <p:cNvSpPr/>
          <p:nvPr/>
        </p:nvSpPr>
        <p:spPr>
          <a:xfrm>
            <a:off x="2633472"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24912" y="1417320"/>
            <a:ext cx="1920240" cy="502920"/>
          </a:xfrm>
          <a:prstGeom prst="rect">
            <a:avLst/>
          </a:prstGeom>
          <a:noFill/>
        </p:spPr>
        <p:txBody>
          <a:bodyPr wrap="square">
            <a:spAutoFit/>
          </a:bodyPr>
          <a:lstStyle/>
          <a:p>
            <a:pPr algn="ctr"/>
            <a:r>
              <a:rPr sz="2600" b="1" i="0">
                <a:solidFill>
                  <a:srgbClr val="F5A623"/>
                </a:solidFill>
                <a:latin typeface="Calibri"/>
              </a:rPr>
              <a:t>23</a:t>
            </a:r>
          </a:p>
        </p:txBody>
      </p:sp>
      <p:sp>
        <p:nvSpPr>
          <p:cNvPr id="12" name="TextBox 11"/>
          <p:cNvSpPr txBox="1"/>
          <p:nvPr/>
        </p:nvSpPr>
        <p:spPr>
          <a:xfrm>
            <a:off x="2724912" y="1901952"/>
            <a:ext cx="1920240" cy="411480"/>
          </a:xfrm>
          <a:prstGeom prst="rect">
            <a:avLst/>
          </a:prstGeom>
          <a:noFill/>
        </p:spPr>
        <p:txBody>
          <a:bodyPr wrap="square">
            <a:spAutoFit/>
          </a:bodyPr>
          <a:lstStyle/>
          <a:p>
            <a:pPr algn="ctr"/>
            <a:r>
              <a:rPr sz="1100" b="0" i="0">
                <a:solidFill>
                  <a:srgbClr val="D0D7E3"/>
                </a:solidFill>
                <a:latin typeface="Calibri"/>
              </a:rPr>
              <a:t>Variables / Features</a:t>
            </a:r>
          </a:p>
        </p:txBody>
      </p:sp>
      <p:sp>
        <p:nvSpPr>
          <p:cNvPr id="13" name="Rectangle 12"/>
          <p:cNvSpPr/>
          <p:nvPr/>
        </p:nvSpPr>
        <p:spPr>
          <a:xfrm>
            <a:off x="4946903"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38343" y="1417320"/>
            <a:ext cx="1920240" cy="502920"/>
          </a:xfrm>
          <a:prstGeom prst="rect">
            <a:avLst/>
          </a:prstGeom>
          <a:noFill/>
        </p:spPr>
        <p:txBody>
          <a:bodyPr wrap="square">
            <a:spAutoFit/>
          </a:bodyPr>
          <a:lstStyle/>
          <a:p>
            <a:pPr algn="ctr"/>
            <a:r>
              <a:rPr sz="2600" b="1" i="0">
                <a:solidFill>
                  <a:srgbClr val="F5A623"/>
                </a:solidFill>
                <a:latin typeface="Calibri"/>
              </a:rPr>
              <a:t>0</a:t>
            </a:r>
          </a:p>
        </p:txBody>
      </p:sp>
      <p:sp>
        <p:nvSpPr>
          <p:cNvPr id="15" name="TextBox 14"/>
          <p:cNvSpPr txBox="1"/>
          <p:nvPr/>
        </p:nvSpPr>
        <p:spPr>
          <a:xfrm>
            <a:off x="5038343" y="1901952"/>
            <a:ext cx="1920240" cy="411480"/>
          </a:xfrm>
          <a:prstGeom prst="rect">
            <a:avLst/>
          </a:prstGeom>
          <a:noFill/>
        </p:spPr>
        <p:txBody>
          <a:bodyPr wrap="square">
            <a:spAutoFit/>
          </a:bodyPr>
          <a:lstStyle/>
          <a:p>
            <a:pPr algn="ctr"/>
            <a:r>
              <a:rPr sz="1100" b="0" i="0">
                <a:solidFill>
                  <a:srgbClr val="D0D7E3"/>
                </a:solidFill>
                <a:latin typeface="Calibri"/>
              </a:rPr>
              <a:t>Missing Values</a:t>
            </a:r>
          </a:p>
        </p:txBody>
      </p:sp>
      <p:sp>
        <p:nvSpPr>
          <p:cNvPr id="16" name="Rectangle 15"/>
          <p:cNvSpPr/>
          <p:nvPr/>
        </p:nvSpPr>
        <p:spPr>
          <a:xfrm>
            <a:off x="7260336"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51775" y="1417320"/>
            <a:ext cx="1920240" cy="502920"/>
          </a:xfrm>
          <a:prstGeom prst="rect">
            <a:avLst/>
          </a:prstGeom>
          <a:noFill/>
        </p:spPr>
        <p:txBody>
          <a:bodyPr wrap="square">
            <a:spAutoFit/>
          </a:bodyPr>
          <a:lstStyle/>
          <a:p>
            <a:pPr algn="ctr"/>
            <a:r>
              <a:rPr sz="2600" b="1" i="0">
                <a:solidFill>
                  <a:srgbClr val="F5A623"/>
                </a:solidFill>
                <a:latin typeface="Calibri"/>
              </a:rPr>
              <a:t>822</a:t>
            </a:r>
          </a:p>
        </p:txBody>
      </p:sp>
      <p:sp>
        <p:nvSpPr>
          <p:cNvPr id="18" name="TextBox 17"/>
          <p:cNvSpPr txBox="1"/>
          <p:nvPr/>
        </p:nvSpPr>
        <p:spPr>
          <a:xfrm>
            <a:off x="7351775" y="1901952"/>
            <a:ext cx="1920240" cy="411480"/>
          </a:xfrm>
          <a:prstGeom prst="rect">
            <a:avLst/>
          </a:prstGeom>
          <a:noFill/>
        </p:spPr>
        <p:txBody>
          <a:bodyPr wrap="square">
            <a:spAutoFit/>
          </a:bodyPr>
          <a:lstStyle/>
          <a:p>
            <a:pPr algn="ctr"/>
            <a:r>
              <a:rPr sz="1100" b="0" i="0">
                <a:solidFill>
                  <a:srgbClr val="D0D7E3"/>
                </a:solidFill>
                <a:latin typeface="Calibri"/>
              </a:rPr>
              <a:t>Developer Records</a:t>
            </a:r>
          </a:p>
        </p:txBody>
      </p:sp>
      <p:sp>
        <p:nvSpPr>
          <p:cNvPr id="19" name="Rectangle 18"/>
          <p:cNvSpPr/>
          <p:nvPr/>
        </p:nvSpPr>
        <p:spPr>
          <a:xfrm>
            <a:off x="9573767"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65207" y="1417320"/>
            <a:ext cx="1920240" cy="502920"/>
          </a:xfrm>
          <a:prstGeom prst="rect">
            <a:avLst/>
          </a:prstGeom>
          <a:noFill/>
        </p:spPr>
        <p:txBody>
          <a:bodyPr wrap="square">
            <a:spAutoFit/>
          </a:bodyPr>
          <a:lstStyle/>
          <a:p>
            <a:pPr algn="ctr"/>
            <a:r>
              <a:rPr sz="2600" b="1" i="0">
                <a:solidFill>
                  <a:srgbClr val="F5A623"/>
                </a:solidFill>
                <a:latin typeface="Calibri"/>
              </a:rPr>
              <a:t>22.0%</a:t>
            </a:r>
          </a:p>
        </p:txBody>
      </p:sp>
      <p:sp>
        <p:nvSpPr>
          <p:cNvPr id="21" name="TextBox 20"/>
          <p:cNvSpPr txBox="1"/>
          <p:nvPr/>
        </p:nvSpPr>
        <p:spPr>
          <a:xfrm>
            <a:off x="9665207" y="1901952"/>
            <a:ext cx="1920240" cy="411480"/>
          </a:xfrm>
          <a:prstGeom prst="rect">
            <a:avLst/>
          </a:prstGeom>
          <a:noFill/>
        </p:spPr>
        <p:txBody>
          <a:bodyPr wrap="square">
            <a:spAutoFit/>
          </a:bodyPr>
          <a:lstStyle/>
          <a:p>
            <a:pPr algn="ctr"/>
            <a:r>
              <a:rPr sz="1100" b="0" i="0">
                <a:solidFill>
                  <a:srgbClr val="D0D7E3"/>
                </a:solidFill>
                <a:latin typeface="Calibri"/>
              </a:rPr>
              <a:t>Developer Attrition Rate</a:t>
            </a:r>
          </a:p>
        </p:txBody>
      </p:sp>
      <p:pic>
        <p:nvPicPr>
          <p:cNvPr id="22" name="Picture 21" descr="fig1_attrition_overview.png"/>
          <p:cNvPicPr>
            <a:picLocks noChangeAspect="1"/>
          </p:cNvPicPr>
          <p:nvPr/>
        </p:nvPicPr>
        <p:blipFill>
          <a:blip r:embed="rId3"/>
          <a:stretch>
            <a:fillRect/>
          </a:stretch>
        </p:blipFill>
        <p:spPr>
          <a:xfrm>
            <a:off x="320040" y="2606040"/>
            <a:ext cx="7772400" cy="3840480"/>
          </a:xfrm>
          <a:prstGeom prst="rect">
            <a:avLst/>
          </a:prstGeom>
        </p:spPr>
      </p:pic>
      <p:sp>
        <p:nvSpPr>
          <p:cNvPr id="24" name="Rectangle 23"/>
          <p:cNvSpPr/>
          <p:nvPr/>
        </p:nvSpPr>
        <p:spPr>
          <a:xfrm>
            <a:off x="320040" y="6291072"/>
            <a:ext cx="45720" cy="5029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321040" y="2606040"/>
            <a:ext cx="3520440" cy="38404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03920" y="2743200"/>
            <a:ext cx="3108960" cy="365760"/>
          </a:xfrm>
          <a:prstGeom prst="rect">
            <a:avLst/>
          </a:prstGeom>
          <a:noFill/>
        </p:spPr>
        <p:txBody>
          <a:bodyPr wrap="square">
            <a:spAutoFit/>
          </a:bodyPr>
          <a:lstStyle/>
          <a:p>
            <a:pPr algn="l"/>
            <a:r>
              <a:rPr sz="1400" b="1" i="0">
                <a:solidFill>
                  <a:srgbClr val="F5A623"/>
                </a:solidFill>
                <a:latin typeface="Calibri"/>
              </a:rPr>
              <a:t>Key Facts</a:t>
            </a:r>
          </a:p>
        </p:txBody>
      </p:sp>
      <p:sp>
        <p:nvSpPr>
          <p:cNvPr id="28" name="TextBox 27"/>
          <p:cNvSpPr txBox="1"/>
          <p:nvPr/>
        </p:nvSpPr>
        <p:spPr>
          <a:xfrm>
            <a:off x="8412480" y="3200400"/>
            <a:ext cx="3337560" cy="3017520"/>
          </a:xfrm>
          <a:prstGeom prst="rect">
            <a:avLst/>
          </a:prstGeom>
          <a:noFill/>
        </p:spPr>
        <p:txBody>
          <a:bodyPr wrap="square">
            <a:spAutoFit/>
          </a:bodyPr>
          <a:lstStyle/>
          <a:p>
            <a:pPr algn="l">
              <a:spcAft>
                <a:spcPts val="400"/>
              </a:spcAft>
            </a:pPr>
            <a:r>
              <a:rPr sz="1150">
                <a:solidFill>
                  <a:srgbClr val="D0D7E3"/>
                </a:solidFill>
                <a:latin typeface="Calibri"/>
              </a:rPr>
              <a:t>▸  5 Departments in the IT sector</a:t>
            </a:r>
          </a:p>
          <a:p>
            <a:pPr algn="l">
              <a:spcAft>
                <a:spcPts val="400"/>
              </a:spcAft>
            </a:pPr>
            <a:r>
              <a:rPr sz="1150">
                <a:solidFill>
                  <a:srgbClr val="D0D7E3"/>
                </a:solidFill>
                <a:latin typeface="Calibri"/>
              </a:rPr>
              <a:t>▸  12 distinct Job Roles</a:t>
            </a:r>
          </a:p>
          <a:p>
            <a:pPr algn="l">
              <a:spcAft>
                <a:spcPts val="400"/>
              </a:spcAft>
            </a:pPr>
            <a:r>
              <a:rPr sz="1150">
                <a:solidFill>
                  <a:srgbClr val="D0D7E3"/>
                </a:solidFill>
                <a:latin typeface="Calibri"/>
              </a:rPr>
              <a:t>▸  No data cleaning required — zero null values</a:t>
            </a:r>
          </a:p>
          <a:p>
            <a:pPr algn="l">
              <a:spcAft>
                <a:spcPts val="400"/>
              </a:spcAft>
            </a:pPr>
            <a:r>
              <a:rPr sz="1150">
                <a:solidFill>
                  <a:srgbClr val="D0D7E3"/>
                </a:solidFill>
                <a:latin typeface="Calibri"/>
              </a:rPr>
              <a:t>▸  Developer subset = 822 records (well above 300 minimum required)</a:t>
            </a:r>
          </a:p>
          <a:p>
            <a:pPr algn="l">
              <a:spcAft>
                <a:spcPts val="400"/>
              </a:spcAft>
            </a:pPr>
            <a:r>
              <a:rPr sz="1150">
                <a:solidFill>
                  <a:srgbClr val="D0D7E3"/>
                </a:solidFill>
                <a:latin typeface="Calibri"/>
              </a:rPr>
              <a:t>▸  All key variables scored on 1–5 scale for easy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978408" cy="2560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795528" cy="228600"/>
          </a:xfrm>
          <a:prstGeom prst="rect">
            <a:avLst/>
          </a:prstGeom>
          <a:noFill/>
        </p:spPr>
        <p:txBody>
          <a:bodyPr wrap="square">
            <a:spAutoFit/>
          </a:bodyPr>
          <a:lstStyle/>
          <a:p>
            <a:pPr algn="l"/>
            <a:r>
              <a:rPr sz="900" b="1" i="0">
                <a:solidFill>
                  <a:srgbClr val="FFFFFF"/>
                </a:solidFill>
                <a:latin typeface="Calibri"/>
              </a:rPr>
              <a:t>DATASET</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Variable Mapping &amp; Feature Engineering</a:t>
            </a:r>
          </a:p>
        </p:txBody>
      </p:sp>
      <p:sp>
        <p:nvSpPr>
          <p:cNvPr id="6" name="Rectangle 5"/>
          <p:cNvSpPr/>
          <p:nvPr/>
        </p:nvSpPr>
        <p:spPr>
          <a:xfrm>
            <a:off x="320040" y="1170432"/>
            <a:ext cx="1152144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5303520" cy="52120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71600"/>
            <a:ext cx="5303520" cy="41148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4937760" cy="347472"/>
          </a:xfrm>
          <a:prstGeom prst="rect">
            <a:avLst/>
          </a:prstGeom>
          <a:noFill/>
        </p:spPr>
        <p:txBody>
          <a:bodyPr wrap="square">
            <a:spAutoFit/>
          </a:bodyPr>
          <a:lstStyle/>
          <a:p>
            <a:pPr algn="l"/>
            <a:r>
              <a:rPr sz="1200" b="1" i="0">
                <a:solidFill>
                  <a:srgbClr val="FFFFFF"/>
                </a:solidFill>
                <a:latin typeface="Calibri"/>
              </a:rPr>
              <a:t>Key Variables Used</a:t>
            </a:r>
          </a:p>
        </p:txBody>
      </p:sp>
      <p:sp>
        <p:nvSpPr>
          <p:cNvPr id="10" name="Rectangle 9"/>
          <p:cNvSpPr/>
          <p:nvPr/>
        </p:nvSpPr>
        <p:spPr>
          <a:xfrm>
            <a:off x="347472" y="1874519"/>
            <a:ext cx="5239512" cy="457200"/>
          </a:xfrm>
          <a:prstGeom prst="rect">
            <a:avLst/>
          </a:prstGeom>
          <a:solidFill>
            <a:srgbClr val="005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929384"/>
            <a:ext cx="2377440" cy="365760"/>
          </a:xfrm>
          <a:prstGeom prst="rect">
            <a:avLst/>
          </a:prstGeom>
          <a:noFill/>
        </p:spPr>
        <p:txBody>
          <a:bodyPr wrap="square">
            <a:spAutoFit/>
          </a:bodyPr>
          <a:lstStyle/>
          <a:p>
            <a:pPr algn="l"/>
            <a:r>
              <a:rPr sz="1000" b="1" i="0">
                <a:solidFill>
                  <a:srgbClr val="F5A623"/>
                </a:solidFill>
                <a:latin typeface="Calibri"/>
              </a:rPr>
              <a:t>Variable</a:t>
            </a:r>
          </a:p>
        </p:txBody>
      </p:sp>
      <p:sp>
        <p:nvSpPr>
          <p:cNvPr id="12" name="TextBox 11"/>
          <p:cNvSpPr txBox="1"/>
          <p:nvPr/>
        </p:nvSpPr>
        <p:spPr>
          <a:xfrm>
            <a:off x="2788920" y="1929384"/>
            <a:ext cx="1371600" cy="365760"/>
          </a:xfrm>
          <a:prstGeom prst="rect">
            <a:avLst/>
          </a:prstGeom>
          <a:noFill/>
        </p:spPr>
        <p:txBody>
          <a:bodyPr wrap="square">
            <a:spAutoFit/>
          </a:bodyPr>
          <a:lstStyle/>
          <a:p>
            <a:pPr algn="l"/>
            <a:r>
              <a:rPr sz="1000" b="1" i="0">
                <a:solidFill>
                  <a:srgbClr val="F5A623"/>
                </a:solidFill>
                <a:latin typeface="Calibri"/>
              </a:rPr>
              <a:t>Type</a:t>
            </a:r>
          </a:p>
        </p:txBody>
      </p:sp>
      <p:sp>
        <p:nvSpPr>
          <p:cNvPr id="13" name="TextBox 12"/>
          <p:cNvSpPr txBox="1"/>
          <p:nvPr/>
        </p:nvSpPr>
        <p:spPr>
          <a:xfrm>
            <a:off x="4160520" y="1929384"/>
            <a:ext cx="1371600" cy="365760"/>
          </a:xfrm>
          <a:prstGeom prst="rect">
            <a:avLst/>
          </a:prstGeom>
          <a:noFill/>
        </p:spPr>
        <p:txBody>
          <a:bodyPr wrap="square">
            <a:spAutoFit/>
          </a:bodyPr>
          <a:lstStyle/>
          <a:p>
            <a:pPr algn="l"/>
            <a:r>
              <a:rPr sz="1000" b="1" i="0">
                <a:solidFill>
                  <a:srgbClr val="F5A623"/>
                </a:solidFill>
                <a:latin typeface="Calibri"/>
              </a:rPr>
              <a:t>Role</a:t>
            </a:r>
          </a:p>
        </p:txBody>
      </p:sp>
      <p:sp>
        <p:nvSpPr>
          <p:cNvPr id="14" name="Rectangle 13"/>
          <p:cNvSpPr/>
          <p:nvPr/>
        </p:nvSpPr>
        <p:spPr>
          <a:xfrm>
            <a:off x="347472" y="2377439"/>
            <a:ext cx="5239512" cy="457200"/>
          </a:xfrm>
          <a:prstGeom prst="rect">
            <a:avLst/>
          </a:prstGeom>
          <a:solidFill>
            <a:srgbClr val="0F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432303"/>
            <a:ext cx="2377440" cy="365760"/>
          </a:xfrm>
          <a:prstGeom prst="rect">
            <a:avLst/>
          </a:prstGeom>
          <a:noFill/>
        </p:spPr>
        <p:txBody>
          <a:bodyPr wrap="square">
            <a:spAutoFit/>
          </a:bodyPr>
          <a:lstStyle/>
          <a:p>
            <a:pPr algn="l"/>
            <a:r>
              <a:rPr sz="1000" b="0" i="0">
                <a:solidFill>
                  <a:srgbClr val="FFFFFF"/>
                </a:solidFill>
                <a:latin typeface="Calibri"/>
              </a:rPr>
              <a:t>Environment_Satisfaction</a:t>
            </a:r>
          </a:p>
        </p:txBody>
      </p:sp>
      <p:sp>
        <p:nvSpPr>
          <p:cNvPr id="16" name="TextBox 15"/>
          <p:cNvSpPr txBox="1"/>
          <p:nvPr/>
        </p:nvSpPr>
        <p:spPr>
          <a:xfrm>
            <a:off x="2788920" y="2432303"/>
            <a:ext cx="1371600" cy="365760"/>
          </a:xfrm>
          <a:prstGeom prst="rect">
            <a:avLst/>
          </a:prstGeom>
          <a:noFill/>
        </p:spPr>
        <p:txBody>
          <a:bodyPr wrap="square">
            <a:spAutoFit/>
          </a:bodyPr>
          <a:lstStyle/>
          <a:p>
            <a:pPr algn="l"/>
            <a:r>
              <a:rPr sz="1000" b="0" i="0">
                <a:solidFill>
                  <a:srgbClr val="D0D7E3"/>
                </a:solidFill>
                <a:latin typeface="Calibri"/>
              </a:rPr>
              <a:t>Ordinal 1–5</a:t>
            </a:r>
          </a:p>
        </p:txBody>
      </p:sp>
      <p:sp>
        <p:nvSpPr>
          <p:cNvPr id="17" name="TextBox 16"/>
          <p:cNvSpPr txBox="1"/>
          <p:nvPr/>
        </p:nvSpPr>
        <p:spPr>
          <a:xfrm>
            <a:off x="4160520" y="2432303"/>
            <a:ext cx="1371600" cy="365760"/>
          </a:xfrm>
          <a:prstGeom prst="rect">
            <a:avLst/>
          </a:prstGeom>
          <a:noFill/>
        </p:spPr>
        <p:txBody>
          <a:bodyPr wrap="square">
            <a:spAutoFit/>
          </a:bodyPr>
          <a:lstStyle/>
          <a:p>
            <a:pPr algn="l"/>
            <a:r>
              <a:rPr sz="1000" b="0" i="0">
                <a:solidFill>
                  <a:srgbClr val="D0D7E3"/>
                </a:solidFill>
                <a:latin typeface="Calibri"/>
              </a:rPr>
              <a:t>Independent</a:t>
            </a:r>
          </a:p>
        </p:txBody>
      </p:sp>
      <p:sp>
        <p:nvSpPr>
          <p:cNvPr id="18" name="Rectangle 17"/>
          <p:cNvSpPr/>
          <p:nvPr/>
        </p:nvSpPr>
        <p:spPr>
          <a:xfrm>
            <a:off x="347472" y="2880360"/>
            <a:ext cx="5239512" cy="45720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2935224"/>
            <a:ext cx="2377440" cy="365760"/>
          </a:xfrm>
          <a:prstGeom prst="rect">
            <a:avLst/>
          </a:prstGeom>
          <a:noFill/>
        </p:spPr>
        <p:txBody>
          <a:bodyPr wrap="square">
            <a:spAutoFit/>
          </a:bodyPr>
          <a:lstStyle/>
          <a:p>
            <a:pPr algn="l"/>
            <a:r>
              <a:rPr sz="1000" b="0" i="0">
                <a:solidFill>
                  <a:srgbClr val="FFFFFF"/>
                </a:solidFill>
                <a:latin typeface="Calibri"/>
              </a:rPr>
              <a:t>Work_life_balance</a:t>
            </a:r>
          </a:p>
        </p:txBody>
      </p:sp>
      <p:sp>
        <p:nvSpPr>
          <p:cNvPr id="20" name="TextBox 19"/>
          <p:cNvSpPr txBox="1"/>
          <p:nvPr/>
        </p:nvSpPr>
        <p:spPr>
          <a:xfrm>
            <a:off x="2788920" y="2935224"/>
            <a:ext cx="1371600" cy="365760"/>
          </a:xfrm>
          <a:prstGeom prst="rect">
            <a:avLst/>
          </a:prstGeom>
          <a:noFill/>
        </p:spPr>
        <p:txBody>
          <a:bodyPr wrap="square">
            <a:spAutoFit/>
          </a:bodyPr>
          <a:lstStyle/>
          <a:p>
            <a:pPr algn="l"/>
            <a:r>
              <a:rPr sz="1000" b="0" i="0">
                <a:solidFill>
                  <a:srgbClr val="D0D7E3"/>
                </a:solidFill>
                <a:latin typeface="Calibri"/>
              </a:rPr>
              <a:t>Ordinal 1–5</a:t>
            </a:r>
          </a:p>
        </p:txBody>
      </p:sp>
      <p:sp>
        <p:nvSpPr>
          <p:cNvPr id="21" name="TextBox 20"/>
          <p:cNvSpPr txBox="1"/>
          <p:nvPr/>
        </p:nvSpPr>
        <p:spPr>
          <a:xfrm>
            <a:off x="4160520" y="2935224"/>
            <a:ext cx="1371600" cy="365760"/>
          </a:xfrm>
          <a:prstGeom prst="rect">
            <a:avLst/>
          </a:prstGeom>
          <a:noFill/>
        </p:spPr>
        <p:txBody>
          <a:bodyPr wrap="square">
            <a:spAutoFit/>
          </a:bodyPr>
          <a:lstStyle/>
          <a:p>
            <a:pPr algn="l"/>
            <a:r>
              <a:rPr sz="1000" b="0" i="0">
                <a:solidFill>
                  <a:srgbClr val="D0D7E3"/>
                </a:solidFill>
                <a:latin typeface="Calibri"/>
              </a:rPr>
              <a:t>Independent</a:t>
            </a:r>
          </a:p>
        </p:txBody>
      </p:sp>
      <p:sp>
        <p:nvSpPr>
          <p:cNvPr id="22" name="Rectangle 21"/>
          <p:cNvSpPr/>
          <p:nvPr/>
        </p:nvSpPr>
        <p:spPr>
          <a:xfrm>
            <a:off x="347472" y="3383280"/>
            <a:ext cx="5239512" cy="457200"/>
          </a:xfrm>
          <a:prstGeom prst="rect">
            <a:avLst/>
          </a:prstGeom>
          <a:solidFill>
            <a:srgbClr val="0F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438144"/>
            <a:ext cx="2377440" cy="365760"/>
          </a:xfrm>
          <a:prstGeom prst="rect">
            <a:avLst/>
          </a:prstGeom>
          <a:noFill/>
        </p:spPr>
        <p:txBody>
          <a:bodyPr wrap="square">
            <a:spAutoFit/>
          </a:bodyPr>
          <a:lstStyle/>
          <a:p>
            <a:pPr algn="l"/>
            <a:r>
              <a:rPr sz="1000" b="0" i="0">
                <a:solidFill>
                  <a:srgbClr val="FFFFFF"/>
                </a:solidFill>
                <a:latin typeface="Calibri"/>
              </a:rPr>
              <a:t>Overtime</a:t>
            </a:r>
          </a:p>
        </p:txBody>
      </p:sp>
      <p:sp>
        <p:nvSpPr>
          <p:cNvPr id="24" name="TextBox 23"/>
          <p:cNvSpPr txBox="1"/>
          <p:nvPr/>
        </p:nvSpPr>
        <p:spPr>
          <a:xfrm>
            <a:off x="2788920" y="3438144"/>
            <a:ext cx="1371600" cy="365760"/>
          </a:xfrm>
          <a:prstGeom prst="rect">
            <a:avLst/>
          </a:prstGeom>
          <a:noFill/>
        </p:spPr>
        <p:txBody>
          <a:bodyPr wrap="square">
            <a:spAutoFit/>
          </a:bodyPr>
          <a:lstStyle/>
          <a:p>
            <a:pPr algn="l"/>
            <a:r>
              <a:rPr sz="1000" b="0" i="0">
                <a:solidFill>
                  <a:srgbClr val="D0D7E3"/>
                </a:solidFill>
                <a:latin typeface="Calibri"/>
              </a:rPr>
              <a:t>Binary</a:t>
            </a:r>
          </a:p>
        </p:txBody>
      </p:sp>
      <p:sp>
        <p:nvSpPr>
          <p:cNvPr id="25" name="TextBox 24"/>
          <p:cNvSpPr txBox="1"/>
          <p:nvPr/>
        </p:nvSpPr>
        <p:spPr>
          <a:xfrm>
            <a:off x="4160520" y="3438144"/>
            <a:ext cx="1371600" cy="365760"/>
          </a:xfrm>
          <a:prstGeom prst="rect">
            <a:avLst/>
          </a:prstGeom>
          <a:noFill/>
        </p:spPr>
        <p:txBody>
          <a:bodyPr wrap="square">
            <a:spAutoFit/>
          </a:bodyPr>
          <a:lstStyle/>
          <a:p>
            <a:pPr algn="l"/>
            <a:r>
              <a:rPr sz="1000" b="0" i="0">
                <a:solidFill>
                  <a:srgbClr val="D0D7E3"/>
                </a:solidFill>
                <a:latin typeface="Calibri"/>
              </a:rPr>
              <a:t>Independent</a:t>
            </a:r>
          </a:p>
        </p:txBody>
      </p:sp>
      <p:sp>
        <p:nvSpPr>
          <p:cNvPr id="26" name="Rectangle 25"/>
          <p:cNvSpPr/>
          <p:nvPr/>
        </p:nvSpPr>
        <p:spPr>
          <a:xfrm>
            <a:off x="347472" y="3886200"/>
            <a:ext cx="5239512" cy="45720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3941063"/>
            <a:ext cx="2377440" cy="365760"/>
          </a:xfrm>
          <a:prstGeom prst="rect">
            <a:avLst/>
          </a:prstGeom>
          <a:noFill/>
        </p:spPr>
        <p:txBody>
          <a:bodyPr wrap="square">
            <a:spAutoFit/>
          </a:bodyPr>
          <a:lstStyle/>
          <a:p>
            <a:pPr algn="l"/>
            <a:r>
              <a:rPr sz="1000" b="0" i="0">
                <a:solidFill>
                  <a:srgbClr val="FFFFFF"/>
                </a:solidFill>
                <a:latin typeface="Calibri"/>
              </a:rPr>
              <a:t>Job_Involvement</a:t>
            </a:r>
          </a:p>
        </p:txBody>
      </p:sp>
      <p:sp>
        <p:nvSpPr>
          <p:cNvPr id="28" name="TextBox 27"/>
          <p:cNvSpPr txBox="1"/>
          <p:nvPr/>
        </p:nvSpPr>
        <p:spPr>
          <a:xfrm>
            <a:off x="2788920" y="3941063"/>
            <a:ext cx="1371600" cy="365760"/>
          </a:xfrm>
          <a:prstGeom prst="rect">
            <a:avLst/>
          </a:prstGeom>
          <a:noFill/>
        </p:spPr>
        <p:txBody>
          <a:bodyPr wrap="square">
            <a:spAutoFit/>
          </a:bodyPr>
          <a:lstStyle/>
          <a:p>
            <a:pPr algn="l"/>
            <a:r>
              <a:rPr sz="1000" b="0" i="0">
                <a:solidFill>
                  <a:srgbClr val="D0D7E3"/>
                </a:solidFill>
                <a:latin typeface="Calibri"/>
              </a:rPr>
              <a:t>Ordinal 1–5</a:t>
            </a:r>
          </a:p>
        </p:txBody>
      </p:sp>
      <p:sp>
        <p:nvSpPr>
          <p:cNvPr id="29" name="TextBox 28"/>
          <p:cNvSpPr txBox="1"/>
          <p:nvPr/>
        </p:nvSpPr>
        <p:spPr>
          <a:xfrm>
            <a:off x="4160520" y="3941063"/>
            <a:ext cx="1371600" cy="365760"/>
          </a:xfrm>
          <a:prstGeom prst="rect">
            <a:avLst/>
          </a:prstGeom>
          <a:noFill/>
        </p:spPr>
        <p:txBody>
          <a:bodyPr wrap="square">
            <a:spAutoFit/>
          </a:bodyPr>
          <a:lstStyle/>
          <a:p>
            <a:pPr algn="l"/>
            <a:r>
              <a:rPr sz="1000" b="0" i="0">
                <a:solidFill>
                  <a:srgbClr val="D0D7E3"/>
                </a:solidFill>
                <a:latin typeface="Calibri"/>
              </a:rPr>
              <a:t>Dependent</a:t>
            </a:r>
          </a:p>
        </p:txBody>
      </p:sp>
      <p:sp>
        <p:nvSpPr>
          <p:cNvPr id="30" name="Rectangle 29"/>
          <p:cNvSpPr/>
          <p:nvPr/>
        </p:nvSpPr>
        <p:spPr>
          <a:xfrm>
            <a:off x="347472" y="4389120"/>
            <a:ext cx="5239512" cy="457200"/>
          </a:xfrm>
          <a:prstGeom prst="rect">
            <a:avLst/>
          </a:prstGeom>
          <a:solidFill>
            <a:srgbClr val="0F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4443983"/>
            <a:ext cx="2377440" cy="365760"/>
          </a:xfrm>
          <a:prstGeom prst="rect">
            <a:avLst/>
          </a:prstGeom>
          <a:noFill/>
        </p:spPr>
        <p:txBody>
          <a:bodyPr wrap="square">
            <a:spAutoFit/>
          </a:bodyPr>
          <a:lstStyle/>
          <a:p>
            <a:pPr algn="l"/>
            <a:r>
              <a:rPr sz="1000" b="0" i="0">
                <a:solidFill>
                  <a:srgbClr val="FFFFFF"/>
                </a:solidFill>
                <a:latin typeface="Calibri"/>
              </a:rPr>
              <a:t>Job_Satisfaction</a:t>
            </a:r>
          </a:p>
        </p:txBody>
      </p:sp>
      <p:sp>
        <p:nvSpPr>
          <p:cNvPr id="32" name="TextBox 31"/>
          <p:cNvSpPr txBox="1"/>
          <p:nvPr/>
        </p:nvSpPr>
        <p:spPr>
          <a:xfrm>
            <a:off x="2788920" y="4443983"/>
            <a:ext cx="1371600" cy="365760"/>
          </a:xfrm>
          <a:prstGeom prst="rect">
            <a:avLst/>
          </a:prstGeom>
          <a:noFill/>
        </p:spPr>
        <p:txBody>
          <a:bodyPr wrap="square">
            <a:spAutoFit/>
          </a:bodyPr>
          <a:lstStyle/>
          <a:p>
            <a:pPr algn="l"/>
            <a:r>
              <a:rPr sz="1000" b="0" i="0">
                <a:solidFill>
                  <a:srgbClr val="D0D7E3"/>
                </a:solidFill>
                <a:latin typeface="Calibri"/>
              </a:rPr>
              <a:t>Ordinal 1–5</a:t>
            </a:r>
          </a:p>
        </p:txBody>
      </p:sp>
      <p:sp>
        <p:nvSpPr>
          <p:cNvPr id="33" name="TextBox 32"/>
          <p:cNvSpPr txBox="1"/>
          <p:nvPr/>
        </p:nvSpPr>
        <p:spPr>
          <a:xfrm>
            <a:off x="4160520" y="4443983"/>
            <a:ext cx="1371600" cy="365760"/>
          </a:xfrm>
          <a:prstGeom prst="rect">
            <a:avLst/>
          </a:prstGeom>
          <a:noFill/>
        </p:spPr>
        <p:txBody>
          <a:bodyPr wrap="square">
            <a:spAutoFit/>
          </a:bodyPr>
          <a:lstStyle/>
          <a:p>
            <a:pPr algn="l"/>
            <a:r>
              <a:rPr sz="1000" b="0" i="0">
                <a:solidFill>
                  <a:srgbClr val="D0D7E3"/>
                </a:solidFill>
                <a:latin typeface="Calibri"/>
              </a:rPr>
              <a:t>Dependent</a:t>
            </a:r>
          </a:p>
        </p:txBody>
      </p:sp>
      <p:sp>
        <p:nvSpPr>
          <p:cNvPr id="34" name="Rectangle 33"/>
          <p:cNvSpPr/>
          <p:nvPr/>
        </p:nvSpPr>
        <p:spPr>
          <a:xfrm>
            <a:off x="347472" y="4892040"/>
            <a:ext cx="5239512" cy="45720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4946903"/>
            <a:ext cx="2377440" cy="365760"/>
          </a:xfrm>
          <a:prstGeom prst="rect">
            <a:avLst/>
          </a:prstGeom>
          <a:noFill/>
        </p:spPr>
        <p:txBody>
          <a:bodyPr wrap="square">
            <a:spAutoFit/>
          </a:bodyPr>
          <a:lstStyle/>
          <a:p>
            <a:pPr algn="l"/>
            <a:r>
              <a:rPr sz="1000" b="0" i="0">
                <a:solidFill>
                  <a:srgbClr val="FFFFFF"/>
                </a:solidFill>
                <a:latin typeface="Calibri"/>
              </a:rPr>
              <a:t>Attrition</a:t>
            </a:r>
          </a:p>
        </p:txBody>
      </p:sp>
      <p:sp>
        <p:nvSpPr>
          <p:cNvPr id="36" name="TextBox 35"/>
          <p:cNvSpPr txBox="1"/>
          <p:nvPr/>
        </p:nvSpPr>
        <p:spPr>
          <a:xfrm>
            <a:off x="2788920" y="4946903"/>
            <a:ext cx="1371600" cy="365760"/>
          </a:xfrm>
          <a:prstGeom prst="rect">
            <a:avLst/>
          </a:prstGeom>
          <a:noFill/>
        </p:spPr>
        <p:txBody>
          <a:bodyPr wrap="square">
            <a:spAutoFit/>
          </a:bodyPr>
          <a:lstStyle/>
          <a:p>
            <a:pPr algn="l"/>
            <a:r>
              <a:rPr sz="1000" b="0" i="0">
                <a:solidFill>
                  <a:srgbClr val="D0D7E3"/>
                </a:solidFill>
                <a:latin typeface="Calibri"/>
              </a:rPr>
              <a:t>Binary</a:t>
            </a:r>
          </a:p>
        </p:txBody>
      </p:sp>
      <p:sp>
        <p:nvSpPr>
          <p:cNvPr id="37" name="TextBox 36"/>
          <p:cNvSpPr txBox="1"/>
          <p:nvPr/>
        </p:nvSpPr>
        <p:spPr>
          <a:xfrm>
            <a:off x="4160520" y="4946903"/>
            <a:ext cx="1371600" cy="365760"/>
          </a:xfrm>
          <a:prstGeom prst="rect">
            <a:avLst/>
          </a:prstGeom>
          <a:noFill/>
        </p:spPr>
        <p:txBody>
          <a:bodyPr wrap="square">
            <a:spAutoFit/>
          </a:bodyPr>
          <a:lstStyle/>
          <a:p>
            <a:pPr algn="l"/>
            <a:r>
              <a:rPr sz="1000" b="0" i="0">
                <a:solidFill>
                  <a:srgbClr val="D0D7E3"/>
                </a:solidFill>
                <a:latin typeface="Calibri"/>
              </a:rPr>
              <a:t>Outcome Proxy</a:t>
            </a:r>
          </a:p>
        </p:txBody>
      </p:sp>
      <p:sp>
        <p:nvSpPr>
          <p:cNvPr id="38" name="Rectangle 37"/>
          <p:cNvSpPr/>
          <p:nvPr/>
        </p:nvSpPr>
        <p:spPr>
          <a:xfrm>
            <a:off x="347472" y="5394960"/>
            <a:ext cx="5239512" cy="457200"/>
          </a:xfrm>
          <a:prstGeom prst="rect">
            <a:avLst/>
          </a:prstGeom>
          <a:solidFill>
            <a:srgbClr val="0F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449824"/>
            <a:ext cx="2377440" cy="365760"/>
          </a:xfrm>
          <a:prstGeom prst="rect">
            <a:avLst/>
          </a:prstGeom>
          <a:noFill/>
        </p:spPr>
        <p:txBody>
          <a:bodyPr wrap="square">
            <a:spAutoFit/>
          </a:bodyPr>
          <a:lstStyle/>
          <a:p>
            <a:pPr algn="l"/>
            <a:r>
              <a:rPr sz="1000" b="0" i="0">
                <a:solidFill>
                  <a:srgbClr val="FFFFFF"/>
                </a:solidFill>
                <a:latin typeface="Calibri"/>
              </a:rPr>
              <a:t>Salary</a:t>
            </a:r>
          </a:p>
        </p:txBody>
      </p:sp>
      <p:sp>
        <p:nvSpPr>
          <p:cNvPr id="40" name="TextBox 39"/>
          <p:cNvSpPr txBox="1"/>
          <p:nvPr/>
        </p:nvSpPr>
        <p:spPr>
          <a:xfrm>
            <a:off x="2788920" y="5449824"/>
            <a:ext cx="1371600" cy="365760"/>
          </a:xfrm>
          <a:prstGeom prst="rect">
            <a:avLst/>
          </a:prstGeom>
          <a:noFill/>
        </p:spPr>
        <p:txBody>
          <a:bodyPr wrap="square">
            <a:spAutoFit/>
          </a:bodyPr>
          <a:lstStyle/>
          <a:p>
            <a:pPr algn="l"/>
            <a:r>
              <a:rPr sz="1000" b="0" i="0">
                <a:solidFill>
                  <a:srgbClr val="D0D7E3"/>
                </a:solidFill>
                <a:latin typeface="Calibri"/>
              </a:rPr>
              <a:t>Numeric</a:t>
            </a:r>
          </a:p>
        </p:txBody>
      </p:sp>
      <p:sp>
        <p:nvSpPr>
          <p:cNvPr id="41" name="TextBox 40"/>
          <p:cNvSpPr txBox="1"/>
          <p:nvPr/>
        </p:nvSpPr>
        <p:spPr>
          <a:xfrm>
            <a:off x="4160520" y="5449824"/>
            <a:ext cx="1371600" cy="365760"/>
          </a:xfrm>
          <a:prstGeom prst="rect">
            <a:avLst/>
          </a:prstGeom>
          <a:noFill/>
        </p:spPr>
        <p:txBody>
          <a:bodyPr wrap="square">
            <a:spAutoFit/>
          </a:bodyPr>
          <a:lstStyle/>
          <a:p>
            <a:pPr algn="l"/>
            <a:r>
              <a:rPr sz="1000" b="0" i="0">
                <a:solidFill>
                  <a:srgbClr val="D0D7E3"/>
                </a:solidFill>
                <a:latin typeface="Calibri"/>
              </a:rPr>
              <a:t>External</a:t>
            </a:r>
          </a:p>
        </p:txBody>
      </p:sp>
      <p:sp>
        <p:nvSpPr>
          <p:cNvPr id="42" name="Rectangle 41"/>
          <p:cNvSpPr/>
          <p:nvPr/>
        </p:nvSpPr>
        <p:spPr>
          <a:xfrm>
            <a:off x="347472" y="5897880"/>
            <a:ext cx="5239512" cy="45720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7200" y="5952744"/>
            <a:ext cx="2377440" cy="365760"/>
          </a:xfrm>
          <a:prstGeom prst="rect">
            <a:avLst/>
          </a:prstGeom>
          <a:noFill/>
        </p:spPr>
        <p:txBody>
          <a:bodyPr wrap="square">
            <a:spAutoFit/>
          </a:bodyPr>
          <a:lstStyle/>
          <a:p>
            <a:pPr algn="l"/>
            <a:r>
              <a:rPr sz="1000" b="0" i="0">
                <a:solidFill>
                  <a:srgbClr val="FFFFFF"/>
                </a:solidFill>
                <a:latin typeface="Calibri"/>
              </a:rPr>
              <a:t>Total_working_years_experience</a:t>
            </a:r>
          </a:p>
        </p:txBody>
      </p:sp>
      <p:sp>
        <p:nvSpPr>
          <p:cNvPr id="44" name="TextBox 43"/>
          <p:cNvSpPr txBox="1"/>
          <p:nvPr/>
        </p:nvSpPr>
        <p:spPr>
          <a:xfrm>
            <a:off x="2788920" y="5952744"/>
            <a:ext cx="1371600" cy="365760"/>
          </a:xfrm>
          <a:prstGeom prst="rect">
            <a:avLst/>
          </a:prstGeom>
          <a:noFill/>
        </p:spPr>
        <p:txBody>
          <a:bodyPr wrap="square">
            <a:spAutoFit/>
          </a:bodyPr>
          <a:lstStyle/>
          <a:p>
            <a:pPr algn="l"/>
            <a:r>
              <a:rPr sz="1000" b="0" i="0">
                <a:solidFill>
                  <a:srgbClr val="D0D7E3"/>
                </a:solidFill>
                <a:latin typeface="Calibri"/>
              </a:rPr>
              <a:t>Numeric</a:t>
            </a:r>
          </a:p>
        </p:txBody>
      </p:sp>
      <p:sp>
        <p:nvSpPr>
          <p:cNvPr id="45" name="TextBox 44"/>
          <p:cNvSpPr txBox="1"/>
          <p:nvPr/>
        </p:nvSpPr>
        <p:spPr>
          <a:xfrm>
            <a:off x="4160520" y="5952744"/>
            <a:ext cx="1371600" cy="365760"/>
          </a:xfrm>
          <a:prstGeom prst="rect">
            <a:avLst/>
          </a:prstGeom>
          <a:noFill/>
        </p:spPr>
        <p:txBody>
          <a:bodyPr wrap="square">
            <a:spAutoFit/>
          </a:bodyPr>
          <a:lstStyle/>
          <a:p>
            <a:pPr algn="l"/>
            <a:r>
              <a:rPr sz="1000" b="0" i="0">
                <a:solidFill>
                  <a:srgbClr val="D0D7E3"/>
                </a:solidFill>
                <a:latin typeface="Calibri"/>
              </a:rPr>
              <a:t>External</a:t>
            </a:r>
          </a:p>
        </p:txBody>
      </p:sp>
      <p:sp>
        <p:nvSpPr>
          <p:cNvPr id="46" name="Rectangle 45"/>
          <p:cNvSpPr/>
          <p:nvPr/>
        </p:nvSpPr>
        <p:spPr>
          <a:xfrm>
            <a:off x="5897880" y="1371600"/>
            <a:ext cx="5943600" cy="52120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897880" y="1371600"/>
            <a:ext cx="5943600"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80760" y="1417320"/>
            <a:ext cx="5577840" cy="347472"/>
          </a:xfrm>
          <a:prstGeom prst="rect">
            <a:avLst/>
          </a:prstGeom>
          <a:noFill/>
        </p:spPr>
        <p:txBody>
          <a:bodyPr wrap="square">
            <a:spAutoFit/>
          </a:bodyPr>
          <a:lstStyle/>
          <a:p>
            <a:pPr algn="l"/>
            <a:r>
              <a:rPr sz="1200" b="1" i="0">
                <a:solidFill>
                  <a:srgbClr val="0D234A"/>
                </a:solidFill>
                <a:latin typeface="Calibri"/>
              </a:rPr>
              <a:t>Feature Engineering Code</a:t>
            </a:r>
          </a:p>
        </p:txBody>
      </p:sp>
      <p:sp>
        <p:nvSpPr>
          <p:cNvPr id="49" name="Rectangle 48"/>
          <p:cNvSpPr/>
          <p:nvPr/>
        </p:nvSpPr>
        <p:spPr>
          <a:xfrm>
            <a:off x="5989320" y="1847088"/>
            <a:ext cx="5760720" cy="3931920"/>
          </a:xfrm>
          <a:prstGeom prst="rect">
            <a:avLst/>
          </a:prstGeom>
          <a:solidFill>
            <a:srgbClr val="1E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26480" y="1938528"/>
            <a:ext cx="5486400" cy="3749039"/>
          </a:xfrm>
          <a:prstGeom prst="rect">
            <a:avLst/>
          </a:prstGeom>
          <a:noFill/>
        </p:spPr>
        <p:txBody>
          <a:bodyPr wrap="square">
            <a:spAutoFit/>
          </a:bodyPr>
          <a:lstStyle/>
          <a:p>
            <a:pPr algn="l"/>
            <a:r>
              <a:rPr sz="1000" b="0" i="0">
                <a:solidFill>
                  <a:srgbClr val="7EC8C8"/>
                </a:solidFill>
                <a:latin typeface="Courier New"/>
              </a:rPr>
              <a:t># Binary encoding
df['Attrition_Binary'] = (
    df['Attrition'] == 'Yes').astype(int)
df['Overtime_Binary'] = (
    df['Overtime'] == 'Yes').astype(int)
# Composite: Work Environment Score
df['Work_Env_Score'] = (
    df['Environment_Satisfaction']
    + df['Work_life_balance']
    - df['Overtime_Binary']
) / 3
# Composite: Motivation Score
df['Motivation_Score'] = (
    df['Job_Involvement']
    + df['Job_Satisfaction']
) / 2
# Developer subset
devs = df[df['Job_Role']=='Developer']
# n = 822 developers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978408" cy="2560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795528" cy="228600"/>
          </a:xfrm>
          <a:prstGeom prst="rect">
            <a:avLst/>
          </a:prstGeom>
          <a:noFill/>
        </p:spPr>
        <p:txBody>
          <a:bodyPr wrap="square">
            <a:spAutoFit/>
          </a:bodyPr>
          <a:lstStyle/>
          <a:p>
            <a:pPr algn="l"/>
            <a:r>
              <a:rPr sz="900" b="1" i="0">
                <a:solidFill>
                  <a:srgbClr val="FFFFFF"/>
                </a:solidFill>
                <a:latin typeface="Calibri"/>
              </a:rPr>
              <a:t>DATASET</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Data Quality &amp; Variable Distributions</a:t>
            </a:r>
          </a:p>
        </p:txBody>
      </p:sp>
      <p:sp>
        <p:nvSpPr>
          <p:cNvPr id="6" name="Rectangle 5"/>
          <p:cNvSpPr/>
          <p:nvPr/>
        </p:nvSpPr>
        <p:spPr>
          <a:xfrm>
            <a:off x="320040" y="1170432"/>
            <a:ext cx="1152144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417320"/>
            <a:ext cx="1920240" cy="502920"/>
          </a:xfrm>
          <a:prstGeom prst="rect">
            <a:avLst/>
          </a:prstGeom>
          <a:noFill/>
        </p:spPr>
        <p:txBody>
          <a:bodyPr wrap="square">
            <a:spAutoFit/>
          </a:bodyPr>
          <a:lstStyle/>
          <a:p>
            <a:pPr algn="ctr"/>
            <a:r>
              <a:rPr sz="2600" b="1" i="0">
                <a:solidFill>
                  <a:srgbClr val="F5A623"/>
                </a:solidFill>
                <a:latin typeface="Calibri"/>
              </a:rPr>
              <a:t>0</a:t>
            </a:r>
          </a:p>
        </p:txBody>
      </p:sp>
      <p:sp>
        <p:nvSpPr>
          <p:cNvPr id="9" name="TextBox 8"/>
          <p:cNvSpPr txBox="1"/>
          <p:nvPr/>
        </p:nvSpPr>
        <p:spPr>
          <a:xfrm>
            <a:off x="411479" y="1901952"/>
            <a:ext cx="1920240" cy="411480"/>
          </a:xfrm>
          <a:prstGeom prst="rect">
            <a:avLst/>
          </a:prstGeom>
          <a:noFill/>
        </p:spPr>
        <p:txBody>
          <a:bodyPr wrap="square">
            <a:spAutoFit/>
          </a:bodyPr>
          <a:lstStyle/>
          <a:p>
            <a:pPr algn="ctr"/>
            <a:r>
              <a:rPr sz="1100" b="0" i="0">
                <a:solidFill>
                  <a:srgbClr val="D0D7E3"/>
                </a:solidFill>
                <a:latin typeface="Calibri"/>
              </a:rPr>
              <a:t>Missing Values</a:t>
            </a:r>
          </a:p>
        </p:txBody>
      </p:sp>
      <p:sp>
        <p:nvSpPr>
          <p:cNvPr id="10" name="Rectangle 9"/>
          <p:cNvSpPr/>
          <p:nvPr/>
        </p:nvSpPr>
        <p:spPr>
          <a:xfrm>
            <a:off x="265176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0" y="1417320"/>
            <a:ext cx="1920240" cy="502920"/>
          </a:xfrm>
          <a:prstGeom prst="rect">
            <a:avLst/>
          </a:prstGeom>
          <a:noFill/>
        </p:spPr>
        <p:txBody>
          <a:bodyPr wrap="square">
            <a:spAutoFit/>
          </a:bodyPr>
          <a:lstStyle/>
          <a:p>
            <a:pPr algn="ctr"/>
            <a:r>
              <a:rPr sz="2600" b="1" i="0">
                <a:solidFill>
                  <a:srgbClr val="F5A623"/>
                </a:solidFill>
                <a:latin typeface="Calibri"/>
              </a:rPr>
              <a:t>10,000</a:t>
            </a:r>
          </a:p>
        </p:txBody>
      </p:sp>
      <p:sp>
        <p:nvSpPr>
          <p:cNvPr id="12" name="TextBox 11"/>
          <p:cNvSpPr txBox="1"/>
          <p:nvPr/>
        </p:nvSpPr>
        <p:spPr>
          <a:xfrm>
            <a:off x="2743200" y="1901952"/>
            <a:ext cx="1920240" cy="411480"/>
          </a:xfrm>
          <a:prstGeom prst="rect">
            <a:avLst/>
          </a:prstGeom>
          <a:noFill/>
        </p:spPr>
        <p:txBody>
          <a:bodyPr wrap="square">
            <a:spAutoFit/>
          </a:bodyPr>
          <a:lstStyle/>
          <a:p>
            <a:pPr algn="ctr"/>
            <a:r>
              <a:rPr sz="1100" b="0" i="0">
                <a:solidFill>
                  <a:srgbClr val="D0D7E3"/>
                </a:solidFill>
                <a:latin typeface="Calibri"/>
              </a:rPr>
              <a:t>Total Records</a:t>
            </a:r>
          </a:p>
        </p:txBody>
      </p:sp>
      <p:sp>
        <p:nvSpPr>
          <p:cNvPr id="13" name="Rectangle 12"/>
          <p:cNvSpPr/>
          <p:nvPr/>
        </p:nvSpPr>
        <p:spPr>
          <a:xfrm>
            <a:off x="498348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74920" y="1417320"/>
            <a:ext cx="1920240" cy="502920"/>
          </a:xfrm>
          <a:prstGeom prst="rect">
            <a:avLst/>
          </a:prstGeom>
          <a:noFill/>
        </p:spPr>
        <p:txBody>
          <a:bodyPr wrap="square">
            <a:spAutoFit/>
          </a:bodyPr>
          <a:lstStyle/>
          <a:p>
            <a:pPr algn="ctr"/>
            <a:r>
              <a:rPr sz="2600" b="1" i="0">
                <a:solidFill>
                  <a:srgbClr val="F5A623"/>
                </a:solidFill>
                <a:latin typeface="Calibri"/>
              </a:rPr>
              <a:t>822</a:t>
            </a:r>
          </a:p>
        </p:txBody>
      </p:sp>
      <p:sp>
        <p:nvSpPr>
          <p:cNvPr id="15" name="TextBox 14"/>
          <p:cNvSpPr txBox="1"/>
          <p:nvPr/>
        </p:nvSpPr>
        <p:spPr>
          <a:xfrm>
            <a:off x="5074920" y="1901952"/>
            <a:ext cx="1920240" cy="411480"/>
          </a:xfrm>
          <a:prstGeom prst="rect">
            <a:avLst/>
          </a:prstGeom>
          <a:noFill/>
        </p:spPr>
        <p:txBody>
          <a:bodyPr wrap="square">
            <a:spAutoFit/>
          </a:bodyPr>
          <a:lstStyle/>
          <a:p>
            <a:pPr algn="ctr"/>
            <a:r>
              <a:rPr sz="1100" b="0" i="0">
                <a:solidFill>
                  <a:srgbClr val="D0D7E3"/>
                </a:solidFill>
                <a:latin typeface="Calibri"/>
              </a:rPr>
              <a:t>Developer Records</a:t>
            </a:r>
          </a:p>
        </p:txBody>
      </p:sp>
      <p:sp>
        <p:nvSpPr>
          <p:cNvPr id="16" name="Rectangle 15"/>
          <p:cNvSpPr/>
          <p:nvPr/>
        </p:nvSpPr>
        <p:spPr>
          <a:xfrm>
            <a:off x="726948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60920" y="1417320"/>
            <a:ext cx="1920240" cy="502920"/>
          </a:xfrm>
          <a:prstGeom prst="rect">
            <a:avLst/>
          </a:prstGeom>
          <a:noFill/>
        </p:spPr>
        <p:txBody>
          <a:bodyPr wrap="square">
            <a:spAutoFit/>
          </a:bodyPr>
          <a:lstStyle/>
          <a:p>
            <a:pPr algn="ctr"/>
            <a:r>
              <a:rPr sz="2600" b="1" i="0">
                <a:solidFill>
                  <a:srgbClr val="F5A623"/>
                </a:solidFill>
                <a:latin typeface="Calibri"/>
              </a:rPr>
              <a:t>22.0%</a:t>
            </a:r>
          </a:p>
        </p:txBody>
      </p:sp>
      <p:sp>
        <p:nvSpPr>
          <p:cNvPr id="18" name="TextBox 17"/>
          <p:cNvSpPr txBox="1"/>
          <p:nvPr/>
        </p:nvSpPr>
        <p:spPr>
          <a:xfrm>
            <a:off x="7360920" y="1901952"/>
            <a:ext cx="1920240" cy="411480"/>
          </a:xfrm>
          <a:prstGeom prst="rect">
            <a:avLst/>
          </a:prstGeom>
          <a:noFill/>
        </p:spPr>
        <p:txBody>
          <a:bodyPr wrap="square">
            <a:spAutoFit/>
          </a:bodyPr>
          <a:lstStyle/>
          <a:p>
            <a:pPr algn="ctr"/>
            <a:r>
              <a:rPr sz="1100" b="0" i="0">
                <a:solidFill>
                  <a:srgbClr val="D0D7E3"/>
                </a:solidFill>
                <a:latin typeface="Calibri"/>
              </a:rPr>
              <a:t>Developer Attrition</a:t>
            </a:r>
          </a:p>
        </p:txBody>
      </p:sp>
      <p:sp>
        <p:nvSpPr>
          <p:cNvPr id="19" name="Rectangle 18"/>
          <p:cNvSpPr/>
          <p:nvPr/>
        </p:nvSpPr>
        <p:spPr>
          <a:xfrm>
            <a:off x="960120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92640" y="1417320"/>
            <a:ext cx="1920240" cy="502920"/>
          </a:xfrm>
          <a:prstGeom prst="rect">
            <a:avLst/>
          </a:prstGeom>
          <a:noFill/>
        </p:spPr>
        <p:txBody>
          <a:bodyPr wrap="square">
            <a:spAutoFit/>
          </a:bodyPr>
          <a:lstStyle/>
          <a:p>
            <a:pPr algn="ctr"/>
            <a:r>
              <a:rPr sz="2600" b="1" i="0">
                <a:solidFill>
                  <a:srgbClr val="F5A623"/>
                </a:solidFill>
                <a:latin typeface="Calibri"/>
              </a:rPr>
              <a:t>1–5</a:t>
            </a:r>
          </a:p>
        </p:txBody>
      </p:sp>
      <p:sp>
        <p:nvSpPr>
          <p:cNvPr id="21" name="TextBox 20"/>
          <p:cNvSpPr txBox="1"/>
          <p:nvPr/>
        </p:nvSpPr>
        <p:spPr>
          <a:xfrm>
            <a:off x="9692640" y="1901952"/>
            <a:ext cx="1920240" cy="411480"/>
          </a:xfrm>
          <a:prstGeom prst="rect">
            <a:avLst/>
          </a:prstGeom>
          <a:noFill/>
        </p:spPr>
        <p:txBody>
          <a:bodyPr wrap="square">
            <a:spAutoFit/>
          </a:bodyPr>
          <a:lstStyle/>
          <a:p>
            <a:pPr algn="ctr"/>
            <a:r>
              <a:rPr sz="1100" b="0" i="0">
                <a:solidFill>
                  <a:srgbClr val="D0D7E3"/>
                </a:solidFill>
                <a:latin typeface="Calibri"/>
              </a:rPr>
              <a:t>Score Range</a:t>
            </a:r>
          </a:p>
        </p:txBody>
      </p:sp>
      <p:pic>
        <p:nvPicPr>
          <p:cNvPr id="22" name="Picture 21" descr="fig2_distributions.png"/>
          <p:cNvPicPr>
            <a:picLocks noChangeAspect="1"/>
          </p:cNvPicPr>
          <p:nvPr/>
        </p:nvPicPr>
        <p:blipFill>
          <a:blip r:embed="rId3"/>
          <a:stretch>
            <a:fillRect/>
          </a:stretch>
        </p:blipFill>
        <p:spPr>
          <a:xfrm>
            <a:off x="320040" y="2560320"/>
            <a:ext cx="11521440" cy="3931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DESCRIPTIVE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Attrition Rate by Environment Satisfaction Level</a:t>
            </a:r>
          </a:p>
        </p:txBody>
      </p:sp>
      <p:sp>
        <p:nvSpPr>
          <p:cNvPr id="6" name="Rectangle 5"/>
          <p:cNvSpPr/>
          <p:nvPr/>
        </p:nvSpPr>
        <p:spPr>
          <a:xfrm>
            <a:off x="320040" y="1170432"/>
            <a:ext cx="11521440" cy="36576"/>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4_attrition_by_env.png"/>
          <p:cNvPicPr>
            <a:picLocks noChangeAspect="1"/>
          </p:cNvPicPr>
          <p:nvPr/>
        </p:nvPicPr>
        <p:blipFill>
          <a:blip r:embed="rId3"/>
          <a:stretch>
            <a:fillRect/>
          </a:stretch>
        </p:blipFill>
        <p:spPr>
          <a:xfrm>
            <a:off x="320040" y="1371600"/>
            <a:ext cx="8229600" cy="4663440"/>
          </a:xfrm>
          <a:prstGeom prst="rect">
            <a:avLst/>
          </a:prstGeom>
        </p:spPr>
      </p:pic>
      <p:sp>
        <p:nvSpPr>
          <p:cNvPr id="11" name="Rectangle 10"/>
          <p:cNvSpPr/>
          <p:nvPr/>
        </p:nvSpPr>
        <p:spPr>
          <a:xfrm>
            <a:off x="8778240" y="1371600"/>
            <a:ext cx="3063240" cy="4663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0" y="1508760"/>
            <a:ext cx="2743200" cy="320040"/>
          </a:xfrm>
          <a:prstGeom prst="rect">
            <a:avLst/>
          </a:prstGeom>
          <a:noFill/>
        </p:spPr>
        <p:txBody>
          <a:bodyPr wrap="square">
            <a:spAutoFit/>
          </a:bodyPr>
          <a:lstStyle/>
          <a:p>
            <a:pPr algn="l"/>
            <a:r>
              <a:rPr sz="1300" b="1" i="0">
                <a:solidFill>
                  <a:srgbClr val="F5A623"/>
                </a:solidFill>
                <a:latin typeface="Calibri"/>
              </a:rPr>
              <a:t>Key Numbers</a:t>
            </a:r>
          </a:p>
        </p:txBody>
      </p:sp>
      <p:sp>
        <p:nvSpPr>
          <p:cNvPr id="13" name="Rectangle 12"/>
          <p:cNvSpPr/>
          <p:nvPr/>
        </p:nvSpPr>
        <p:spPr>
          <a:xfrm>
            <a:off x="8915400" y="1965960"/>
            <a:ext cx="2743200" cy="5486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15400" y="1965960"/>
            <a:ext cx="54864" cy="54864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98280" y="2039112"/>
            <a:ext cx="1188720" cy="365760"/>
          </a:xfrm>
          <a:prstGeom prst="rect">
            <a:avLst/>
          </a:prstGeom>
          <a:noFill/>
        </p:spPr>
        <p:txBody>
          <a:bodyPr wrap="square">
            <a:spAutoFit/>
          </a:bodyPr>
          <a:lstStyle/>
          <a:p>
            <a:pPr algn="l"/>
            <a:r>
              <a:rPr sz="1200" b="0" i="0">
                <a:solidFill>
                  <a:srgbClr val="D0D7E3"/>
                </a:solidFill>
                <a:latin typeface="Calibri"/>
              </a:rPr>
              <a:t>Level 1</a:t>
            </a:r>
          </a:p>
        </p:txBody>
      </p:sp>
      <p:sp>
        <p:nvSpPr>
          <p:cNvPr id="16" name="TextBox 15"/>
          <p:cNvSpPr txBox="1"/>
          <p:nvPr/>
        </p:nvSpPr>
        <p:spPr>
          <a:xfrm>
            <a:off x="10241280" y="2039112"/>
            <a:ext cx="1280160" cy="365760"/>
          </a:xfrm>
          <a:prstGeom prst="rect">
            <a:avLst/>
          </a:prstGeom>
          <a:noFill/>
        </p:spPr>
        <p:txBody>
          <a:bodyPr wrap="square">
            <a:spAutoFit/>
          </a:bodyPr>
          <a:lstStyle/>
          <a:p>
            <a:pPr algn="l"/>
            <a:r>
              <a:rPr sz="1600" b="1" i="0">
                <a:solidFill>
                  <a:srgbClr val="E83A3A"/>
                </a:solidFill>
                <a:latin typeface="Calibri"/>
              </a:rPr>
              <a:t>27.1%</a:t>
            </a:r>
          </a:p>
        </p:txBody>
      </p:sp>
      <p:sp>
        <p:nvSpPr>
          <p:cNvPr id="17" name="Rectangle 16"/>
          <p:cNvSpPr/>
          <p:nvPr/>
        </p:nvSpPr>
        <p:spPr>
          <a:xfrm>
            <a:off x="8915400" y="2651760"/>
            <a:ext cx="2743200" cy="5486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915400" y="2651760"/>
            <a:ext cx="54864" cy="54864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98280" y="2724912"/>
            <a:ext cx="1188720" cy="365760"/>
          </a:xfrm>
          <a:prstGeom prst="rect">
            <a:avLst/>
          </a:prstGeom>
          <a:noFill/>
        </p:spPr>
        <p:txBody>
          <a:bodyPr wrap="square">
            <a:spAutoFit/>
          </a:bodyPr>
          <a:lstStyle/>
          <a:p>
            <a:pPr algn="l"/>
            <a:r>
              <a:rPr sz="1200" b="0" i="0">
                <a:solidFill>
                  <a:srgbClr val="D0D7E3"/>
                </a:solidFill>
                <a:latin typeface="Calibri"/>
              </a:rPr>
              <a:t>Level 2</a:t>
            </a:r>
          </a:p>
        </p:txBody>
      </p:sp>
      <p:sp>
        <p:nvSpPr>
          <p:cNvPr id="20" name="TextBox 19"/>
          <p:cNvSpPr txBox="1"/>
          <p:nvPr/>
        </p:nvSpPr>
        <p:spPr>
          <a:xfrm>
            <a:off x="10241280" y="2724912"/>
            <a:ext cx="1280160" cy="365760"/>
          </a:xfrm>
          <a:prstGeom prst="rect">
            <a:avLst/>
          </a:prstGeom>
          <a:noFill/>
        </p:spPr>
        <p:txBody>
          <a:bodyPr wrap="square">
            <a:spAutoFit/>
          </a:bodyPr>
          <a:lstStyle/>
          <a:p>
            <a:pPr algn="l"/>
            <a:r>
              <a:rPr sz="1600" b="1" i="0">
                <a:solidFill>
                  <a:srgbClr val="E83A3A"/>
                </a:solidFill>
                <a:latin typeface="Calibri"/>
              </a:rPr>
              <a:t>30.6%</a:t>
            </a:r>
          </a:p>
        </p:txBody>
      </p:sp>
      <p:sp>
        <p:nvSpPr>
          <p:cNvPr id="21" name="Rectangle 20"/>
          <p:cNvSpPr/>
          <p:nvPr/>
        </p:nvSpPr>
        <p:spPr>
          <a:xfrm>
            <a:off x="8915400" y="3337560"/>
            <a:ext cx="2743200" cy="5486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15400" y="3337560"/>
            <a:ext cx="54864" cy="548640"/>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3410712"/>
            <a:ext cx="1188720" cy="365760"/>
          </a:xfrm>
          <a:prstGeom prst="rect">
            <a:avLst/>
          </a:prstGeom>
          <a:noFill/>
        </p:spPr>
        <p:txBody>
          <a:bodyPr wrap="square">
            <a:spAutoFit/>
          </a:bodyPr>
          <a:lstStyle/>
          <a:p>
            <a:pPr algn="l"/>
            <a:r>
              <a:rPr sz="1200" b="0" i="0">
                <a:solidFill>
                  <a:srgbClr val="D0D7E3"/>
                </a:solidFill>
                <a:latin typeface="Calibri"/>
              </a:rPr>
              <a:t>Level 3</a:t>
            </a:r>
          </a:p>
        </p:txBody>
      </p:sp>
      <p:sp>
        <p:nvSpPr>
          <p:cNvPr id="24" name="TextBox 23"/>
          <p:cNvSpPr txBox="1"/>
          <p:nvPr/>
        </p:nvSpPr>
        <p:spPr>
          <a:xfrm>
            <a:off x="10241280" y="3410712"/>
            <a:ext cx="1280160" cy="365760"/>
          </a:xfrm>
          <a:prstGeom prst="rect">
            <a:avLst/>
          </a:prstGeom>
          <a:noFill/>
        </p:spPr>
        <p:txBody>
          <a:bodyPr wrap="square">
            <a:spAutoFit/>
          </a:bodyPr>
          <a:lstStyle/>
          <a:p>
            <a:pPr algn="l"/>
            <a:r>
              <a:rPr sz="1600" b="1" i="0">
                <a:solidFill>
                  <a:srgbClr val="E88A00"/>
                </a:solidFill>
                <a:latin typeface="Calibri"/>
              </a:rPr>
              <a:t>24.3%</a:t>
            </a:r>
          </a:p>
        </p:txBody>
      </p:sp>
      <p:sp>
        <p:nvSpPr>
          <p:cNvPr id="25" name="Rectangle 24"/>
          <p:cNvSpPr/>
          <p:nvPr/>
        </p:nvSpPr>
        <p:spPr>
          <a:xfrm>
            <a:off x="8915400" y="4023360"/>
            <a:ext cx="2743200" cy="5486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915400" y="4023360"/>
            <a:ext cx="54864" cy="54864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98280" y="4096512"/>
            <a:ext cx="1188720" cy="365760"/>
          </a:xfrm>
          <a:prstGeom prst="rect">
            <a:avLst/>
          </a:prstGeom>
          <a:noFill/>
        </p:spPr>
        <p:txBody>
          <a:bodyPr wrap="square">
            <a:spAutoFit/>
          </a:bodyPr>
          <a:lstStyle/>
          <a:p>
            <a:pPr algn="l"/>
            <a:r>
              <a:rPr sz="1200" b="0" i="0">
                <a:solidFill>
                  <a:srgbClr val="D0D7E3"/>
                </a:solidFill>
                <a:latin typeface="Calibri"/>
              </a:rPr>
              <a:t>Level 4</a:t>
            </a:r>
          </a:p>
        </p:txBody>
      </p:sp>
      <p:sp>
        <p:nvSpPr>
          <p:cNvPr id="28" name="TextBox 27"/>
          <p:cNvSpPr txBox="1"/>
          <p:nvPr/>
        </p:nvSpPr>
        <p:spPr>
          <a:xfrm>
            <a:off x="10241280" y="4096512"/>
            <a:ext cx="1280160" cy="365760"/>
          </a:xfrm>
          <a:prstGeom prst="rect">
            <a:avLst/>
          </a:prstGeom>
          <a:noFill/>
        </p:spPr>
        <p:txBody>
          <a:bodyPr wrap="square">
            <a:spAutoFit/>
          </a:bodyPr>
          <a:lstStyle/>
          <a:p>
            <a:pPr algn="l"/>
            <a:r>
              <a:rPr sz="1600" b="1" i="0">
                <a:solidFill>
                  <a:srgbClr val="2EA86B"/>
                </a:solidFill>
                <a:latin typeface="Calibri"/>
              </a:rPr>
              <a:t>12.7%</a:t>
            </a:r>
          </a:p>
        </p:txBody>
      </p:sp>
      <p:sp>
        <p:nvSpPr>
          <p:cNvPr id="29" name="Rectangle 28"/>
          <p:cNvSpPr/>
          <p:nvPr/>
        </p:nvSpPr>
        <p:spPr>
          <a:xfrm>
            <a:off x="8915400" y="4709160"/>
            <a:ext cx="2743200" cy="5486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915400" y="4709160"/>
            <a:ext cx="54864" cy="54864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98280" y="4782312"/>
            <a:ext cx="1188720" cy="365760"/>
          </a:xfrm>
          <a:prstGeom prst="rect">
            <a:avLst/>
          </a:prstGeom>
          <a:noFill/>
        </p:spPr>
        <p:txBody>
          <a:bodyPr wrap="square">
            <a:spAutoFit/>
          </a:bodyPr>
          <a:lstStyle/>
          <a:p>
            <a:pPr algn="l"/>
            <a:r>
              <a:rPr sz="1200" b="0" i="0">
                <a:solidFill>
                  <a:srgbClr val="D0D7E3"/>
                </a:solidFill>
                <a:latin typeface="Calibri"/>
              </a:rPr>
              <a:t>Level 5</a:t>
            </a:r>
          </a:p>
        </p:txBody>
      </p:sp>
      <p:sp>
        <p:nvSpPr>
          <p:cNvPr id="32" name="TextBox 31"/>
          <p:cNvSpPr txBox="1"/>
          <p:nvPr/>
        </p:nvSpPr>
        <p:spPr>
          <a:xfrm>
            <a:off x="10241280" y="4782312"/>
            <a:ext cx="1280160" cy="365760"/>
          </a:xfrm>
          <a:prstGeom prst="rect">
            <a:avLst/>
          </a:prstGeom>
          <a:noFill/>
        </p:spPr>
        <p:txBody>
          <a:bodyPr wrap="square">
            <a:spAutoFit/>
          </a:bodyPr>
          <a:lstStyle/>
          <a:p>
            <a:pPr algn="l"/>
            <a:r>
              <a:rPr sz="1600" b="1" i="0">
                <a:solidFill>
                  <a:srgbClr val="2EA86B"/>
                </a:solidFill>
                <a:latin typeface="Calibri"/>
              </a:rPr>
              <a:t>15.8%</a:t>
            </a:r>
          </a:p>
        </p:txBody>
      </p:sp>
      <p:sp>
        <p:nvSpPr>
          <p:cNvPr id="33" name="Rectangle 32"/>
          <p:cNvSpPr/>
          <p:nvPr/>
        </p:nvSpPr>
        <p:spPr>
          <a:xfrm>
            <a:off x="8915400" y="5440680"/>
            <a:ext cx="2743200" cy="457200"/>
          </a:xfrm>
          <a:prstGeom prst="rect">
            <a:avLst/>
          </a:prstGeom>
          <a:solidFill>
            <a:srgbClr val="0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06840" y="5440680"/>
            <a:ext cx="2560320" cy="457200"/>
          </a:xfrm>
          <a:prstGeom prst="rect">
            <a:avLst/>
          </a:prstGeom>
          <a:noFill/>
        </p:spPr>
        <p:txBody>
          <a:bodyPr wrap="square">
            <a:spAutoFit/>
          </a:bodyPr>
          <a:lstStyle/>
          <a:p>
            <a:pPr algn="l"/>
            <a:r>
              <a:rPr sz="1100" b="1" i="0">
                <a:solidFill>
                  <a:srgbClr val="F5A623"/>
                </a:solidFill>
                <a:latin typeface="Calibri"/>
              </a:rPr>
              <a:t>⚡ 2× higher attrition
in poor environments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DESCRIPTIVE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Motivation Score Across Environment Satisfaction Levels</a:t>
            </a:r>
          </a:p>
        </p:txBody>
      </p:sp>
      <p:sp>
        <p:nvSpPr>
          <p:cNvPr id="6" name="Rectangle 5"/>
          <p:cNvSpPr/>
          <p:nvPr/>
        </p:nvSpPr>
        <p:spPr>
          <a:xfrm>
            <a:off x="320040" y="1170432"/>
            <a:ext cx="11521440" cy="36576"/>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3_motivation_by_env.png"/>
          <p:cNvPicPr>
            <a:picLocks noChangeAspect="1"/>
          </p:cNvPicPr>
          <p:nvPr/>
        </p:nvPicPr>
        <p:blipFill>
          <a:blip r:embed="rId3"/>
          <a:stretch>
            <a:fillRect/>
          </a:stretch>
        </p:blipFill>
        <p:spPr>
          <a:xfrm>
            <a:off x="320040" y="1371600"/>
            <a:ext cx="8229600" cy="4663440"/>
          </a:xfrm>
          <a:prstGeom prst="rect">
            <a:avLst/>
          </a:prstGeom>
        </p:spPr>
      </p:pic>
      <p:sp>
        <p:nvSpPr>
          <p:cNvPr id="11" name="Rectangle 10"/>
          <p:cNvSpPr/>
          <p:nvPr/>
        </p:nvSpPr>
        <p:spPr>
          <a:xfrm>
            <a:off x="8778240" y="1371600"/>
            <a:ext cx="3063240" cy="4663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0" y="1508760"/>
            <a:ext cx="2743200" cy="320040"/>
          </a:xfrm>
          <a:prstGeom prst="rect">
            <a:avLst/>
          </a:prstGeom>
          <a:noFill/>
        </p:spPr>
        <p:txBody>
          <a:bodyPr wrap="square">
            <a:spAutoFit/>
          </a:bodyPr>
          <a:lstStyle/>
          <a:p>
            <a:pPr algn="l"/>
            <a:r>
              <a:rPr sz="1300" b="1" i="0">
                <a:solidFill>
                  <a:srgbClr val="F5A623"/>
                </a:solidFill>
                <a:latin typeface="Calibri"/>
              </a:rPr>
              <a:t>Trend Analysis</a:t>
            </a:r>
          </a:p>
        </p:txBody>
      </p:sp>
      <p:sp>
        <p:nvSpPr>
          <p:cNvPr id="13" name="Rectangle 12"/>
          <p:cNvSpPr/>
          <p:nvPr/>
        </p:nvSpPr>
        <p:spPr>
          <a:xfrm>
            <a:off x="8915400" y="1965960"/>
            <a:ext cx="2743200" cy="530352"/>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34272" y="2039112"/>
            <a:ext cx="1188720" cy="347472"/>
          </a:xfrm>
          <a:prstGeom prst="rect">
            <a:avLst/>
          </a:prstGeom>
          <a:noFill/>
        </p:spPr>
        <p:txBody>
          <a:bodyPr wrap="square">
            <a:spAutoFit/>
          </a:bodyPr>
          <a:lstStyle/>
          <a:p>
            <a:pPr algn="l"/>
            <a:r>
              <a:rPr sz="1200" b="0" i="0">
                <a:solidFill>
                  <a:srgbClr val="D0D7E3"/>
                </a:solidFill>
                <a:latin typeface="Calibri"/>
              </a:rPr>
              <a:t>Level 1</a:t>
            </a:r>
          </a:p>
        </p:txBody>
      </p:sp>
      <p:sp>
        <p:nvSpPr>
          <p:cNvPr id="15" name="TextBox 14"/>
          <p:cNvSpPr txBox="1"/>
          <p:nvPr/>
        </p:nvSpPr>
        <p:spPr>
          <a:xfrm>
            <a:off x="10287000" y="2011679"/>
            <a:ext cx="1234440" cy="411480"/>
          </a:xfrm>
          <a:prstGeom prst="rect">
            <a:avLst/>
          </a:prstGeom>
          <a:noFill/>
        </p:spPr>
        <p:txBody>
          <a:bodyPr wrap="square">
            <a:spAutoFit/>
          </a:bodyPr>
          <a:lstStyle/>
          <a:p>
            <a:pPr algn="l"/>
            <a:r>
              <a:rPr sz="1800" b="0" i="0">
                <a:solidFill>
                  <a:srgbClr val="D0D7E3"/>
                </a:solidFill>
                <a:latin typeface="Calibri"/>
              </a:rPr>
              <a:t>2.950</a:t>
            </a:r>
          </a:p>
        </p:txBody>
      </p:sp>
      <p:sp>
        <p:nvSpPr>
          <p:cNvPr id="16" name="Rectangle 15"/>
          <p:cNvSpPr/>
          <p:nvPr/>
        </p:nvSpPr>
        <p:spPr>
          <a:xfrm>
            <a:off x="8915400" y="2624328"/>
            <a:ext cx="2743200" cy="530352"/>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34272" y="2697480"/>
            <a:ext cx="1188720" cy="347472"/>
          </a:xfrm>
          <a:prstGeom prst="rect">
            <a:avLst/>
          </a:prstGeom>
          <a:noFill/>
        </p:spPr>
        <p:txBody>
          <a:bodyPr wrap="square">
            <a:spAutoFit/>
          </a:bodyPr>
          <a:lstStyle/>
          <a:p>
            <a:pPr algn="l"/>
            <a:r>
              <a:rPr sz="1200" b="0" i="0">
                <a:solidFill>
                  <a:srgbClr val="D0D7E3"/>
                </a:solidFill>
                <a:latin typeface="Calibri"/>
              </a:rPr>
              <a:t>Level 2</a:t>
            </a:r>
          </a:p>
        </p:txBody>
      </p:sp>
      <p:sp>
        <p:nvSpPr>
          <p:cNvPr id="18" name="TextBox 17"/>
          <p:cNvSpPr txBox="1"/>
          <p:nvPr/>
        </p:nvSpPr>
        <p:spPr>
          <a:xfrm>
            <a:off x="10287000" y="2670048"/>
            <a:ext cx="1234440" cy="411480"/>
          </a:xfrm>
          <a:prstGeom prst="rect">
            <a:avLst/>
          </a:prstGeom>
          <a:noFill/>
        </p:spPr>
        <p:txBody>
          <a:bodyPr wrap="square">
            <a:spAutoFit/>
          </a:bodyPr>
          <a:lstStyle/>
          <a:p>
            <a:pPr algn="l"/>
            <a:r>
              <a:rPr sz="1800" b="0" i="0">
                <a:solidFill>
                  <a:srgbClr val="D0D7E3"/>
                </a:solidFill>
                <a:latin typeface="Calibri"/>
              </a:rPr>
              <a:t>3.029</a:t>
            </a:r>
          </a:p>
        </p:txBody>
      </p:sp>
      <p:sp>
        <p:nvSpPr>
          <p:cNvPr id="19" name="Rectangle 18"/>
          <p:cNvSpPr/>
          <p:nvPr/>
        </p:nvSpPr>
        <p:spPr>
          <a:xfrm>
            <a:off x="8915400" y="3282696"/>
            <a:ext cx="2743200" cy="530352"/>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34272" y="3355848"/>
            <a:ext cx="1188720" cy="347472"/>
          </a:xfrm>
          <a:prstGeom prst="rect">
            <a:avLst/>
          </a:prstGeom>
          <a:noFill/>
        </p:spPr>
        <p:txBody>
          <a:bodyPr wrap="square">
            <a:spAutoFit/>
          </a:bodyPr>
          <a:lstStyle/>
          <a:p>
            <a:pPr algn="l"/>
            <a:r>
              <a:rPr sz="1200" b="0" i="0">
                <a:solidFill>
                  <a:srgbClr val="D0D7E3"/>
                </a:solidFill>
                <a:latin typeface="Calibri"/>
              </a:rPr>
              <a:t>Level 3</a:t>
            </a:r>
          </a:p>
        </p:txBody>
      </p:sp>
      <p:sp>
        <p:nvSpPr>
          <p:cNvPr id="21" name="TextBox 20"/>
          <p:cNvSpPr txBox="1"/>
          <p:nvPr/>
        </p:nvSpPr>
        <p:spPr>
          <a:xfrm>
            <a:off x="10287000" y="3328415"/>
            <a:ext cx="1234440" cy="411480"/>
          </a:xfrm>
          <a:prstGeom prst="rect">
            <a:avLst/>
          </a:prstGeom>
          <a:noFill/>
        </p:spPr>
        <p:txBody>
          <a:bodyPr wrap="square">
            <a:spAutoFit/>
          </a:bodyPr>
          <a:lstStyle/>
          <a:p>
            <a:pPr algn="l"/>
            <a:r>
              <a:rPr sz="1800" b="1" i="0">
                <a:solidFill>
                  <a:srgbClr val="F5A623"/>
                </a:solidFill>
                <a:latin typeface="Calibri"/>
              </a:rPr>
              <a:t>3.132</a:t>
            </a:r>
          </a:p>
        </p:txBody>
      </p:sp>
      <p:sp>
        <p:nvSpPr>
          <p:cNvPr id="22" name="Rectangle 21"/>
          <p:cNvSpPr/>
          <p:nvPr/>
        </p:nvSpPr>
        <p:spPr>
          <a:xfrm>
            <a:off x="8915400" y="3941064"/>
            <a:ext cx="2743200" cy="530352"/>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34272" y="4014216"/>
            <a:ext cx="1188720" cy="347472"/>
          </a:xfrm>
          <a:prstGeom prst="rect">
            <a:avLst/>
          </a:prstGeom>
          <a:noFill/>
        </p:spPr>
        <p:txBody>
          <a:bodyPr wrap="square">
            <a:spAutoFit/>
          </a:bodyPr>
          <a:lstStyle/>
          <a:p>
            <a:pPr algn="l"/>
            <a:r>
              <a:rPr sz="1200" b="0" i="0">
                <a:solidFill>
                  <a:srgbClr val="D0D7E3"/>
                </a:solidFill>
                <a:latin typeface="Calibri"/>
              </a:rPr>
              <a:t>Level 4</a:t>
            </a:r>
          </a:p>
        </p:txBody>
      </p:sp>
      <p:sp>
        <p:nvSpPr>
          <p:cNvPr id="24" name="TextBox 23"/>
          <p:cNvSpPr txBox="1"/>
          <p:nvPr/>
        </p:nvSpPr>
        <p:spPr>
          <a:xfrm>
            <a:off x="10287000" y="3986784"/>
            <a:ext cx="1234440" cy="411480"/>
          </a:xfrm>
          <a:prstGeom prst="rect">
            <a:avLst/>
          </a:prstGeom>
          <a:noFill/>
        </p:spPr>
        <p:txBody>
          <a:bodyPr wrap="square">
            <a:spAutoFit/>
          </a:bodyPr>
          <a:lstStyle/>
          <a:p>
            <a:pPr algn="l"/>
            <a:r>
              <a:rPr sz="1800" b="0" i="0">
                <a:solidFill>
                  <a:srgbClr val="D0D7E3"/>
                </a:solidFill>
                <a:latin typeface="Calibri"/>
              </a:rPr>
              <a:t>2.962</a:t>
            </a:r>
          </a:p>
        </p:txBody>
      </p:sp>
      <p:sp>
        <p:nvSpPr>
          <p:cNvPr id="25" name="Rectangle 24"/>
          <p:cNvSpPr/>
          <p:nvPr/>
        </p:nvSpPr>
        <p:spPr>
          <a:xfrm>
            <a:off x="8915400" y="4599431"/>
            <a:ext cx="2743200" cy="530352"/>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34272" y="4672583"/>
            <a:ext cx="1188720" cy="347472"/>
          </a:xfrm>
          <a:prstGeom prst="rect">
            <a:avLst/>
          </a:prstGeom>
          <a:noFill/>
        </p:spPr>
        <p:txBody>
          <a:bodyPr wrap="square">
            <a:spAutoFit/>
          </a:bodyPr>
          <a:lstStyle/>
          <a:p>
            <a:pPr algn="l"/>
            <a:r>
              <a:rPr sz="1200" b="0" i="0">
                <a:solidFill>
                  <a:srgbClr val="D0D7E3"/>
                </a:solidFill>
                <a:latin typeface="Calibri"/>
              </a:rPr>
              <a:t>Level 5</a:t>
            </a:r>
          </a:p>
        </p:txBody>
      </p:sp>
      <p:sp>
        <p:nvSpPr>
          <p:cNvPr id="27" name="TextBox 26"/>
          <p:cNvSpPr txBox="1"/>
          <p:nvPr/>
        </p:nvSpPr>
        <p:spPr>
          <a:xfrm>
            <a:off x="10287000" y="4645151"/>
            <a:ext cx="1234440" cy="411480"/>
          </a:xfrm>
          <a:prstGeom prst="rect">
            <a:avLst/>
          </a:prstGeom>
          <a:noFill/>
        </p:spPr>
        <p:txBody>
          <a:bodyPr wrap="square">
            <a:spAutoFit/>
          </a:bodyPr>
          <a:lstStyle/>
          <a:p>
            <a:pPr algn="l"/>
            <a:r>
              <a:rPr sz="1800" b="0" i="0">
                <a:solidFill>
                  <a:srgbClr val="D0D7E3"/>
                </a:solidFill>
                <a:latin typeface="Calibri"/>
              </a:rPr>
              <a:t>2.976</a:t>
            </a:r>
          </a:p>
        </p:txBody>
      </p:sp>
      <p:sp>
        <p:nvSpPr>
          <p:cNvPr id="28" name="Rectangle 27"/>
          <p:cNvSpPr/>
          <p:nvPr/>
        </p:nvSpPr>
        <p:spPr>
          <a:xfrm>
            <a:off x="8915400" y="5230368"/>
            <a:ext cx="2743200" cy="658368"/>
          </a:xfrm>
          <a:prstGeom prst="rect">
            <a:avLst/>
          </a:prstGeom>
          <a:solidFill>
            <a:srgbClr val="0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06840" y="5230368"/>
            <a:ext cx="2560320" cy="640080"/>
          </a:xfrm>
          <a:prstGeom prst="rect">
            <a:avLst/>
          </a:prstGeom>
          <a:noFill/>
        </p:spPr>
        <p:txBody>
          <a:bodyPr wrap="square">
            <a:spAutoFit/>
          </a:bodyPr>
          <a:lstStyle/>
          <a:p>
            <a:pPr algn="l"/>
            <a:r>
              <a:rPr sz="1000" b="0" i="0">
                <a:solidFill>
                  <a:srgbClr val="D0D7E3"/>
                </a:solidFill>
                <a:latin typeface="Calibri"/>
              </a:rPr>
              <a:t>📈 Motivation improves
up to Level 3 then
plateaus — diminishing
returns beyond mid-range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DESCRIPTIVE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Overtime Impact on Developer Motivation &amp; Attrition</a:t>
            </a:r>
          </a:p>
        </p:txBody>
      </p:sp>
      <p:sp>
        <p:nvSpPr>
          <p:cNvPr id="6" name="Rectangle 5"/>
          <p:cNvSpPr/>
          <p:nvPr/>
        </p:nvSpPr>
        <p:spPr>
          <a:xfrm>
            <a:off x="320040" y="1170432"/>
            <a:ext cx="11521440" cy="36576"/>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5_overtime_impact.png"/>
          <p:cNvPicPr>
            <a:picLocks noChangeAspect="1"/>
          </p:cNvPicPr>
          <p:nvPr/>
        </p:nvPicPr>
        <p:blipFill>
          <a:blip r:embed="rId3"/>
          <a:stretch>
            <a:fillRect/>
          </a:stretch>
        </p:blipFill>
        <p:spPr>
          <a:xfrm>
            <a:off x="320040" y="1371600"/>
            <a:ext cx="8686800" cy="4572000"/>
          </a:xfrm>
          <a:prstGeom prst="rect">
            <a:avLst/>
          </a:prstGeom>
        </p:spPr>
      </p:pic>
      <p:sp>
        <p:nvSpPr>
          <p:cNvPr id="11" name="Rectangle 10"/>
          <p:cNvSpPr/>
          <p:nvPr/>
        </p:nvSpPr>
        <p:spPr>
          <a:xfrm>
            <a:off x="9235440" y="1371600"/>
            <a:ext cx="2606040" cy="457200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45168" y="1508760"/>
            <a:ext cx="2395728" cy="457200"/>
          </a:xfrm>
          <a:prstGeom prst="rect">
            <a:avLst/>
          </a:prstGeom>
          <a:noFill/>
        </p:spPr>
        <p:txBody>
          <a:bodyPr wrap="square">
            <a:spAutoFit/>
          </a:bodyPr>
          <a:lstStyle/>
          <a:p>
            <a:pPr algn="l"/>
            <a:r>
              <a:rPr sz="1200" b="1" i="0">
                <a:solidFill>
                  <a:srgbClr val="F5A623"/>
                </a:solidFill>
                <a:latin typeface="Calibri"/>
              </a:rPr>
              <a:t>The Overtime Paradox</a:t>
            </a:r>
          </a:p>
        </p:txBody>
      </p:sp>
      <p:sp>
        <p:nvSpPr>
          <p:cNvPr id="13" name="TextBox 12"/>
          <p:cNvSpPr txBox="1"/>
          <p:nvPr/>
        </p:nvSpPr>
        <p:spPr>
          <a:xfrm>
            <a:off x="9345168" y="2057400"/>
            <a:ext cx="2286000" cy="320040"/>
          </a:xfrm>
          <a:prstGeom prst="rect">
            <a:avLst/>
          </a:prstGeom>
          <a:noFill/>
        </p:spPr>
        <p:txBody>
          <a:bodyPr wrap="square">
            <a:spAutoFit/>
          </a:bodyPr>
          <a:lstStyle/>
          <a:p>
            <a:pPr algn="l"/>
            <a:r>
              <a:rPr sz="1050" b="0" i="0">
                <a:solidFill>
                  <a:srgbClr val="D0D7E3"/>
                </a:solidFill>
                <a:latin typeface="Calibri"/>
              </a:rPr>
              <a:t>Motivation without OT:</a:t>
            </a:r>
          </a:p>
        </p:txBody>
      </p:sp>
      <p:sp>
        <p:nvSpPr>
          <p:cNvPr id="14" name="TextBox 13"/>
          <p:cNvSpPr txBox="1"/>
          <p:nvPr/>
        </p:nvSpPr>
        <p:spPr>
          <a:xfrm>
            <a:off x="9345168" y="2350008"/>
            <a:ext cx="2286000" cy="347472"/>
          </a:xfrm>
          <a:prstGeom prst="rect">
            <a:avLst/>
          </a:prstGeom>
          <a:noFill/>
        </p:spPr>
        <p:txBody>
          <a:bodyPr wrap="square">
            <a:spAutoFit/>
          </a:bodyPr>
          <a:lstStyle/>
          <a:p>
            <a:pPr algn="r"/>
            <a:r>
              <a:rPr sz="1600" b="1" i="0">
                <a:solidFill>
                  <a:srgbClr val="F5A623"/>
                </a:solidFill>
                <a:latin typeface="Calibri"/>
              </a:rPr>
              <a:t>3.007</a:t>
            </a:r>
          </a:p>
        </p:txBody>
      </p:sp>
      <p:sp>
        <p:nvSpPr>
          <p:cNvPr id="15" name="TextBox 14"/>
          <p:cNvSpPr txBox="1"/>
          <p:nvPr/>
        </p:nvSpPr>
        <p:spPr>
          <a:xfrm>
            <a:off x="9345168" y="2715768"/>
            <a:ext cx="2286000" cy="320040"/>
          </a:xfrm>
          <a:prstGeom prst="rect">
            <a:avLst/>
          </a:prstGeom>
          <a:noFill/>
        </p:spPr>
        <p:txBody>
          <a:bodyPr wrap="square">
            <a:spAutoFit/>
          </a:bodyPr>
          <a:lstStyle/>
          <a:p>
            <a:pPr algn="l"/>
            <a:r>
              <a:rPr sz="1050" b="0" i="0">
                <a:solidFill>
                  <a:srgbClr val="D0D7E3"/>
                </a:solidFill>
                <a:latin typeface="Calibri"/>
              </a:rPr>
              <a:t>Motivation with OT:</a:t>
            </a:r>
          </a:p>
        </p:txBody>
      </p:sp>
      <p:sp>
        <p:nvSpPr>
          <p:cNvPr id="16" name="TextBox 15"/>
          <p:cNvSpPr txBox="1"/>
          <p:nvPr/>
        </p:nvSpPr>
        <p:spPr>
          <a:xfrm>
            <a:off x="9345168" y="3008375"/>
            <a:ext cx="2286000" cy="347472"/>
          </a:xfrm>
          <a:prstGeom prst="rect">
            <a:avLst/>
          </a:prstGeom>
          <a:noFill/>
        </p:spPr>
        <p:txBody>
          <a:bodyPr wrap="square">
            <a:spAutoFit/>
          </a:bodyPr>
          <a:lstStyle/>
          <a:p>
            <a:pPr algn="r"/>
            <a:r>
              <a:rPr sz="1600" b="1" i="0">
                <a:solidFill>
                  <a:srgbClr val="F5A623"/>
                </a:solidFill>
                <a:latin typeface="Calibri"/>
              </a:rPr>
              <a:t>3.004</a:t>
            </a:r>
          </a:p>
        </p:txBody>
      </p:sp>
      <p:sp>
        <p:nvSpPr>
          <p:cNvPr id="17" name="TextBox 16"/>
          <p:cNvSpPr txBox="1"/>
          <p:nvPr/>
        </p:nvSpPr>
        <p:spPr>
          <a:xfrm>
            <a:off x="9345168" y="3374136"/>
            <a:ext cx="2286000" cy="320040"/>
          </a:xfrm>
          <a:prstGeom prst="rect">
            <a:avLst/>
          </a:prstGeom>
          <a:noFill/>
        </p:spPr>
        <p:txBody>
          <a:bodyPr wrap="square">
            <a:spAutoFit/>
          </a:bodyPr>
          <a:lstStyle/>
          <a:p>
            <a:pPr algn="l"/>
            <a:r>
              <a:rPr sz="1050" b="0" i="0">
                <a:solidFill>
                  <a:srgbClr val="D0D7E3"/>
                </a:solidFill>
                <a:latin typeface="Calibri"/>
              </a:rPr>
              <a:t>Difference:</a:t>
            </a:r>
          </a:p>
        </p:txBody>
      </p:sp>
      <p:sp>
        <p:nvSpPr>
          <p:cNvPr id="18" name="TextBox 17"/>
          <p:cNvSpPr txBox="1"/>
          <p:nvPr/>
        </p:nvSpPr>
        <p:spPr>
          <a:xfrm>
            <a:off x="9345168" y="3666744"/>
            <a:ext cx="2286000" cy="347472"/>
          </a:xfrm>
          <a:prstGeom prst="rect">
            <a:avLst/>
          </a:prstGeom>
          <a:noFill/>
        </p:spPr>
        <p:txBody>
          <a:bodyPr wrap="square">
            <a:spAutoFit/>
          </a:bodyPr>
          <a:lstStyle/>
          <a:p>
            <a:pPr algn="r"/>
            <a:r>
              <a:rPr sz="1600" b="1" i="0">
                <a:solidFill>
                  <a:srgbClr val="F5A623"/>
                </a:solidFill>
                <a:latin typeface="Calibri"/>
              </a:rPr>
              <a:t>≈ 0</a:t>
            </a:r>
          </a:p>
        </p:txBody>
      </p:sp>
      <p:sp>
        <p:nvSpPr>
          <p:cNvPr id="19" name="Rectangle 18"/>
          <p:cNvSpPr/>
          <p:nvPr/>
        </p:nvSpPr>
        <p:spPr>
          <a:xfrm>
            <a:off x="9345168" y="4069080"/>
            <a:ext cx="2331720" cy="1691640"/>
          </a:xfrm>
          <a:prstGeom prst="rect">
            <a:avLst/>
          </a:prstGeom>
          <a:solidFill>
            <a:srgbClr val="3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0" y="4114800"/>
            <a:ext cx="2194560" cy="1600200"/>
          </a:xfrm>
          <a:prstGeom prst="rect">
            <a:avLst/>
          </a:prstGeom>
          <a:noFill/>
        </p:spPr>
        <p:txBody>
          <a:bodyPr wrap="square">
            <a:spAutoFit/>
          </a:bodyPr>
          <a:lstStyle/>
          <a:p>
            <a:pPr algn="l"/>
            <a:r>
              <a:rPr sz="1000" b="0" i="0">
                <a:solidFill>
                  <a:srgbClr val="FFC0A0"/>
                </a:solidFill>
                <a:latin typeface="Calibri"/>
              </a:rPr>
              <a:t>⚠️ Overtime does NOT
hurt self-reported
motivation scores...
BUT it significantly
increases attrition —
behavioural disengagement!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DESCRIPTIVE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Correlation Matrix — Key Variable Relationships</a:t>
            </a:r>
          </a:p>
        </p:txBody>
      </p:sp>
      <p:sp>
        <p:nvSpPr>
          <p:cNvPr id="6" name="Rectangle 5"/>
          <p:cNvSpPr/>
          <p:nvPr/>
        </p:nvSpPr>
        <p:spPr>
          <a:xfrm>
            <a:off x="320040" y="1170432"/>
            <a:ext cx="11521440" cy="36576"/>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6_correlation_heatmap.png"/>
          <p:cNvPicPr>
            <a:picLocks noChangeAspect="1"/>
          </p:cNvPicPr>
          <p:nvPr/>
        </p:nvPicPr>
        <p:blipFill>
          <a:blip r:embed="rId3"/>
          <a:stretch>
            <a:fillRect/>
          </a:stretch>
        </p:blipFill>
        <p:spPr>
          <a:xfrm>
            <a:off x="320040" y="1371600"/>
            <a:ext cx="7772400" cy="5074920"/>
          </a:xfrm>
          <a:prstGeom prst="rect">
            <a:avLst/>
          </a:prstGeom>
        </p:spPr>
      </p:pic>
      <p:sp>
        <p:nvSpPr>
          <p:cNvPr id="11" name="Rectangle 10"/>
          <p:cNvSpPr/>
          <p:nvPr/>
        </p:nvSpPr>
        <p:spPr>
          <a:xfrm>
            <a:off x="8321040" y="1371600"/>
            <a:ext cx="3520440" cy="507492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0" y="1508760"/>
            <a:ext cx="3200400" cy="347472"/>
          </a:xfrm>
          <a:prstGeom prst="rect">
            <a:avLst/>
          </a:prstGeom>
          <a:noFill/>
        </p:spPr>
        <p:txBody>
          <a:bodyPr wrap="square">
            <a:spAutoFit/>
          </a:bodyPr>
          <a:lstStyle/>
          <a:p>
            <a:pPr algn="l"/>
            <a:r>
              <a:rPr sz="1300" b="1" i="0">
                <a:solidFill>
                  <a:srgbClr val="F5A623"/>
                </a:solidFill>
                <a:latin typeface="Calibri"/>
              </a:rPr>
              <a:t>Key Correlations</a:t>
            </a:r>
          </a:p>
        </p:txBody>
      </p:sp>
      <p:sp>
        <p:nvSpPr>
          <p:cNvPr id="13" name="Rectangle 12"/>
          <p:cNvSpPr/>
          <p:nvPr/>
        </p:nvSpPr>
        <p:spPr>
          <a:xfrm>
            <a:off x="8458200" y="1965960"/>
            <a:ext cx="3246120" cy="13258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458200" y="1965960"/>
            <a:ext cx="64008" cy="132588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13648" y="2011679"/>
            <a:ext cx="2971800" cy="347472"/>
          </a:xfrm>
          <a:prstGeom prst="rect">
            <a:avLst/>
          </a:prstGeom>
          <a:noFill/>
        </p:spPr>
        <p:txBody>
          <a:bodyPr wrap="square">
            <a:spAutoFit/>
          </a:bodyPr>
          <a:lstStyle/>
          <a:p>
            <a:pPr algn="l"/>
            <a:r>
              <a:rPr sz="1100" b="1" i="0">
                <a:solidFill>
                  <a:srgbClr val="FFFFFF"/>
                </a:solidFill>
                <a:latin typeface="Calibri"/>
              </a:rPr>
              <a:t>Env Sat ↔ Attrition</a:t>
            </a:r>
          </a:p>
        </p:txBody>
      </p:sp>
      <p:sp>
        <p:nvSpPr>
          <p:cNvPr id="16" name="TextBox 15"/>
          <p:cNvSpPr txBox="1"/>
          <p:nvPr/>
        </p:nvSpPr>
        <p:spPr>
          <a:xfrm>
            <a:off x="8613648" y="2350008"/>
            <a:ext cx="2971800" cy="365760"/>
          </a:xfrm>
          <a:prstGeom prst="rect">
            <a:avLst/>
          </a:prstGeom>
          <a:noFill/>
        </p:spPr>
        <p:txBody>
          <a:bodyPr wrap="square">
            <a:spAutoFit/>
          </a:bodyPr>
          <a:lstStyle/>
          <a:p>
            <a:pPr algn="l"/>
            <a:r>
              <a:rPr sz="1800" b="1" i="0">
                <a:solidFill>
                  <a:srgbClr val="E83A3A"/>
                </a:solidFill>
                <a:latin typeface="Calibri"/>
              </a:rPr>
              <a:t>ρ = −0.14</a:t>
            </a:r>
          </a:p>
        </p:txBody>
      </p:sp>
      <p:sp>
        <p:nvSpPr>
          <p:cNvPr id="17" name="TextBox 16"/>
          <p:cNvSpPr txBox="1"/>
          <p:nvPr/>
        </p:nvSpPr>
        <p:spPr>
          <a:xfrm>
            <a:off x="8613648" y="2715768"/>
            <a:ext cx="2971800" cy="502920"/>
          </a:xfrm>
          <a:prstGeom prst="rect">
            <a:avLst/>
          </a:prstGeom>
          <a:noFill/>
        </p:spPr>
        <p:txBody>
          <a:bodyPr wrap="square">
            <a:spAutoFit/>
          </a:bodyPr>
          <a:lstStyle/>
          <a:p>
            <a:pPr algn="l"/>
            <a:r>
              <a:rPr sz="1000" b="0" i="1">
                <a:solidFill>
                  <a:srgbClr val="D0D7E3"/>
                </a:solidFill>
                <a:latin typeface="Calibri"/>
              </a:rPr>
              <a:t>🔑 Key finding:
higher env = less leaving</a:t>
            </a:r>
          </a:p>
        </p:txBody>
      </p:sp>
      <p:sp>
        <p:nvSpPr>
          <p:cNvPr id="18" name="Rectangle 17"/>
          <p:cNvSpPr/>
          <p:nvPr/>
        </p:nvSpPr>
        <p:spPr>
          <a:xfrm>
            <a:off x="8458200" y="3429000"/>
            <a:ext cx="3246120" cy="13258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458200" y="3429000"/>
            <a:ext cx="64008" cy="132588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13648" y="3474720"/>
            <a:ext cx="2971800" cy="347472"/>
          </a:xfrm>
          <a:prstGeom prst="rect">
            <a:avLst/>
          </a:prstGeom>
          <a:noFill/>
        </p:spPr>
        <p:txBody>
          <a:bodyPr wrap="square">
            <a:spAutoFit/>
          </a:bodyPr>
          <a:lstStyle/>
          <a:p>
            <a:pPr algn="l"/>
            <a:r>
              <a:rPr sz="1100" b="1" i="0">
                <a:solidFill>
                  <a:srgbClr val="FFFFFF"/>
                </a:solidFill>
                <a:latin typeface="Calibri"/>
              </a:rPr>
              <a:t>Job Inv ↔ Job Sat</a:t>
            </a:r>
          </a:p>
        </p:txBody>
      </p:sp>
      <p:sp>
        <p:nvSpPr>
          <p:cNvPr id="21" name="TextBox 20"/>
          <p:cNvSpPr txBox="1"/>
          <p:nvPr/>
        </p:nvSpPr>
        <p:spPr>
          <a:xfrm>
            <a:off x="8613648" y="3813048"/>
            <a:ext cx="2971800" cy="365760"/>
          </a:xfrm>
          <a:prstGeom prst="rect">
            <a:avLst/>
          </a:prstGeom>
          <a:noFill/>
        </p:spPr>
        <p:txBody>
          <a:bodyPr wrap="square">
            <a:spAutoFit/>
          </a:bodyPr>
          <a:lstStyle/>
          <a:p>
            <a:pPr algn="l"/>
            <a:r>
              <a:rPr sz="1800" b="1" i="0">
                <a:solidFill>
                  <a:srgbClr val="2EA86B"/>
                </a:solidFill>
                <a:latin typeface="Calibri"/>
              </a:rPr>
              <a:t>ρ = +0.10</a:t>
            </a:r>
          </a:p>
        </p:txBody>
      </p:sp>
      <p:sp>
        <p:nvSpPr>
          <p:cNvPr id="22" name="TextBox 21"/>
          <p:cNvSpPr txBox="1"/>
          <p:nvPr/>
        </p:nvSpPr>
        <p:spPr>
          <a:xfrm>
            <a:off x="8613648" y="4178808"/>
            <a:ext cx="2971800" cy="502920"/>
          </a:xfrm>
          <a:prstGeom prst="rect">
            <a:avLst/>
          </a:prstGeom>
          <a:noFill/>
        </p:spPr>
        <p:txBody>
          <a:bodyPr wrap="square">
            <a:spAutoFit/>
          </a:bodyPr>
          <a:lstStyle/>
          <a:p>
            <a:pPr algn="l"/>
            <a:r>
              <a:rPr sz="1000" b="0" i="1">
                <a:solidFill>
                  <a:srgbClr val="D0D7E3"/>
                </a:solidFill>
                <a:latin typeface="Calibri"/>
              </a:rPr>
              <a:t>Both motivation
indicators move together</a:t>
            </a:r>
          </a:p>
        </p:txBody>
      </p:sp>
      <p:sp>
        <p:nvSpPr>
          <p:cNvPr id="23" name="Rectangle 22"/>
          <p:cNvSpPr/>
          <p:nvPr/>
        </p:nvSpPr>
        <p:spPr>
          <a:xfrm>
            <a:off x="8458200" y="4892040"/>
            <a:ext cx="3246120" cy="13258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458200" y="4892040"/>
            <a:ext cx="64008" cy="1325880"/>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13648" y="4937759"/>
            <a:ext cx="2971800" cy="347472"/>
          </a:xfrm>
          <a:prstGeom prst="rect">
            <a:avLst/>
          </a:prstGeom>
          <a:noFill/>
        </p:spPr>
        <p:txBody>
          <a:bodyPr wrap="square">
            <a:spAutoFit/>
          </a:bodyPr>
          <a:lstStyle/>
          <a:p>
            <a:pPr algn="l"/>
            <a:r>
              <a:rPr sz="1100" b="1" i="0">
                <a:solidFill>
                  <a:srgbClr val="FFFFFF"/>
                </a:solidFill>
                <a:latin typeface="Calibri"/>
              </a:rPr>
              <a:t>Overtime ↔ Attrition</a:t>
            </a:r>
          </a:p>
        </p:txBody>
      </p:sp>
      <p:sp>
        <p:nvSpPr>
          <p:cNvPr id="26" name="TextBox 25"/>
          <p:cNvSpPr txBox="1"/>
          <p:nvPr/>
        </p:nvSpPr>
        <p:spPr>
          <a:xfrm>
            <a:off x="8613648" y="5276088"/>
            <a:ext cx="2971800" cy="365760"/>
          </a:xfrm>
          <a:prstGeom prst="rect">
            <a:avLst/>
          </a:prstGeom>
          <a:noFill/>
        </p:spPr>
        <p:txBody>
          <a:bodyPr wrap="square">
            <a:spAutoFit/>
          </a:bodyPr>
          <a:lstStyle/>
          <a:p>
            <a:pPr algn="l"/>
            <a:r>
              <a:rPr sz="1800" b="1" i="0">
                <a:solidFill>
                  <a:srgbClr val="E88A00"/>
                </a:solidFill>
                <a:latin typeface="Calibri"/>
              </a:rPr>
              <a:t>ρ = +0.08</a:t>
            </a:r>
          </a:p>
        </p:txBody>
      </p:sp>
      <p:sp>
        <p:nvSpPr>
          <p:cNvPr id="27" name="TextBox 26"/>
          <p:cNvSpPr txBox="1"/>
          <p:nvPr/>
        </p:nvSpPr>
        <p:spPr>
          <a:xfrm>
            <a:off x="8613648" y="5641848"/>
            <a:ext cx="2971800" cy="502920"/>
          </a:xfrm>
          <a:prstGeom prst="rect">
            <a:avLst/>
          </a:prstGeom>
          <a:noFill/>
        </p:spPr>
        <p:txBody>
          <a:bodyPr wrap="square">
            <a:spAutoFit/>
          </a:bodyPr>
          <a:lstStyle/>
          <a:p>
            <a:pPr algn="l"/>
            <a:r>
              <a:rPr sz="1000" b="0" i="1">
                <a:solidFill>
                  <a:srgbClr val="D0D7E3"/>
                </a:solidFill>
                <a:latin typeface="Calibri"/>
              </a:rPr>
              <a:t>Overtime slightly
increases attrition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INFERENTIAL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Hypothesis Framework</a:t>
            </a:r>
          </a:p>
        </p:txBody>
      </p:sp>
      <p:sp>
        <p:nvSpPr>
          <p:cNvPr id="6" name="Rectangle 5"/>
          <p:cNvSpPr/>
          <p:nvPr/>
        </p:nvSpPr>
        <p:spPr>
          <a:xfrm>
            <a:off x="320040" y="1170432"/>
            <a:ext cx="11521440" cy="36576"/>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11521440" cy="14630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417320"/>
            <a:ext cx="73152" cy="1463040"/>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508760"/>
            <a:ext cx="5029200" cy="411480"/>
          </a:xfrm>
          <a:prstGeom prst="rect">
            <a:avLst/>
          </a:prstGeom>
          <a:noFill/>
        </p:spPr>
        <p:txBody>
          <a:bodyPr wrap="square">
            <a:spAutoFit/>
          </a:bodyPr>
          <a:lstStyle/>
          <a:p>
            <a:pPr algn="l"/>
            <a:r>
              <a:rPr sz="1400" b="1" i="0">
                <a:solidFill>
                  <a:srgbClr val="FFFFFF"/>
                </a:solidFill>
                <a:latin typeface="Calibri"/>
              </a:rPr>
              <a:t>H₀  (Null Hypothesis)</a:t>
            </a:r>
          </a:p>
        </p:txBody>
      </p:sp>
      <p:sp>
        <p:nvSpPr>
          <p:cNvPr id="10" name="TextBox 9"/>
          <p:cNvSpPr txBox="1"/>
          <p:nvPr/>
        </p:nvSpPr>
        <p:spPr>
          <a:xfrm>
            <a:off x="548640" y="1920240"/>
            <a:ext cx="10972800" cy="822960"/>
          </a:xfrm>
          <a:prstGeom prst="rect">
            <a:avLst/>
          </a:prstGeom>
          <a:noFill/>
        </p:spPr>
        <p:txBody>
          <a:bodyPr wrap="square">
            <a:spAutoFit/>
          </a:bodyPr>
          <a:lstStyle/>
          <a:p>
            <a:pPr algn="l"/>
            <a:r>
              <a:rPr sz="1400" b="0" i="1">
                <a:solidFill>
                  <a:srgbClr val="D0D7E3"/>
                </a:solidFill>
                <a:latin typeface="Calibri"/>
              </a:rPr>
              <a:t>Work environment has NO significant effect on developer motivation or attrition.</a:t>
            </a:r>
          </a:p>
        </p:txBody>
      </p:sp>
      <p:sp>
        <p:nvSpPr>
          <p:cNvPr id="11" name="Rectangle 10"/>
          <p:cNvSpPr/>
          <p:nvPr/>
        </p:nvSpPr>
        <p:spPr>
          <a:xfrm>
            <a:off x="320040" y="3063240"/>
            <a:ext cx="11521440" cy="1463040"/>
          </a:xfrm>
          <a:prstGeom prst="rect">
            <a:avLst/>
          </a:prstGeom>
          <a:solidFill>
            <a:srgbClr val="0A2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3063240"/>
            <a:ext cx="73152" cy="146304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154680"/>
            <a:ext cx="5486400" cy="411480"/>
          </a:xfrm>
          <a:prstGeom prst="rect">
            <a:avLst/>
          </a:prstGeom>
          <a:noFill/>
        </p:spPr>
        <p:txBody>
          <a:bodyPr wrap="square">
            <a:spAutoFit/>
          </a:bodyPr>
          <a:lstStyle/>
          <a:p>
            <a:pPr algn="l"/>
            <a:r>
              <a:rPr sz="1400" b="1" i="0">
                <a:solidFill>
                  <a:srgbClr val="FFFFFF"/>
                </a:solidFill>
                <a:latin typeface="Calibri"/>
              </a:rPr>
              <a:t>H₁  (Alternative Hypothesis)</a:t>
            </a:r>
          </a:p>
        </p:txBody>
      </p:sp>
      <p:sp>
        <p:nvSpPr>
          <p:cNvPr id="14" name="TextBox 13"/>
          <p:cNvSpPr txBox="1"/>
          <p:nvPr/>
        </p:nvSpPr>
        <p:spPr>
          <a:xfrm>
            <a:off x="548640" y="3566160"/>
            <a:ext cx="10972800" cy="822960"/>
          </a:xfrm>
          <a:prstGeom prst="rect">
            <a:avLst/>
          </a:prstGeom>
          <a:noFill/>
        </p:spPr>
        <p:txBody>
          <a:bodyPr wrap="square">
            <a:spAutoFit/>
          </a:bodyPr>
          <a:lstStyle/>
          <a:p>
            <a:pPr algn="l"/>
            <a:r>
              <a:rPr sz="1400" b="0" i="1">
                <a:solidFill>
                  <a:srgbClr val="D0D7E3"/>
                </a:solidFill>
                <a:latin typeface="Calibri"/>
              </a:rPr>
              <a:t>A positive work environment SIGNIFICANTLY improves developer motivation and reduces attrition.</a:t>
            </a:r>
          </a:p>
        </p:txBody>
      </p:sp>
      <p:sp>
        <p:nvSpPr>
          <p:cNvPr id="15" name="TextBox 14"/>
          <p:cNvSpPr txBox="1"/>
          <p:nvPr/>
        </p:nvSpPr>
        <p:spPr>
          <a:xfrm>
            <a:off x="320040" y="4663440"/>
            <a:ext cx="7315200" cy="365760"/>
          </a:xfrm>
          <a:prstGeom prst="rect">
            <a:avLst/>
          </a:prstGeom>
          <a:noFill/>
        </p:spPr>
        <p:txBody>
          <a:bodyPr wrap="square">
            <a:spAutoFit/>
          </a:bodyPr>
          <a:lstStyle/>
          <a:p>
            <a:pPr algn="l"/>
            <a:r>
              <a:rPr sz="1200" b="1" i="0">
                <a:solidFill>
                  <a:srgbClr val="F5A623"/>
                </a:solidFill>
                <a:latin typeface="Calibri"/>
              </a:rPr>
              <a:t>4 Statistical Tests Conducted at α = 0.05:</a:t>
            </a:r>
          </a:p>
        </p:txBody>
      </p:sp>
      <p:sp>
        <p:nvSpPr>
          <p:cNvPr id="16" name="Rectangle 15"/>
          <p:cNvSpPr/>
          <p:nvPr/>
        </p:nvSpPr>
        <p:spPr>
          <a:xfrm>
            <a:off x="320040" y="5074920"/>
            <a:ext cx="2743200" cy="1508760"/>
          </a:xfrm>
          <a:prstGeom prst="rect">
            <a:avLst/>
          </a:prstGeom>
          <a:solidFill>
            <a:srgbClr val="10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5120640"/>
            <a:ext cx="2468880" cy="502920"/>
          </a:xfrm>
          <a:prstGeom prst="rect">
            <a:avLst/>
          </a:prstGeom>
          <a:noFill/>
        </p:spPr>
        <p:txBody>
          <a:bodyPr wrap="square">
            <a:spAutoFit/>
          </a:bodyPr>
          <a:lstStyle/>
          <a:p>
            <a:pPr algn="l"/>
            <a:r>
              <a:rPr sz="1100" b="1" i="0">
                <a:solidFill>
                  <a:srgbClr val="008B8B"/>
                </a:solidFill>
                <a:latin typeface="Calibri"/>
              </a:rPr>
              <a:t>Spearman
Correlation</a:t>
            </a:r>
          </a:p>
        </p:txBody>
      </p:sp>
      <p:sp>
        <p:nvSpPr>
          <p:cNvPr id="18" name="TextBox 17"/>
          <p:cNvSpPr txBox="1"/>
          <p:nvPr/>
        </p:nvSpPr>
        <p:spPr>
          <a:xfrm>
            <a:off x="429768" y="5650992"/>
            <a:ext cx="2560320" cy="868680"/>
          </a:xfrm>
          <a:prstGeom prst="rect">
            <a:avLst/>
          </a:prstGeom>
          <a:noFill/>
        </p:spPr>
        <p:txBody>
          <a:bodyPr wrap="square">
            <a:spAutoFit/>
          </a:bodyPr>
          <a:lstStyle/>
          <a:p>
            <a:pPr algn="l"/>
            <a:r>
              <a:rPr sz="1000" b="0" i="0">
                <a:solidFill>
                  <a:srgbClr val="D0D7E3"/>
                </a:solidFill>
                <a:latin typeface="Calibri"/>
              </a:rPr>
              <a:t>Measures monotonic relationship
between two ranked variables</a:t>
            </a:r>
          </a:p>
        </p:txBody>
      </p:sp>
      <p:sp>
        <p:nvSpPr>
          <p:cNvPr id="19" name="Rectangle 18"/>
          <p:cNvSpPr/>
          <p:nvPr/>
        </p:nvSpPr>
        <p:spPr>
          <a:xfrm>
            <a:off x="3264408" y="5074920"/>
            <a:ext cx="2743200" cy="1508760"/>
          </a:xfrm>
          <a:prstGeom prst="rect">
            <a:avLst/>
          </a:prstGeom>
          <a:solidFill>
            <a:srgbClr val="10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01568" y="5120640"/>
            <a:ext cx="2468880" cy="502920"/>
          </a:xfrm>
          <a:prstGeom prst="rect">
            <a:avLst/>
          </a:prstGeom>
          <a:noFill/>
        </p:spPr>
        <p:txBody>
          <a:bodyPr wrap="square">
            <a:spAutoFit/>
          </a:bodyPr>
          <a:lstStyle/>
          <a:p>
            <a:pPr algn="l"/>
            <a:r>
              <a:rPr sz="1100" b="1" i="0">
                <a:solidFill>
                  <a:srgbClr val="008B8B"/>
                </a:solidFill>
                <a:latin typeface="Calibri"/>
              </a:rPr>
              <a:t>Kruskal-Wallis
H-Test</a:t>
            </a:r>
          </a:p>
        </p:txBody>
      </p:sp>
      <p:sp>
        <p:nvSpPr>
          <p:cNvPr id="21" name="TextBox 20"/>
          <p:cNvSpPr txBox="1"/>
          <p:nvPr/>
        </p:nvSpPr>
        <p:spPr>
          <a:xfrm>
            <a:off x="3374136" y="5650992"/>
            <a:ext cx="2560320" cy="868680"/>
          </a:xfrm>
          <a:prstGeom prst="rect">
            <a:avLst/>
          </a:prstGeom>
          <a:noFill/>
        </p:spPr>
        <p:txBody>
          <a:bodyPr wrap="square">
            <a:spAutoFit/>
          </a:bodyPr>
          <a:lstStyle/>
          <a:p>
            <a:pPr algn="l"/>
            <a:r>
              <a:rPr sz="1000" b="0" i="0">
                <a:solidFill>
                  <a:srgbClr val="D0D7E3"/>
                </a:solidFill>
                <a:latin typeface="Calibri"/>
              </a:rPr>
              <a:t>Compares motivation scores
across all 5 env levels</a:t>
            </a:r>
          </a:p>
        </p:txBody>
      </p:sp>
      <p:sp>
        <p:nvSpPr>
          <p:cNvPr id="22" name="Rectangle 21"/>
          <p:cNvSpPr/>
          <p:nvPr/>
        </p:nvSpPr>
        <p:spPr>
          <a:xfrm>
            <a:off x="6208776" y="5074920"/>
            <a:ext cx="2743200" cy="1508760"/>
          </a:xfrm>
          <a:prstGeom prst="rect">
            <a:avLst/>
          </a:prstGeom>
          <a:solidFill>
            <a:srgbClr val="10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45936" y="5120640"/>
            <a:ext cx="2468880" cy="502920"/>
          </a:xfrm>
          <a:prstGeom prst="rect">
            <a:avLst/>
          </a:prstGeom>
          <a:noFill/>
        </p:spPr>
        <p:txBody>
          <a:bodyPr wrap="square">
            <a:spAutoFit/>
          </a:bodyPr>
          <a:lstStyle/>
          <a:p>
            <a:pPr algn="l"/>
            <a:r>
              <a:rPr sz="1100" b="1" i="0">
                <a:solidFill>
                  <a:srgbClr val="008B8B"/>
                </a:solidFill>
                <a:latin typeface="Calibri"/>
              </a:rPr>
              <a:t>Chi-Square
Test</a:t>
            </a:r>
          </a:p>
        </p:txBody>
      </p:sp>
      <p:sp>
        <p:nvSpPr>
          <p:cNvPr id="24" name="TextBox 23"/>
          <p:cNvSpPr txBox="1"/>
          <p:nvPr/>
        </p:nvSpPr>
        <p:spPr>
          <a:xfrm>
            <a:off x="6318504" y="5650992"/>
            <a:ext cx="2560320" cy="868680"/>
          </a:xfrm>
          <a:prstGeom prst="rect">
            <a:avLst/>
          </a:prstGeom>
          <a:noFill/>
        </p:spPr>
        <p:txBody>
          <a:bodyPr wrap="square">
            <a:spAutoFit/>
          </a:bodyPr>
          <a:lstStyle/>
          <a:p>
            <a:pPr algn="l"/>
            <a:r>
              <a:rPr sz="1000" b="0" i="0">
                <a:solidFill>
                  <a:srgbClr val="D0D7E3"/>
                </a:solidFill>
                <a:latin typeface="Calibri"/>
              </a:rPr>
              <a:t>Tests independence between
env level and attrition</a:t>
            </a:r>
          </a:p>
        </p:txBody>
      </p:sp>
      <p:sp>
        <p:nvSpPr>
          <p:cNvPr id="25" name="Rectangle 24"/>
          <p:cNvSpPr/>
          <p:nvPr/>
        </p:nvSpPr>
        <p:spPr>
          <a:xfrm>
            <a:off x="9153144" y="5074920"/>
            <a:ext cx="2743200" cy="1508760"/>
          </a:xfrm>
          <a:prstGeom prst="rect">
            <a:avLst/>
          </a:prstGeom>
          <a:solidFill>
            <a:srgbClr val="102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90304" y="5120640"/>
            <a:ext cx="2468880" cy="502920"/>
          </a:xfrm>
          <a:prstGeom prst="rect">
            <a:avLst/>
          </a:prstGeom>
          <a:noFill/>
        </p:spPr>
        <p:txBody>
          <a:bodyPr wrap="square">
            <a:spAutoFit/>
          </a:bodyPr>
          <a:lstStyle/>
          <a:p>
            <a:pPr algn="l"/>
            <a:r>
              <a:rPr sz="1100" b="1" i="0">
                <a:solidFill>
                  <a:srgbClr val="008B8B"/>
                </a:solidFill>
                <a:latin typeface="Calibri"/>
              </a:rPr>
              <a:t>Mann-Whitney
U Test</a:t>
            </a:r>
          </a:p>
        </p:txBody>
      </p:sp>
      <p:sp>
        <p:nvSpPr>
          <p:cNvPr id="27" name="TextBox 26"/>
          <p:cNvSpPr txBox="1"/>
          <p:nvPr/>
        </p:nvSpPr>
        <p:spPr>
          <a:xfrm>
            <a:off x="9262872" y="5650992"/>
            <a:ext cx="2560320" cy="868680"/>
          </a:xfrm>
          <a:prstGeom prst="rect">
            <a:avLst/>
          </a:prstGeom>
          <a:noFill/>
        </p:spPr>
        <p:txBody>
          <a:bodyPr wrap="square">
            <a:spAutoFit/>
          </a:bodyPr>
          <a:lstStyle/>
          <a:p>
            <a:pPr algn="l"/>
            <a:r>
              <a:rPr sz="1000" b="0" i="0">
                <a:solidFill>
                  <a:srgbClr val="D0D7E3"/>
                </a:solidFill>
                <a:latin typeface="Calibri"/>
              </a:rPr>
              <a:t>Compares two groups:
Low Env vs High Env motivation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INFERENTIAL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Test 1 &amp; 2 — Spearman Correlation &amp; Kruskal-Wallis</a:t>
            </a:r>
          </a:p>
        </p:txBody>
      </p:sp>
      <p:sp>
        <p:nvSpPr>
          <p:cNvPr id="6" name="Rectangle 5"/>
          <p:cNvSpPr/>
          <p:nvPr/>
        </p:nvSpPr>
        <p:spPr>
          <a:xfrm>
            <a:off x="320040" y="1170432"/>
            <a:ext cx="11521440" cy="36576"/>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5394960" cy="51663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71600"/>
            <a:ext cx="5394960" cy="411480"/>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5029200" cy="347472"/>
          </a:xfrm>
          <a:prstGeom prst="rect">
            <a:avLst/>
          </a:prstGeom>
          <a:noFill/>
        </p:spPr>
        <p:txBody>
          <a:bodyPr wrap="square">
            <a:spAutoFit/>
          </a:bodyPr>
          <a:lstStyle/>
          <a:p>
            <a:pPr algn="l"/>
            <a:r>
              <a:rPr sz="1200" b="1" i="0">
                <a:solidFill>
                  <a:srgbClr val="FFFFFF"/>
                </a:solidFill>
                <a:latin typeface="Calibri"/>
              </a:rPr>
              <a:t>Spearman Rank Correlation</a:t>
            </a:r>
          </a:p>
        </p:txBody>
      </p:sp>
      <p:sp>
        <p:nvSpPr>
          <p:cNvPr id="10" name="Rectangle 9"/>
          <p:cNvSpPr/>
          <p:nvPr/>
        </p:nvSpPr>
        <p:spPr>
          <a:xfrm>
            <a:off x="457200" y="1920240"/>
            <a:ext cx="5120640" cy="118872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965960"/>
            <a:ext cx="4846320" cy="347472"/>
          </a:xfrm>
          <a:prstGeom prst="rect">
            <a:avLst/>
          </a:prstGeom>
          <a:noFill/>
        </p:spPr>
        <p:txBody>
          <a:bodyPr wrap="square">
            <a:spAutoFit/>
          </a:bodyPr>
          <a:lstStyle/>
          <a:p>
            <a:pPr algn="l"/>
            <a:r>
              <a:rPr sz="1100" b="1" i="0">
                <a:solidFill>
                  <a:srgbClr val="FFFFFF"/>
                </a:solidFill>
                <a:latin typeface="Calibri"/>
              </a:rPr>
              <a:t>Env Sat ↔ Job Involvement</a:t>
            </a:r>
          </a:p>
        </p:txBody>
      </p:sp>
      <p:sp>
        <p:nvSpPr>
          <p:cNvPr id="12" name="TextBox 11"/>
          <p:cNvSpPr txBox="1"/>
          <p:nvPr/>
        </p:nvSpPr>
        <p:spPr>
          <a:xfrm>
            <a:off x="594360" y="2331720"/>
            <a:ext cx="2103120" cy="347472"/>
          </a:xfrm>
          <a:prstGeom prst="rect">
            <a:avLst/>
          </a:prstGeom>
          <a:noFill/>
        </p:spPr>
        <p:txBody>
          <a:bodyPr wrap="square">
            <a:spAutoFit/>
          </a:bodyPr>
          <a:lstStyle/>
          <a:p>
            <a:pPr algn="l"/>
            <a:r>
              <a:rPr sz="1400" b="1" i="0">
                <a:solidFill>
                  <a:srgbClr val="008B8B"/>
                </a:solidFill>
                <a:latin typeface="Calibri"/>
              </a:rPr>
              <a:t>ρ = 0.0072</a:t>
            </a:r>
          </a:p>
        </p:txBody>
      </p:sp>
      <p:sp>
        <p:nvSpPr>
          <p:cNvPr id="13" name="TextBox 12"/>
          <p:cNvSpPr txBox="1"/>
          <p:nvPr/>
        </p:nvSpPr>
        <p:spPr>
          <a:xfrm>
            <a:off x="2743200" y="2331720"/>
            <a:ext cx="2560320" cy="347472"/>
          </a:xfrm>
          <a:prstGeom prst="rect">
            <a:avLst/>
          </a:prstGeom>
          <a:noFill/>
        </p:spPr>
        <p:txBody>
          <a:bodyPr wrap="square">
            <a:spAutoFit/>
          </a:bodyPr>
          <a:lstStyle/>
          <a:p>
            <a:pPr algn="l"/>
            <a:r>
              <a:rPr sz="1300" b="1" i="0">
                <a:solidFill>
                  <a:srgbClr val="F5A623"/>
                </a:solidFill>
                <a:latin typeface="Calibri"/>
              </a:rPr>
              <a:t>p = 0.8357</a:t>
            </a:r>
          </a:p>
        </p:txBody>
      </p:sp>
      <p:sp>
        <p:nvSpPr>
          <p:cNvPr id="14" name="TextBox 13"/>
          <p:cNvSpPr txBox="1"/>
          <p:nvPr/>
        </p:nvSpPr>
        <p:spPr>
          <a:xfrm>
            <a:off x="594360" y="2697480"/>
            <a:ext cx="4846320" cy="347472"/>
          </a:xfrm>
          <a:prstGeom prst="rect">
            <a:avLst/>
          </a:prstGeom>
          <a:noFill/>
        </p:spPr>
        <p:txBody>
          <a:bodyPr wrap="square">
            <a:spAutoFit/>
          </a:bodyPr>
          <a:lstStyle/>
          <a:p>
            <a:pPr algn="l"/>
            <a:r>
              <a:rPr sz="1200" b="1" i="0">
                <a:solidFill>
                  <a:srgbClr val="6B7A99"/>
                </a:solidFill>
                <a:latin typeface="Calibri"/>
              </a:rPr>
              <a:t>❌ Not Significant</a:t>
            </a:r>
          </a:p>
        </p:txBody>
      </p:sp>
      <p:sp>
        <p:nvSpPr>
          <p:cNvPr id="15" name="Rectangle 14"/>
          <p:cNvSpPr/>
          <p:nvPr/>
        </p:nvSpPr>
        <p:spPr>
          <a:xfrm>
            <a:off x="457200" y="3291840"/>
            <a:ext cx="5120640" cy="118872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337560"/>
            <a:ext cx="4846320" cy="347472"/>
          </a:xfrm>
          <a:prstGeom prst="rect">
            <a:avLst/>
          </a:prstGeom>
          <a:noFill/>
        </p:spPr>
        <p:txBody>
          <a:bodyPr wrap="square">
            <a:spAutoFit/>
          </a:bodyPr>
          <a:lstStyle/>
          <a:p>
            <a:pPr algn="l"/>
            <a:r>
              <a:rPr sz="1100" b="1" i="0">
                <a:solidFill>
                  <a:srgbClr val="FFFFFF"/>
                </a:solidFill>
                <a:latin typeface="Calibri"/>
              </a:rPr>
              <a:t>Env Sat ↔ Attrition</a:t>
            </a:r>
          </a:p>
        </p:txBody>
      </p:sp>
      <p:sp>
        <p:nvSpPr>
          <p:cNvPr id="17" name="TextBox 16"/>
          <p:cNvSpPr txBox="1"/>
          <p:nvPr/>
        </p:nvSpPr>
        <p:spPr>
          <a:xfrm>
            <a:off x="594360" y="3703320"/>
            <a:ext cx="2103120" cy="347472"/>
          </a:xfrm>
          <a:prstGeom prst="rect">
            <a:avLst/>
          </a:prstGeom>
          <a:noFill/>
        </p:spPr>
        <p:txBody>
          <a:bodyPr wrap="square">
            <a:spAutoFit/>
          </a:bodyPr>
          <a:lstStyle/>
          <a:p>
            <a:pPr algn="l"/>
            <a:r>
              <a:rPr sz="1400" b="1" i="0">
                <a:solidFill>
                  <a:srgbClr val="008B8B"/>
                </a:solidFill>
                <a:latin typeface="Calibri"/>
              </a:rPr>
              <a:t>ρ = −0.1392</a:t>
            </a:r>
          </a:p>
        </p:txBody>
      </p:sp>
      <p:sp>
        <p:nvSpPr>
          <p:cNvPr id="18" name="TextBox 17"/>
          <p:cNvSpPr txBox="1"/>
          <p:nvPr/>
        </p:nvSpPr>
        <p:spPr>
          <a:xfrm>
            <a:off x="2743200" y="3703320"/>
            <a:ext cx="2560320" cy="347472"/>
          </a:xfrm>
          <a:prstGeom prst="rect">
            <a:avLst/>
          </a:prstGeom>
          <a:noFill/>
        </p:spPr>
        <p:txBody>
          <a:bodyPr wrap="square">
            <a:spAutoFit/>
          </a:bodyPr>
          <a:lstStyle/>
          <a:p>
            <a:pPr algn="l"/>
            <a:r>
              <a:rPr sz="1300" b="1" i="0">
                <a:solidFill>
                  <a:srgbClr val="F5A623"/>
                </a:solidFill>
                <a:latin typeface="Calibri"/>
              </a:rPr>
              <a:t>p = 0.000062</a:t>
            </a:r>
          </a:p>
        </p:txBody>
      </p:sp>
      <p:sp>
        <p:nvSpPr>
          <p:cNvPr id="19" name="TextBox 18"/>
          <p:cNvSpPr txBox="1"/>
          <p:nvPr/>
        </p:nvSpPr>
        <p:spPr>
          <a:xfrm>
            <a:off x="594360" y="4069080"/>
            <a:ext cx="4846320" cy="347472"/>
          </a:xfrm>
          <a:prstGeom prst="rect">
            <a:avLst/>
          </a:prstGeom>
          <a:noFill/>
        </p:spPr>
        <p:txBody>
          <a:bodyPr wrap="square">
            <a:spAutoFit/>
          </a:bodyPr>
          <a:lstStyle/>
          <a:p>
            <a:pPr algn="l"/>
            <a:r>
              <a:rPr sz="1200" b="1" i="0">
                <a:solidFill>
                  <a:srgbClr val="2EA86B"/>
                </a:solidFill>
                <a:latin typeface="Calibri"/>
              </a:rPr>
              <a:t>✅ Significant</a:t>
            </a:r>
          </a:p>
        </p:txBody>
      </p:sp>
      <p:sp>
        <p:nvSpPr>
          <p:cNvPr id="20" name="Rectangle 19"/>
          <p:cNvSpPr/>
          <p:nvPr/>
        </p:nvSpPr>
        <p:spPr>
          <a:xfrm>
            <a:off x="457200" y="4663440"/>
            <a:ext cx="5120640" cy="118872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709159"/>
            <a:ext cx="4846320" cy="347472"/>
          </a:xfrm>
          <a:prstGeom prst="rect">
            <a:avLst/>
          </a:prstGeom>
          <a:noFill/>
        </p:spPr>
        <p:txBody>
          <a:bodyPr wrap="square">
            <a:spAutoFit/>
          </a:bodyPr>
          <a:lstStyle/>
          <a:p>
            <a:pPr algn="l"/>
            <a:r>
              <a:rPr sz="1100" b="1" i="0">
                <a:solidFill>
                  <a:srgbClr val="FFFFFF"/>
                </a:solidFill>
                <a:latin typeface="Calibri"/>
              </a:rPr>
              <a:t>Work Env ↔ Motivation</a:t>
            </a:r>
          </a:p>
        </p:txBody>
      </p:sp>
      <p:sp>
        <p:nvSpPr>
          <p:cNvPr id="22" name="TextBox 21"/>
          <p:cNvSpPr txBox="1"/>
          <p:nvPr/>
        </p:nvSpPr>
        <p:spPr>
          <a:xfrm>
            <a:off x="594360" y="5074920"/>
            <a:ext cx="2103120" cy="347472"/>
          </a:xfrm>
          <a:prstGeom prst="rect">
            <a:avLst/>
          </a:prstGeom>
          <a:noFill/>
        </p:spPr>
        <p:txBody>
          <a:bodyPr wrap="square">
            <a:spAutoFit/>
          </a:bodyPr>
          <a:lstStyle/>
          <a:p>
            <a:pPr algn="l"/>
            <a:r>
              <a:rPr sz="1400" b="1" i="0">
                <a:solidFill>
                  <a:srgbClr val="008B8B"/>
                </a:solidFill>
                <a:latin typeface="Calibri"/>
              </a:rPr>
              <a:t>ρ = −0.0095</a:t>
            </a:r>
          </a:p>
        </p:txBody>
      </p:sp>
      <p:sp>
        <p:nvSpPr>
          <p:cNvPr id="23" name="TextBox 22"/>
          <p:cNvSpPr txBox="1"/>
          <p:nvPr/>
        </p:nvSpPr>
        <p:spPr>
          <a:xfrm>
            <a:off x="2743200" y="5074920"/>
            <a:ext cx="2560320" cy="347472"/>
          </a:xfrm>
          <a:prstGeom prst="rect">
            <a:avLst/>
          </a:prstGeom>
          <a:noFill/>
        </p:spPr>
        <p:txBody>
          <a:bodyPr wrap="square">
            <a:spAutoFit/>
          </a:bodyPr>
          <a:lstStyle/>
          <a:p>
            <a:pPr algn="l"/>
            <a:r>
              <a:rPr sz="1300" b="1" i="0">
                <a:solidFill>
                  <a:srgbClr val="F5A623"/>
                </a:solidFill>
                <a:latin typeface="Calibri"/>
              </a:rPr>
              <a:t>p = 0.7860</a:t>
            </a:r>
          </a:p>
        </p:txBody>
      </p:sp>
      <p:sp>
        <p:nvSpPr>
          <p:cNvPr id="24" name="TextBox 23"/>
          <p:cNvSpPr txBox="1"/>
          <p:nvPr/>
        </p:nvSpPr>
        <p:spPr>
          <a:xfrm>
            <a:off x="594360" y="5440679"/>
            <a:ext cx="4846320" cy="347472"/>
          </a:xfrm>
          <a:prstGeom prst="rect">
            <a:avLst/>
          </a:prstGeom>
          <a:noFill/>
        </p:spPr>
        <p:txBody>
          <a:bodyPr wrap="square">
            <a:spAutoFit/>
          </a:bodyPr>
          <a:lstStyle/>
          <a:p>
            <a:pPr algn="l"/>
            <a:r>
              <a:rPr sz="1200" b="1" i="0">
                <a:solidFill>
                  <a:srgbClr val="6B7A99"/>
                </a:solidFill>
                <a:latin typeface="Calibri"/>
              </a:rPr>
              <a:t>❌ Not Significant</a:t>
            </a:r>
          </a:p>
        </p:txBody>
      </p:sp>
      <p:sp>
        <p:nvSpPr>
          <p:cNvPr id="25" name="Rectangle 24"/>
          <p:cNvSpPr/>
          <p:nvPr/>
        </p:nvSpPr>
        <p:spPr>
          <a:xfrm>
            <a:off x="457200" y="6217920"/>
            <a:ext cx="5120640" cy="548640"/>
          </a:xfrm>
          <a:prstGeom prst="rect">
            <a:avLst/>
          </a:prstGeom>
          <a:solidFill>
            <a:srgbClr val="1E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6309359"/>
            <a:ext cx="4846320" cy="365759"/>
          </a:xfrm>
          <a:prstGeom prst="rect">
            <a:avLst/>
          </a:prstGeom>
          <a:noFill/>
        </p:spPr>
        <p:txBody>
          <a:bodyPr wrap="square">
            <a:spAutoFit/>
          </a:bodyPr>
          <a:lstStyle/>
          <a:p>
            <a:pPr algn="l"/>
            <a:r>
              <a:rPr sz="1000" b="0" i="0">
                <a:solidFill>
                  <a:srgbClr val="7EC8C8"/>
                </a:solidFill>
                <a:latin typeface="Courier New"/>
              </a:rPr>
              <a:t>r, p = spearmanr(devs['Environment_Satisfaction'],
              devs['Attrition_Binary'])</a:t>
            </a:r>
          </a:p>
        </p:txBody>
      </p:sp>
      <p:sp>
        <p:nvSpPr>
          <p:cNvPr id="27" name="Rectangle 26"/>
          <p:cNvSpPr/>
          <p:nvPr/>
        </p:nvSpPr>
        <p:spPr>
          <a:xfrm>
            <a:off x="5989320" y="1371600"/>
            <a:ext cx="5852160" cy="51663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989320" y="1371600"/>
            <a:ext cx="5852160" cy="411480"/>
          </a:xfrm>
          <a:prstGeom prst="rect">
            <a:avLst/>
          </a:prstGeom>
          <a:solidFill>
            <a:srgbClr val="276A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72200" y="1417320"/>
            <a:ext cx="5394960" cy="347472"/>
          </a:xfrm>
          <a:prstGeom prst="rect">
            <a:avLst/>
          </a:prstGeom>
          <a:noFill/>
        </p:spPr>
        <p:txBody>
          <a:bodyPr wrap="square">
            <a:spAutoFit/>
          </a:bodyPr>
          <a:lstStyle/>
          <a:p>
            <a:pPr algn="l"/>
            <a:r>
              <a:rPr sz="1200" b="1" i="0">
                <a:solidFill>
                  <a:srgbClr val="FFFFFF"/>
                </a:solidFill>
                <a:latin typeface="Calibri"/>
              </a:rPr>
              <a:t>Kruskal-Wallis H-Test</a:t>
            </a:r>
          </a:p>
        </p:txBody>
      </p:sp>
      <p:sp>
        <p:nvSpPr>
          <p:cNvPr id="30" name="TextBox 29"/>
          <p:cNvSpPr txBox="1"/>
          <p:nvPr/>
        </p:nvSpPr>
        <p:spPr>
          <a:xfrm>
            <a:off x="6172200" y="1874519"/>
            <a:ext cx="5486400" cy="320040"/>
          </a:xfrm>
          <a:prstGeom prst="rect">
            <a:avLst/>
          </a:prstGeom>
          <a:noFill/>
        </p:spPr>
        <p:txBody>
          <a:bodyPr wrap="square">
            <a:spAutoFit/>
          </a:bodyPr>
          <a:lstStyle/>
          <a:p>
            <a:pPr algn="l"/>
            <a:r>
              <a:rPr sz="1100" b="0" i="1">
                <a:solidFill>
                  <a:srgbClr val="D0D7E3"/>
                </a:solidFill>
                <a:latin typeface="Calibri"/>
              </a:rPr>
              <a:t>Does Motivation differ across Env levels?</a:t>
            </a:r>
          </a:p>
        </p:txBody>
      </p:sp>
      <p:sp>
        <p:nvSpPr>
          <p:cNvPr id="31" name="Rectangle 30"/>
          <p:cNvSpPr/>
          <p:nvPr/>
        </p:nvSpPr>
        <p:spPr>
          <a:xfrm>
            <a:off x="6172200" y="2286000"/>
            <a:ext cx="5486400" cy="7772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91072" y="2377440"/>
            <a:ext cx="5212080" cy="502920"/>
          </a:xfrm>
          <a:prstGeom prst="rect">
            <a:avLst/>
          </a:prstGeom>
          <a:noFill/>
        </p:spPr>
        <p:txBody>
          <a:bodyPr wrap="square">
            <a:spAutoFit/>
          </a:bodyPr>
          <a:lstStyle/>
          <a:p>
            <a:pPr algn="l"/>
            <a:r>
              <a:rPr sz="1300" b="1" i="0">
                <a:solidFill>
                  <a:srgbClr val="6B7A99"/>
                </a:solidFill>
                <a:latin typeface="Calibri"/>
              </a:rPr>
              <a:t>H = 3.9258    p = 0.4161    ❌ Not Significant</a:t>
            </a:r>
          </a:p>
        </p:txBody>
      </p:sp>
      <p:sp>
        <p:nvSpPr>
          <p:cNvPr id="33" name="TextBox 32"/>
          <p:cNvSpPr txBox="1"/>
          <p:nvPr/>
        </p:nvSpPr>
        <p:spPr>
          <a:xfrm>
            <a:off x="6172200" y="3246120"/>
            <a:ext cx="3657600" cy="320040"/>
          </a:xfrm>
          <a:prstGeom prst="rect">
            <a:avLst/>
          </a:prstGeom>
          <a:noFill/>
        </p:spPr>
        <p:txBody>
          <a:bodyPr wrap="square">
            <a:spAutoFit/>
          </a:bodyPr>
          <a:lstStyle/>
          <a:p>
            <a:pPr algn="l"/>
            <a:r>
              <a:rPr sz="1100" b="1" i="0">
                <a:solidFill>
                  <a:srgbClr val="F5A623"/>
                </a:solidFill>
                <a:latin typeface="Calibri"/>
              </a:rPr>
              <a:t>Group Means:</a:t>
            </a:r>
          </a:p>
        </p:txBody>
      </p:sp>
      <p:sp>
        <p:nvSpPr>
          <p:cNvPr id="34" name="TextBox 33"/>
          <p:cNvSpPr txBox="1"/>
          <p:nvPr/>
        </p:nvSpPr>
        <p:spPr>
          <a:xfrm>
            <a:off x="6291072" y="3657600"/>
            <a:ext cx="5303520" cy="347472"/>
          </a:xfrm>
          <a:prstGeom prst="rect">
            <a:avLst/>
          </a:prstGeom>
          <a:noFill/>
        </p:spPr>
        <p:txBody>
          <a:bodyPr wrap="square">
            <a:spAutoFit/>
          </a:bodyPr>
          <a:lstStyle/>
          <a:p>
            <a:pPr algn="l"/>
            <a:r>
              <a:rPr sz="1150" b="0" i="0">
                <a:solidFill>
                  <a:srgbClr val="D0D7E3"/>
                </a:solidFill>
                <a:latin typeface="Calibri"/>
              </a:rPr>
              <a:t>Level 1:  2.950  (n=170)</a:t>
            </a:r>
          </a:p>
        </p:txBody>
      </p:sp>
      <p:sp>
        <p:nvSpPr>
          <p:cNvPr id="35" name="TextBox 34"/>
          <p:cNvSpPr txBox="1"/>
          <p:nvPr/>
        </p:nvSpPr>
        <p:spPr>
          <a:xfrm>
            <a:off x="6291072" y="4041648"/>
            <a:ext cx="5303520" cy="347472"/>
          </a:xfrm>
          <a:prstGeom prst="rect">
            <a:avLst/>
          </a:prstGeom>
          <a:noFill/>
        </p:spPr>
        <p:txBody>
          <a:bodyPr wrap="square">
            <a:spAutoFit/>
          </a:bodyPr>
          <a:lstStyle/>
          <a:p>
            <a:pPr algn="l"/>
            <a:r>
              <a:rPr sz="1150" b="0" i="0">
                <a:solidFill>
                  <a:srgbClr val="D0D7E3"/>
                </a:solidFill>
                <a:latin typeface="Calibri"/>
              </a:rPr>
              <a:t>Level 2:  3.029  (n=170)</a:t>
            </a:r>
          </a:p>
        </p:txBody>
      </p:sp>
      <p:sp>
        <p:nvSpPr>
          <p:cNvPr id="36" name="TextBox 35"/>
          <p:cNvSpPr txBox="1"/>
          <p:nvPr/>
        </p:nvSpPr>
        <p:spPr>
          <a:xfrm>
            <a:off x="6291072" y="4425696"/>
            <a:ext cx="5303520" cy="347472"/>
          </a:xfrm>
          <a:prstGeom prst="rect">
            <a:avLst/>
          </a:prstGeom>
          <a:noFill/>
        </p:spPr>
        <p:txBody>
          <a:bodyPr wrap="square">
            <a:spAutoFit/>
          </a:bodyPr>
          <a:lstStyle/>
          <a:p>
            <a:pPr algn="l"/>
            <a:r>
              <a:rPr sz="1150" b="1" i="0">
                <a:solidFill>
                  <a:srgbClr val="F5A623"/>
                </a:solidFill>
                <a:latin typeface="Calibri"/>
              </a:rPr>
              <a:t>Level 3:  3.132  (n=144)</a:t>
            </a:r>
          </a:p>
        </p:txBody>
      </p:sp>
      <p:sp>
        <p:nvSpPr>
          <p:cNvPr id="37" name="TextBox 36"/>
          <p:cNvSpPr txBox="1"/>
          <p:nvPr/>
        </p:nvSpPr>
        <p:spPr>
          <a:xfrm>
            <a:off x="6291072" y="4809744"/>
            <a:ext cx="5303520" cy="347472"/>
          </a:xfrm>
          <a:prstGeom prst="rect">
            <a:avLst/>
          </a:prstGeom>
          <a:noFill/>
        </p:spPr>
        <p:txBody>
          <a:bodyPr wrap="square">
            <a:spAutoFit/>
          </a:bodyPr>
          <a:lstStyle/>
          <a:p>
            <a:pPr algn="l"/>
            <a:r>
              <a:rPr sz="1150" b="0" i="0">
                <a:solidFill>
                  <a:srgbClr val="D0D7E3"/>
                </a:solidFill>
                <a:latin typeface="Calibri"/>
              </a:rPr>
              <a:t>Level 4:  2.962  (n=173)</a:t>
            </a:r>
          </a:p>
        </p:txBody>
      </p:sp>
      <p:sp>
        <p:nvSpPr>
          <p:cNvPr id="38" name="TextBox 37"/>
          <p:cNvSpPr txBox="1"/>
          <p:nvPr/>
        </p:nvSpPr>
        <p:spPr>
          <a:xfrm>
            <a:off x="6291072" y="5193792"/>
            <a:ext cx="5303520" cy="347472"/>
          </a:xfrm>
          <a:prstGeom prst="rect">
            <a:avLst/>
          </a:prstGeom>
          <a:noFill/>
        </p:spPr>
        <p:txBody>
          <a:bodyPr wrap="square">
            <a:spAutoFit/>
          </a:bodyPr>
          <a:lstStyle/>
          <a:p>
            <a:pPr algn="l"/>
            <a:r>
              <a:rPr sz="1150" b="0" i="0">
                <a:solidFill>
                  <a:srgbClr val="D0D7E3"/>
                </a:solidFill>
                <a:latin typeface="Calibri"/>
              </a:rPr>
              <a:t>Level 5:  2.976  (n=165)</a:t>
            </a:r>
          </a:p>
        </p:txBody>
      </p:sp>
      <p:sp>
        <p:nvSpPr>
          <p:cNvPr id="39" name="Rectangle 38"/>
          <p:cNvSpPr/>
          <p:nvPr/>
        </p:nvSpPr>
        <p:spPr>
          <a:xfrm>
            <a:off x="6080760" y="6217920"/>
            <a:ext cx="5623560" cy="548640"/>
          </a:xfrm>
          <a:prstGeom prst="rect">
            <a:avLst/>
          </a:prstGeom>
          <a:solidFill>
            <a:srgbClr val="1E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17920" y="6309359"/>
            <a:ext cx="5349240" cy="365759"/>
          </a:xfrm>
          <a:prstGeom prst="rect">
            <a:avLst/>
          </a:prstGeom>
          <a:noFill/>
        </p:spPr>
        <p:txBody>
          <a:bodyPr wrap="square">
            <a:spAutoFit/>
          </a:bodyPr>
          <a:lstStyle/>
          <a:p>
            <a:pPr algn="l"/>
            <a:r>
              <a:rPr sz="1000" b="0" i="0">
                <a:solidFill>
                  <a:srgbClr val="7EC8C8"/>
                </a:solidFill>
                <a:latin typeface="Courier New"/>
              </a:rPr>
              <a:t>H, p = kruskal(*[devs[devs['Environment_Satisfaction']
    ==i]['Motivation_Score'].values for i in range(1,6)])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INFERENTIAL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Test 3 &amp; 4 — Chi-Square &amp; Mann-Whitney U</a:t>
            </a:r>
          </a:p>
        </p:txBody>
      </p:sp>
      <p:sp>
        <p:nvSpPr>
          <p:cNvPr id="6" name="Rectangle 5"/>
          <p:cNvSpPr/>
          <p:nvPr/>
        </p:nvSpPr>
        <p:spPr>
          <a:xfrm>
            <a:off x="320040" y="1170432"/>
            <a:ext cx="11521440" cy="36576"/>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5943600" cy="51663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71600"/>
            <a:ext cx="5943600" cy="41148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5577840" cy="347472"/>
          </a:xfrm>
          <a:prstGeom prst="rect">
            <a:avLst/>
          </a:prstGeom>
          <a:noFill/>
        </p:spPr>
        <p:txBody>
          <a:bodyPr wrap="square">
            <a:spAutoFit/>
          </a:bodyPr>
          <a:lstStyle/>
          <a:p>
            <a:pPr algn="l"/>
            <a:r>
              <a:rPr sz="1200" b="1" i="0">
                <a:solidFill>
                  <a:srgbClr val="FFFFFF"/>
                </a:solidFill>
                <a:latin typeface="Calibri"/>
              </a:rPr>
              <a:t>✅ Chi-Square Test of Independence</a:t>
            </a:r>
          </a:p>
        </p:txBody>
      </p:sp>
      <p:sp>
        <p:nvSpPr>
          <p:cNvPr id="10" name="TextBox 9"/>
          <p:cNvSpPr txBox="1"/>
          <p:nvPr/>
        </p:nvSpPr>
        <p:spPr>
          <a:xfrm>
            <a:off x="502920" y="1901952"/>
            <a:ext cx="5577840" cy="320040"/>
          </a:xfrm>
          <a:prstGeom prst="rect">
            <a:avLst/>
          </a:prstGeom>
          <a:noFill/>
        </p:spPr>
        <p:txBody>
          <a:bodyPr wrap="square">
            <a:spAutoFit/>
          </a:bodyPr>
          <a:lstStyle/>
          <a:p>
            <a:pPr algn="l"/>
            <a:r>
              <a:rPr sz="1100" b="0" i="1">
                <a:solidFill>
                  <a:srgbClr val="D0D7E3"/>
                </a:solidFill>
                <a:latin typeface="Calibri"/>
              </a:rPr>
              <a:t>Env Satisfaction Level  vs  Attrition (Yes/No)</a:t>
            </a:r>
          </a:p>
        </p:txBody>
      </p:sp>
      <p:sp>
        <p:nvSpPr>
          <p:cNvPr id="11" name="Rectangle 10"/>
          <p:cNvSpPr/>
          <p:nvPr/>
        </p:nvSpPr>
        <p:spPr>
          <a:xfrm>
            <a:off x="457200" y="2331720"/>
            <a:ext cx="5669280" cy="685800"/>
          </a:xfrm>
          <a:prstGeom prst="rect">
            <a:avLst/>
          </a:prstGeom>
          <a:solidFill>
            <a:srgbClr val="06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423160"/>
            <a:ext cx="5486400" cy="457200"/>
          </a:xfrm>
          <a:prstGeom prst="rect">
            <a:avLst/>
          </a:prstGeom>
          <a:noFill/>
        </p:spPr>
        <p:txBody>
          <a:bodyPr wrap="square">
            <a:spAutoFit/>
          </a:bodyPr>
          <a:lstStyle/>
          <a:p>
            <a:pPr algn="l"/>
            <a:r>
              <a:rPr sz="1250" b="1" i="0">
                <a:solidFill>
                  <a:srgbClr val="2EA86B"/>
                </a:solidFill>
                <a:latin typeface="Calibri"/>
              </a:rPr>
              <a:t>χ² = 22.7088   df = 4   p = 0.000145  ✅ SIGNIFICANT</a:t>
            </a:r>
          </a:p>
        </p:txBody>
      </p:sp>
      <p:sp>
        <p:nvSpPr>
          <p:cNvPr id="13" name="Rectangle 12"/>
          <p:cNvSpPr/>
          <p:nvPr/>
        </p:nvSpPr>
        <p:spPr>
          <a:xfrm>
            <a:off x="457200" y="3154680"/>
            <a:ext cx="5669280" cy="347472"/>
          </a:xfrm>
          <a:prstGeom prst="rect">
            <a:avLst/>
          </a:prstGeom>
          <a:solidFill>
            <a:srgbClr val="00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200400"/>
            <a:ext cx="1325880" cy="274320"/>
          </a:xfrm>
          <a:prstGeom prst="rect">
            <a:avLst/>
          </a:prstGeom>
          <a:noFill/>
        </p:spPr>
        <p:txBody>
          <a:bodyPr wrap="square">
            <a:spAutoFit/>
          </a:bodyPr>
          <a:lstStyle/>
          <a:p>
            <a:pPr algn="l"/>
            <a:r>
              <a:rPr sz="1000" b="1" i="0">
                <a:solidFill>
                  <a:srgbClr val="FFFFFF"/>
                </a:solidFill>
                <a:latin typeface="Calibri"/>
              </a:rPr>
              <a:t>Env Level</a:t>
            </a:r>
          </a:p>
        </p:txBody>
      </p:sp>
      <p:sp>
        <p:nvSpPr>
          <p:cNvPr id="15" name="TextBox 14"/>
          <p:cNvSpPr txBox="1"/>
          <p:nvPr/>
        </p:nvSpPr>
        <p:spPr>
          <a:xfrm>
            <a:off x="1920240" y="3200400"/>
            <a:ext cx="1325880" cy="274320"/>
          </a:xfrm>
          <a:prstGeom prst="rect">
            <a:avLst/>
          </a:prstGeom>
          <a:noFill/>
        </p:spPr>
        <p:txBody>
          <a:bodyPr wrap="square">
            <a:spAutoFit/>
          </a:bodyPr>
          <a:lstStyle/>
          <a:p>
            <a:pPr algn="l"/>
            <a:r>
              <a:rPr sz="1000" b="1" i="0">
                <a:solidFill>
                  <a:srgbClr val="FFFFFF"/>
                </a:solidFill>
                <a:latin typeface="Calibri"/>
              </a:rPr>
              <a:t>Stayed</a:t>
            </a:r>
          </a:p>
        </p:txBody>
      </p:sp>
      <p:sp>
        <p:nvSpPr>
          <p:cNvPr id="16" name="TextBox 15"/>
          <p:cNvSpPr txBox="1"/>
          <p:nvPr/>
        </p:nvSpPr>
        <p:spPr>
          <a:xfrm>
            <a:off x="3291840" y="3200400"/>
            <a:ext cx="1325880" cy="274320"/>
          </a:xfrm>
          <a:prstGeom prst="rect">
            <a:avLst/>
          </a:prstGeom>
          <a:noFill/>
        </p:spPr>
        <p:txBody>
          <a:bodyPr wrap="square">
            <a:spAutoFit/>
          </a:bodyPr>
          <a:lstStyle/>
          <a:p>
            <a:pPr algn="l"/>
            <a:r>
              <a:rPr sz="1000" b="1" i="0">
                <a:solidFill>
                  <a:srgbClr val="FFFFFF"/>
                </a:solidFill>
                <a:latin typeface="Calibri"/>
              </a:rPr>
              <a:t>Left</a:t>
            </a:r>
          </a:p>
        </p:txBody>
      </p:sp>
      <p:sp>
        <p:nvSpPr>
          <p:cNvPr id="17" name="TextBox 16"/>
          <p:cNvSpPr txBox="1"/>
          <p:nvPr/>
        </p:nvSpPr>
        <p:spPr>
          <a:xfrm>
            <a:off x="4343400" y="3200400"/>
            <a:ext cx="1325880" cy="274320"/>
          </a:xfrm>
          <a:prstGeom prst="rect">
            <a:avLst/>
          </a:prstGeom>
          <a:noFill/>
        </p:spPr>
        <p:txBody>
          <a:bodyPr wrap="square">
            <a:spAutoFit/>
          </a:bodyPr>
          <a:lstStyle/>
          <a:p>
            <a:pPr algn="l"/>
            <a:r>
              <a:rPr sz="1000" b="1" i="0">
                <a:solidFill>
                  <a:srgbClr val="FFFFFF"/>
                </a:solidFill>
                <a:latin typeface="Calibri"/>
              </a:rPr>
              <a:t>Attrition%</a:t>
            </a:r>
          </a:p>
        </p:txBody>
      </p:sp>
      <p:sp>
        <p:nvSpPr>
          <p:cNvPr id="18" name="Rectangle 17"/>
          <p:cNvSpPr/>
          <p:nvPr/>
        </p:nvSpPr>
        <p:spPr>
          <a:xfrm>
            <a:off x="457200" y="3566160"/>
            <a:ext cx="5669280" cy="365760"/>
          </a:xfrm>
          <a:prstGeom prst="rect">
            <a:avLst/>
          </a:prstGeom>
          <a:solidFill>
            <a:srgbClr val="08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602736"/>
            <a:ext cx="1417320" cy="292608"/>
          </a:xfrm>
          <a:prstGeom prst="rect">
            <a:avLst/>
          </a:prstGeom>
          <a:noFill/>
        </p:spPr>
        <p:txBody>
          <a:bodyPr wrap="square">
            <a:spAutoFit/>
          </a:bodyPr>
          <a:lstStyle/>
          <a:p>
            <a:pPr algn="l"/>
            <a:r>
              <a:rPr sz="1000" b="0" i="0">
                <a:solidFill>
                  <a:srgbClr val="D0D7E3"/>
                </a:solidFill>
                <a:latin typeface="Calibri"/>
              </a:rPr>
              <a:t>1 — Very Low</a:t>
            </a:r>
          </a:p>
        </p:txBody>
      </p:sp>
      <p:sp>
        <p:nvSpPr>
          <p:cNvPr id="20" name="TextBox 19"/>
          <p:cNvSpPr txBox="1"/>
          <p:nvPr/>
        </p:nvSpPr>
        <p:spPr>
          <a:xfrm>
            <a:off x="1920240" y="3602736"/>
            <a:ext cx="1188720" cy="292608"/>
          </a:xfrm>
          <a:prstGeom prst="rect">
            <a:avLst/>
          </a:prstGeom>
          <a:noFill/>
        </p:spPr>
        <p:txBody>
          <a:bodyPr wrap="square">
            <a:spAutoFit/>
          </a:bodyPr>
          <a:lstStyle/>
          <a:p>
            <a:pPr algn="l"/>
            <a:r>
              <a:rPr sz="1000" b="0" i="0">
                <a:solidFill>
                  <a:srgbClr val="D0D7E3"/>
                </a:solidFill>
                <a:latin typeface="Calibri"/>
              </a:rPr>
              <a:t>124</a:t>
            </a:r>
          </a:p>
        </p:txBody>
      </p:sp>
      <p:sp>
        <p:nvSpPr>
          <p:cNvPr id="21" name="TextBox 20"/>
          <p:cNvSpPr txBox="1"/>
          <p:nvPr/>
        </p:nvSpPr>
        <p:spPr>
          <a:xfrm>
            <a:off x="3291840" y="3602736"/>
            <a:ext cx="1005840" cy="292608"/>
          </a:xfrm>
          <a:prstGeom prst="rect">
            <a:avLst/>
          </a:prstGeom>
          <a:noFill/>
        </p:spPr>
        <p:txBody>
          <a:bodyPr wrap="square">
            <a:spAutoFit/>
          </a:bodyPr>
          <a:lstStyle/>
          <a:p>
            <a:pPr algn="l"/>
            <a:r>
              <a:rPr sz="1000" b="0" i="0">
                <a:solidFill>
                  <a:srgbClr val="D0D7E3"/>
                </a:solidFill>
                <a:latin typeface="Calibri"/>
              </a:rPr>
              <a:t>46</a:t>
            </a:r>
          </a:p>
        </p:txBody>
      </p:sp>
      <p:sp>
        <p:nvSpPr>
          <p:cNvPr id="22" name="TextBox 21"/>
          <p:cNvSpPr txBox="1"/>
          <p:nvPr/>
        </p:nvSpPr>
        <p:spPr>
          <a:xfrm>
            <a:off x="4343400" y="3602736"/>
            <a:ext cx="1005840" cy="292608"/>
          </a:xfrm>
          <a:prstGeom prst="rect">
            <a:avLst/>
          </a:prstGeom>
          <a:noFill/>
        </p:spPr>
        <p:txBody>
          <a:bodyPr wrap="square">
            <a:spAutoFit/>
          </a:bodyPr>
          <a:lstStyle/>
          <a:p>
            <a:pPr algn="l"/>
            <a:r>
              <a:rPr sz="1100" b="1" i="0">
                <a:solidFill>
                  <a:srgbClr val="E83A3A"/>
                </a:solidFill>
                <a:latin typeface="Calibri"/>
              </a:rPr>
              <a:t>27.1%</a:t>
            </a:r>
          </a:p>
        </p:txBody>
      </p:sp>
      <p:sp>
        <p:nvSpPr>
          <p:cNvPr id="23" name="Rectangle 22"/>
          <p:cNvSpPr/>
          <p:nvPr/>
        </p:nvSpPr>
        <p:spPr>
          <a:xfrm>
            <a:off x="457200" y="3950208"/>
            <a:ext cx="5669280" cy="365760"/>
          </a:xfrm>
          <a:prstGeom prst="rect">
            <a:avLst/>
          </a:prstGeom>
          <a:solidFill>
            <a:srgbClr val="0A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986784"/>
            <a:ext cx="1417320" cy="292608"/>
          </a:xfrm>
          <a:prstGeom prst="rect">
            <a:avLst/>
          </a:prstGeom>
          <a:noFill/>
        </p:spPr>
        <p:txBody>
          <a:bodyPr wrap="square">
            <a:spAutoFit/>
          </a:bodyPr>
          <a:lstStyle/>
          <a:p>
            <a:pPr algn="l"/>
            <a:r>
              <a:rPr sz="1000" b="0" i="0">
                <a:solidFill>
                  <a:srgbClr val="D0D7E3"/>
                </a:solidFill>
                <a:latin typeface="Calibri"/>
              </a:rPr>
              <a:t>2 — Low</a:t>
            </a:r>
          </a:p>
        </p:txBody>
      </p:sp>
      <p:sp>
        <p:nvSpPr>
          <p:cNvPr id="25" name="TextBox 24"/>
          <p:cNvSpPr txBox="1"/>
          <p:nvPr/>
        </p:nvSpPr>
        <p:spPr>
          <a:xfrm>
            <a:off x="1920240" y="3986784"/>
            <a:ext cx="1188720" cy="292608"/>
          </a:xfrm>
          <a:prstGeom prst="rect">
            <a:avLst/>
          </a:prstGeom>
          <a:noFill/>
        </p:spPr>
        <p:txBody>
          <a:bodyPr wrap="square">
            <a:spAutoFit/>
          </a:bodyPr>
          <a:lstStyle/>
          <a:p>
            <a:pPr algn="l"/>
            <a:r>
              <a:rPr sz="1000" b="0" i="0">
                <a:solidFill>
                  <a:srgbClr val="D0D7E3"/>
                </a:solidFill>
                <a:latin typeface="Calibri"/>
              </a:rPr>
              <a:t>118</a:t>
            </a:r>
          </a:p>
        </p:txBody>
      </p:sp>
      <p:sp>
        <p:nvSpPr>
          <p:cNvPr id="26" name="TextBox 25"/>
          <p:cNvSpPr txBox="1"/>
          <p:nvPr/>
        </p:nvSpPr>
        <p:spPr>
          <a:xfrm>
            <a:off x="3291840" y="3986784"/>
            <a:ext cx="1005840" cy="292608"/>
          </a:xfrm>
          <a:prstGeom prst="rect">
            <a:avLst/>
          </a:prstGeom>
          <a:noFill/>
        </p:spPr>
        <p:txBody>
          <a:bodyPr wrap="square">
            <a:spAutoFit/>
          </a:bodyPr>
          <a:lstStyle/>
          <a:p>
            <a:pPr algn="l"/>
            <a:r>
              <a:rPr sz="1000" b="0" i="0">
                <a:solidFill>
                  <a:srgbClr val="D0D7E3"/>
                </a:solidFill>
                <a:latin typeface="Calibri"/>
              </a:rPr>
              <a:t>52</a:t>
            </a:r>
          </a:p>
        </p:txBody>
      </p:sp>
      <p:sp>
        <p:nvSpPr>
          <p:cNvPr id="27" name="TextBox 26"/>
          <p:cNvSpPr txBox="1"/>
          <p:nvPr/>
        </p:nvSpPr>
        <p:spPr>
          <a:xfrm>
            <a:off x="4343400" y="3986784"/>
            <a:ext cx="1005840" cy="292608"/>
          </a:xfrm>
          <a:prstGeom prst="rect">
            <a:avLst/>
          </a:prstGeom>
          <a:noFill/>
        </p:spPr>
        <p:txBody>
          <a:bodyPr wrap="square">
            <a:spAutoFit/>
          </a:bodyPr>
          <a:lstStyle/>
          <a:p>
            <a:pPr algn="l"/>
            <a:r>
              <a:rPr sz="1100" b="1" i="0">
                <a:solidFill>
                  <a:srgbClr val="E83A3A"/>
                </a:solidFill>
                <a:latin typeface="Calibri"/>
              </a:rPr>
              <a:t>30.6%</a:t>
            </a:r>
          </a:p>
        </p:txBody>
      </p:sp>
      <p:sp>
        <p:nvSpPr>
          <p:cNvPr id="28" name="Rectangle 27"/>
          <p:cNvSpPr/>
          <p:nvPr/>
        </p:nvSpPr>
        <p:spPr>
          <a:xfrm>
            <a:off x="457200" y="4334256"/>
            <a:ext cx="5669280" cy="365760"/>
          </a:xfrm>
          <a:prstGeom prst="rect">
            <a:avLst/>
          </a:prstGeom>
          <a:solidFill>
            <a:srgbClr val="08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4370832"/>
            <a:ext cx="1417320" cy="292608"/>
          </a:xfrm>
          <a:prstGeom prst="rect">
            <a:avLst/>
          </a:prstGeom>
          <a:noFill/>
        </p:spPr>
        <p:txBody>
          <a:bodyPr wrap="square">
            <a:spAutoFit/>
          </a:bodyPr>
          <a:lstStyle/>
          <a:p>
            <a:pPr algn="l"/>
            <a:r>
              <a:rPr sz="1000" b="0" i="0">
                <a:solidFill>
                  <a:srgbClr val="D0D7E3"/>
                </a:solidFill>
                <a:latin typeface="Calibri"/>
              </a:rPr>
              <a:t>3 — Medium</a:t>
            </a:r>
          </a:p>
        </p:txBody>
      </p:sp>
      <p:sp>
        <p:nvSpPr>
          <p:cNvPr id="30" name="TextBox 29"/>
          <p:cNvSpPr txBox="1"/>
          <p:nvPr/>
        </p:nvSpPr>
        <p:spPr>
          <a:xfrm>
            <a:off x="1920240" y="4370832"/>
            <a:ext cx="1188720" cy="292608"/>
          </a:xfrm>
          <a:prstGeom prst="rect">
            <a:avLst/>
          </a:prstGeom>
          <a:noFill/>
        </p:spPr>
        <p:txBody>
          <a:bodyPr wrap="square">
            <a:spAutoFit/>
          </a:bodyPr>
          <a:lstStyle/>
          <a:p>
            <a:pPr algn="l"/>
            <a:r>
              <a:rPr sz="1000" b="0" i="0">
                <a:solidFill>
                  <a:srgbClr val="D0D7E3"/>
                </a:solidFill>
                <a:latin typeface="Calibri"/>
              </a:rPr>
              <a:t>109</a:t>
            </a:r>
          </a:p>
        </p:txBody>
      </p:sp>
      <p:sp>
        <p:nvSpPr>
          <p:cNvPr id="31" name="TextBox 30"/>
          <p:cNvSpPr txBox="1"/>
          <p:nvPr/>
        </p:nvSpPr>
        <p:spPr>
          <a:xfrm>
            <a:off x="3291840" y="4370832"/>
            <a:ext cx="1005840" cy="292608"/>
          </a:xfrm>
          <a:prstGeom prst="rect">
            <a:avLst/>
          </a:prstGeom>
          <a:noFill/>
        </p:spPr>
        <p:txBody>
          <a:bodyPr wrap="square">
            <a:spAutoFit/>
          </a:bodyPr>
          <a:lstStyle/>
          <a:p>
            <a:pPr algn="l"/>
            <a:r>
              <a:rPr sz="1000" b="0" i="0">
                <a:solidFill>
                  <a:srgbClr val="D0D7E3"/>
                </a:solidFill>
                <a:latin typeface="Calibri"/>
              </a:rPr>
              <a:t>35</a:t>
            </a:r>
          </a:p>
        </p:txBody>
      </p:sp>
      <p:sp>
        <p:nvSpPr>
          <p:cNvPr id="32" name="TextBox 31"/>
          <p:cNvSpPr txBox="1"/>
          <p:nvPr/>
        </p:nvSpPr>
        <p:spPr>
          <a:xfrm>
            <a:off x="4343400" y="4370832"/>
            <a:ext cx="1005840" cy="292608"/>
          </a:xfrm>
          <a:prstGeom prst="rect">
            <a:avLst/>
          </a:prstGeom>
          <a:noFill/>
        </p:spPr>
        <p:txBody>
          <a:bodyPr wrap="square">
            <a:spAutoFit/>
          </a:bodyPr>
          <a:lstStyle/>
          <a:p>
            <a:pPr algn="l"/>
            <a:r>
              <a:rPr sz="1100" b="1" i="0">
                <a:solidFill>
                  <a:srgbClr val="E88A00"/>
                </a:solidFill>
                <a:latin typeface="Calibri"/>
              </a:rPr>
              <a:t>24.3%</a:t>
            </a:r>
          </a:p>
        </p:txBody>
      </p:sp>
      <p:sp>
        <p:nvSpPr>
          <p:cNvPr id="33" name="Rectangle 32"/>
          <p:cNvSpPr/>
          <p:nvPr/>
        </p:nvSpPr>
        <p:spPr>
          <a:xfrm>
            <a:off x="457200" y="4718304"/>
            <a:ext cx="5669280" cy="365760"/>
          </a:xfrm>
          <a:prstGeom prst="rect">
            <a:avLst/>
          </a:prstGeom>
          <a:solidFill>
            <a:srgbClr val="0A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4754880"/>
            <a:ext cx="1417320" cy="292608"/>
          </a:xfrm>
          <a:prstGeom prst="rect">
            <a:avLst/>
          </a:prstGeom>
          <a:noFill/>
        </p:spPr>
        <p:txBody>
          <a:bodyPr wrap="square">
            <a:spAutoFit/>
          </a:bodyPr>
          <a:lstStyle/>
          <a:p>
            <a:pPr algn="l"/>
            <a:r>
              <a:rPr sz="1000" b="0" i="0">
                <a:solidFill>
                  <a:srgbClr val="D0D7E3"/>
                </a:solidFill>
                <a:latin typeface="Calibri"/>
              </a:rPr>
              <a:t>4 — High</a:t>
            </a:r>
          </a:p>
        </p:txBody>
      </p:sp>
      <p:sp>
        <p:nvSpPr>
          <p:cNvPr id="35" name="TextBox 34"/>
          <p:cNvSpPr txBox="1"/>
          <p:nvPr/>
        </p:nvSpPr>
        <p:spPr>
          <a:xfrm>
            <a:off x="1920240" y="4754880"/>
            <a:ext cx="1188720" cy="292608"/>
          </a:xfrm>
          <a:prstGeom prst="rect">
            <a:avLst/>
          </a:prstGeom>
          <a:noFill/>
        </p:spPr>
        <p:txBody>
          <a:bodyPr wrap="square">
            <a:spAutoFit/>
          </a:bodyPr>
          <a:lstStyle/>
          <a:p>
            <a:pPr algn="l"/>
            <a:r>
              <a:rPr sz="1000" b="0" i="0">
                <a:solidFill>
                  <a:srgbClr val="D0D7E3"/>
                </a:solidFill>
                <a:latin typeface="Calibri"/>
              </a:rPr>
              <a:t>151</a:t>
            </a:r>
          </a:p>
        </p:txBody>
      </p:sp>
      <p:sp>
        <p:nvSpPr>
          <p:cNvPr id="36" name="TextBox 35"/>
          <p:cNvSpPr txBox="1"/>
          <p:nvPr/>
        </p:nvSpPr>
        <p:spPr>
          <a:xfrm>
            <a:off x="3291840" y="4754880"/>
            <a:ext cx="1005840" cy="292608"/>
          </a:xfrm>
          <a:prstGeom prst="rect">
            <a:avLst/>
          </a:prstGeom>
          <a:noFill/>
        </p:spPr>
        <p:txBody>
          <a:bodyPr wrap="square">
            <a:spAutoFit/>
          </a:bodyPr>
          <a:lstStyle/>
          <a:p>
            <a:pPr algn="l"/>
            <a:r>
              <a:rPr sz="1000" b="0" i="0">
                <a:solidFill>
                  <a:srgbClr val="D0D7E3"/>
                </a:solidFill>
                <a:latin typeface="Calibri"/>
              </a:rPr>
              <a:t>22</a:t>
            </a:r>
          </a:p>
        </p:txBody>
      </p:sp>
      <p:sp>
        <p:nvSpPr>
          <p:cNvPr id="37" name="TextBox 36"/>
          <p:cNvSpPr txBox="1"/>
          <p:nvPr/>
        </p:nvSpPr>
        <p:spPr>
          <a:xfrm>
            <a:off x="4343400" y="4754880"/>
            <a:ext cx="1005840" cy="292608"/>
          </a:xfrm>
          <a:prstGeom prst="rect">
            <a:avLst/>
          </a:prstGeom>
          <a:noFill/>
        </p:spPr>
        <p:txBody>
          <a:bodyPr wrap="square">
            <a:spAutoFit/>
          </a:bodyPr>
          <a:lstStyle/>
          <a:p>
            <a:pPr algn="l"/>
            <a:r>
              <a:rPr sz="1100" b="1" i="0">
                <a:solidFill>
                  <a:srgbClr val="2EA86B"/>
                </a:solidFill>
                <a:latin typeface="Calibri"/>
              </a:rPr>
              <a:t>12.7%</a:t>
            </a:r>
          </a:p>
        </p:txBody>
      </p:sp>
      <p:sp>
        <p:nvSpPr>
          <p:cNvPr id="38" name="Rectangle 37"/>
          <p:cNvSpPr/>
          <p:nvPr/>
        </p:nvSpPr>
        <p:spPr>
          <a:xfrm>
            <a:off x="457200" y="5102352"/>
            <a:ext cx="5669280" cy="365760"/>
          </a:xfrm>
          <a:prstGeom prst="rect">
            <a:avLst/>
          </a:prstGeom>
          <a:solidFill>
            <a:srgbClr val="08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138928"/>
            <a:ext cx="1417320" cy="292608"/>
          </a:xfrm>
          <a:prstGeom prst="rect">
            <a:avLst/>
          </a:prstGeom>
          <a:noFill/>
        </p:spPr>
        <p:txBody>
          <a:bodyPr wrap="square">
            <a:spAutoFit/>
          </a:bodyPr>
          <a:lstStyle/>
          <a:p>
            <a:pPr algn="l"/>
            <a:r>
              <a:rPr sz="1000" b="0" i="0">
                <a:solidFill>
                  <a:srgbClr val="D0D7E3"/>
                </a:solidFill>
                <a:latin typeface="Calibri"/>
              </a:rPr>
              <a:t>5 — Very High</a:t>
            </a:r>
          </a:p>
        </p:txBody>
      </p:sp>
      <p:sp>
        <p:nvSpPr>
          <p:cNvPr id="40" name="TextBox 39"/>
          <p:cNvSpPr txBox="1"/>
          <p:nvPr/>
        </p:nvSpPr>
        <p:spPr>
          <a:xfrm>
            <a:off x="1920240" y="5138928"/>
            <a:ext cx="1188720" cy="292608"/>
          </a:xfrm>
          <a:prstGeom prst="rect">
            <a:avLst/>
          </a:prstGeom>
          <a:noFill/>
        </p:spPr>
        <p:txBody>
          <a:bodyPr wrap="square">
            <a:spAutoFit/>
          </a:bodyPr>
          <a:lstStyle/>
          <a:p>
            <a:pPr algn="l"/>
            <a:r>
              <a:rPr sz="1000" b="0" i="0">
                <a:solidFill>
                  <a:srgbClr val="D0D7E3"/>
                </a:solidFill>
                <a:latin typeface="Calibri"/>
              </a:rPr>
              <a:t>139</a:t>
            </a:r>
          </a:p>
        </p:txBody>
      </p:sp>
      <p:sp>
        <p:nvSpPr>
          <p:cNvPr id="41" name="TextBox 40"/>
          <p:cNvSpPr txBox="1"/>
          <p:nvPr/>
        </p:nvSpPr>
        <p:spPr>
          <a:xfrm>
            <a:off x="3291840" y="5138928"/>
            <a:ext cx="1005840" cy="292608"/>
          </a:xfrm>
          <a:prstGeom prst="rect">
            <a:avLst/>
          </a:prstGeom>
          <a:noFill/>
        </p:spPr>
        <p:txBody>
          <a:bodyPr wrap="square">
            <a:spAutoFit/>
          </a:bodyPr>
          <a:lstStyle/>
          <a:p>
            <a:pPr algn="l"/>
            <a:r>
              <a:rPr sz="1000" b="0" i="0">
                <a:solidFill>
                  <a:srgbClr val="D0D7E3"/>
                </a:solidFill>
                <a:latin typeface="Calibri"/>
              </a:rPr>
              <a:t>26</a:t>
            </a:r>
          </a:p>
        </p:txBody>
      </p:sp>
      <p:sp>
        <p:nvSpPr>
          <p:cNvPr id="42" name="TextBox 41"/>
          <p:cNvSpPr txBox="1"/>
          <p:nvPr/>
        </p:nvSpPr>
        <p:spPr>
          <a:xfrm>
            <a:off x="4343400" y="5138928"/>
            <a:ext cx="1005840" cy="292608"/>
          </a:xfrm>
          <a:prstGeom prst="rect">
            <a:avLst/>
          </a:prstGeom>
          <a:noFill/>
        </p:spPr>
        <p:txBody>
          <a:bodyPr wrap="square">
            <a:spAutoFit/>
          </a:bodyPr>
          <a:lstStyle/>
          <a:p>
            <a:pPr algn="l"/>
            <a:r>
              <a:rPr sz="1100" b="1" i="0">
                <a:solidFill>
                  <a:srgbClr val="2EA86B"/>
                </a:solidFill>
                <a:latin typeface="Calibri"/>
              </a:rPr>
              <a:t>15.8%</a:t>
            </a:r>
          </a:p>
        </p:txBody>
      </p:sp>
      <p:sp>
        <p:nvSpPr>
          <p:cNvPr id="43" name="Rectangle 42"/>
          <p:cNvSpPr/>
          <p:nvPr/>
        </p:nvSpPr>
        <p:spPr>
          <a:xfrm>
            <a:off x="457200" y="6172200"/>
            <a:ext cx="5669280" cy="548640"/>
          </a:xfrm>
          <a:prstGeom prst="rect">
            <a:avLst/>
          </a:prstGeom>
          <a:solidFill>
            <a:srgbClr val="1E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94360" y="6181345"/>
            <a:ext cx="5394960" cy="365759"/>
          </a:xfrm>
          <a:prstGeom prst="rect">
            <a:avLst/>
          </a:prstGeom>
          <a:noFill/>
        </p:spPr>
        <p:txBody>
          <a:bodyPr wrap="square">
            <a:spAutoFit/>
          </a:bodyPr>
          <a:lstStyle/>
          <a:p>
            <a:pPr algn="l"/>
            <a:r>
              <a:rPr sz="1000" b="0" i="0">
                <a:solidFill>
                  <a:srgbClr val="7EC8C8"/>
                </a:solidFill>
                <a:latin typeface="Courier New"/>
              </a:rPr>
              <a:t>ct = pd.crosstab(devs['Environment_Satisfaction'],
               devs['Attrition'])
chi2, p, dof, exp = chi2_contingency(ct)</a:t>
            </a:r>
          </a:p>
        </p:txBody>
      </p:sp>
      <p:sp>
        <p:nvSpPr>
          <p:cNvPr id="45" name="Rectangle 44"/>
          <p:cNvSpPr/>
          <p:nvPr/>
        </p:nvSpPr>
        <p:spPr>
          <a:xfrm>
            <a:off x="6537960" y="1371600"/>
            <a:ext cx="5303520" cy="51663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537960" y="1371600"/>
            <a:ext cx="5303520" cy="411480"/>
          </a:xfrm>
          <a:prstGeom prst="rect">
            <a:avLst/>
          </a:prstGeom>
          <a:solidFill>
            <a:srgbClr val="6B7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20840" y="1417320"/>
            <a:ext cx="4937760" cy="347472"/>
          </a:xfrm>
          <a:prstGeom prst="rect">
            <a:avLst/>
          </a:prstGeom>
          <a:noFill/>
        </p:spPr>
        <p:txBody>
          <a:bodyPr wrap="square">
            <a:spAutoFit/>
          </a:bodyPr>
          <a:lstStyle/>
          <a:p>
            <a:pPr algn="l"/>
            <a:r>
              <a:rPr sz="1200" b="1" i="0">
                <a:solidFill>
                  <a:srgbClr val="FFFFFF"/>
                </a:solidFill>
                <a:latin typeface="Calibri"/>
              </a:rPr>
              <a:t>❌ Mann-Whitney U Test</a:t>
            </a:r>
          </a:p>
        </p:txBody>
      </p:sp>
      <p:sp>
        <p:nvSpPr>
          <p:cNvPr id="48" name="TextBox 47"/>
          <p:cNvSpPr txBox="1"/>
          <p:nvPr/>
        </p:nvSpPr>
        <p:spPr>
          <a:xfrm>
            <a:off x="6720840" y="1901952"/>
            <a:ext cx="4937760" cy="320040"/>
          </a:xfrm>
          <a:prstGeom prst="rect">
            <a:avLst/>
          </a:prstGeom>
          <a:noFill/>
        </p:spPr>
        <p:txBody>
          <a:bodyPr wrap="square">
            <a:spAutoFit/>
          </a:bodyPr>
          <a:lstStyle/>
          <a:p>
            <a:pPr algn="l"/>
            <a:r>
              <a:rPr sz="1100" b="0" i="1">
                <a:solidFill>
                  <a:srgbClr val="D0D7E3"/>
                </a:solidFill>
                <a:latin typeface="Calibri"/>
              </a:rPr>
              <a:t>Low Env (1–2) vs High Env (4–5) Motivation Score</a:t>
            </a:r>
          </a:p>
        </p:txBody>
      </p:sp>
      <p:sp>
        <p:nvSpPr>
          <p:cNvPr id="49" name="Rectangle 48"/>
          <p:cNvSpPr/>
          <p:nvPr/>
        </p:nvSpPr>
        <p:spPr>
          <a:xfrm>
            <a:off x="6675120" y="2331720"/>
            <a:ext cx="5029200" cy="685800"/>
          </a:xfrm>
          <a:prstGeom prst="rect">
            <a:avLst/>
          </a:prstGeom>
          <a:solidFill>
            <a:srgbClr val="18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766560" y="2423160"/>
            <a:ext cx="4846320" cy="457200"/>
          </a:xfrm>
          <a:prstGeom prst="rect">
            <a:avLst/>
          </a:prstGeom>
          <a:noFill/>
        </p:spPr>
        <p:txBody>
          <a:bodyPr wrap="square">
            <a:spAutoFit/>
          </a:bodyPr>
          <a:lstStyle/>
          <a:p>
            <a:pPr algn="l"/>
            <a:r>
              <a:rPr sz="1200" b="1" i="0">
                <a:solidFill>
                  <a:srgbClr val="6B7A99"/>
                </a:solidFill>
                <a:latin typeface="Calibri"/>
              </a:rPr>
              <a:t>U = 57,910.5   p = 0.5709  ❌ Not Significant</a:t>
            </a:r>
          </a:p>
        </p:txBody>
      </p:sp>
      <p:sp>
        <p:nvSpPr>
          <p:cNvPr id="51" name="Rectangle 50"/>
          <p:cNvSpPr/>
          <p:nvPr/>
        </p:nvSpPr>
        <p:spPr>
          <a:xfrm>
            <a:off x="6675120" y="3154680"/>
            <a:ext cx="5029200" cy="96012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12280" y="3246120"/>
            <a:ext cx="3657600" cy="320040"/>
          </a:xfrm>
          <a:prstGeom prst="rect">
            <a:avLst/>
          </a:prstGeom>
          <a:noFill/>
        </p:spPr>
        <p:txBody>
          <a:bodyPr wrap="square">
            <a:spAutoFit/>
          </a:bodyPr>
          <a:lstStyle/>
          <a:p>
            <a:pPr algn="l"/>
            <a:r>
              <a:rPr sz="1200" b="0" i="0">
                <a:solidFill>
                  <a:srgbClr val="D0D7E3"/>
                </a:solidFill>
                <a:latin typeface="Calibri"/>
              </a:rPr>
              <a:t>Low Env mean motivation:</a:t>
            </a:r>
          </a:p>
        </p:txBody>
      </p:sp>
      <p:sp>
        <p:nvSpPr>
          <p:cNvPr id="53" name="TextBox 52"/>
          <p:cNvSpPr txBox="1"/>
          <p:nvPr/>
        </p:nvSpPr>
        <p:spPr>
          <a:xfrm>
            <a:off x="9372600" y="3218688"/>
            <a:ext cx="2103120" cy="411480"/>
          </a:xfrm>
          <a:prstGeom prst="rect">
            <a:avLst/>
          </a:prstGeom>
          <a:noFill/>
        </p:spPr>
        <p:txBody>
          <a:bodyPr wrap="square">
            <a:spAutoFit/>
          </a:bodyPr>
          <a:lstStyle/>
          <a:p>
            <a:pPr algn="l"/>
            <a:r>
              <a:rPr sz="2000" b="1" i="0">
                <a:solidFill>
                  <a:srgbClr val="E83A3A"/>
                </a:solidFill>
                <a:latin typeface="Calibri"/>
              </a:rPr>
              <a:t>2.990</a:t>
            </a:r>
          </a:p>
        </p:txBody>
      </p:sp>
      <p:sp>
        <p:nvSpPr>
          <p:cNvPr id="54" name="TextBox 53"/>
          <p:cNvSpPr txBox="1"/>
          <p:nvPr/>
        </p:nvSpPr>
        <p:spPr>
          <a:xfrm>
            <a:off x="6812280" y="3703320"/>
            <a:ext cx="3657600" cy="320040"/>
          </a:xfrm>
          <a:prstGeom prst="rect">
            <a:avLst/>
          </a:prstGeom>
          <a:noFill/>
        </p:spPr>
        <p:txBody>
          <a:bodyPr wrap="square">
            <a:spAutoFit/>
          </a:bodyPr>
          <a:lstStyle/>
          <a:p>
            <a:pPr algn="l"/>
            <a:r>
              <a:rPr sz="1200" b="0" i="0">
                <a:solidFill>
                  <a:srgbClr val="D0D7E3"/>
                </a:solidFill>
                <a:latin typeface="Calibri"/>
              </a:rPr>
              <a:t>High Env mean motivation:</a:t>
            </a:r>
          </a:p>
        </p:txBody>
      </p:sp>
      <p:sp>
        <p:nvSpPr>
          <p:cNvPr id="55" name="TextBox 54"/>
          <p:cNvSpPr txBox="1"/>
          <p:nvPr/>
        </p:nvSpPr>
        <p:spPr>
          <a:xfrm>
            <a:off x="9372600" y="3675887"/>
            <a:ext cx="2103120" cy="411480"/>
          </a:xfrm>
          <a:prstGeom prst="rect">
            <a:avLst/>
          </a:prstGeom>
          <a:noFill/>
        </p:spPr>
        <p:txBody>
          <a:bodyPr wrap="square">
            <a:spAutoFit/>
          </a:bodyPr>
          <a:lstStyle/>
          <a:p>
            <a:pPr algn="l"/>
            <a:r>
              <a:rPr sz="2000" b="1" i="0">
                <a:solidFill>
                  <a:srgbClr val="2EA86B"/>
                </a:solidFill>
                <a:latin typeface="Calibri"/>
              </a:rPr>
              <a:t>2.969</a:t>
            </a:r>
          </a:p>
        </p:txBody>
      </p:sp>
      <p:sp>
        <p:nvSpPr>
          <p:cNvPr id="56" name="TextBox 55"/>
          <p:cNvSpPr txBox="1"/>
          <p:nvPr/>
        </p:nvSpPr>
        <p:spPr>
          <a:xfrm>
            <a:off x="6720840" y="4251960"/>
            <a:ext cx="5029200" cy="914400"/>
          </a:xfrm>
          <a:prstGeom prst="rect">
            <a:avLst/>
          </a:prstGeom>
          <a:noFill/>
        </p:spPr>
        <p:txBody>
          <a:bodyPr wrap="square">
            <a:spAutoFit/>
          </a:bodyPr>
          <a:lstStyle/>
          <a:p>
            <a:pPr algn="l"/>
            <a:r>
              <a:rPr sz="1100" b="0" i="1">
                <a:solidFill>
                  <a:srgbClr val="D0D7E3"/>
                </a:solidFill>
                <a:latin typeface="Calibri"/>
              </a:rPr>
              <a:t>Difference of only 0.021 — not statistically significant.
Self-reported motivation does not shift meaningfully
between low and high environments.</a:t>
            </a:r>
          </a:p>
        </p:txBody>
      </p:sp>
      <p:sp>
        <p:nvSpPr>
          <p:cNvPr id="57" name="Rectangle 56"/>
          <p:cNvSpPr/>
          <p:nvPr/>
        </p:nvSpPr>
        <p:spPr>
          <a:xfrm>
            <a:off x="6629400" y="6172200"/>
            <a:ext cx="5120640" cy="548640"/>
          </a:xfrm>
          <a:prstGeom prst="rect">
            <a:avLst/>
          </a:prstGeom>
          <a:solidFill>
            <a:srgbClr val="1E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766560" y="6263640"/>
            <a:ext cx="4846320" cy="365759"/>
          </a:xfrm>
          <a:prstGeom prst="rect">
            <a:avLst/>
          </a:prstGeom>
          <a:noFill/>
        </p:spPr>
        <p:txBody>
          <a:bodyPr wrap="square">
            <a:spAutoFit/>
          </a:bodyPr>
          <a:lstStyle/>
          <a:p>
            <a:pPr algn="l"/>
            <a:r>
              <a:rPr sz="1000" b="0" i="0">
                <a:solidFill>
                  <a:srgbClr val="7EC8C8"/>
                </a:solidFill>
                <a:latin typeface="Courier New"/>
              </a:rPr>
              <a:t>U, p = mannwhitneyu(low_env, high_env,
               alternative='less')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286000" cy="256032"/>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103120" cy="228600"/>
          </a:xfrm>
          <a:prstGeom prst="rect">
            <a:avLst/>
          </a:prstGeom>
          <a:noFill/>
        </p:spPr>
        <p:txBody>
          <a:bodyPr wrap="square">
            <a:spAutoFit/>
          </a:bodyPr>
          <a:lstStyle/>
          <a:p>
            <a:pPr algn="l"/>
            <a:r>
              <a:rPr sz="900" b="1" i="0">
                <a:solidFill>
                  <a:srgbClr val="FFFFFF"/>
                </a:solidFill>
                <a:latin typeface="Calibri"/>
              </a:rPr>
              <a:t>INFERENTIAL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Hypothesis Testing — Full Results Summary</a:t>
            </a:r>
          </a:p>
        </p:txBody>
      </p:sp>
      <p:sp>
        <p:nvSpPr>
          <p:cNvPr id="6" name="Rectangle 5"/>
          <p:cNvSpPr/>
          <p:nvPr/>
        </p:nvSpPr>
        <p:spPr>
          <a:xfrm>
            <a:off x="320040" y="1170432"/>
            <a:ext cx="11521440" cy="36576"/>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7_hypothesis_tests.png"/>
          <p:cNvPicPr>
            <a:picLocks noChangeAspect="1"/>
          </p:cNvPicPr>
          <p:nvPr/>
        </p:nvPicPr>
        <p:blipFill>
          <a:blip r:embed="rId3"/>
          <a:stretch>
            <a:fillRect/>
          </a:stretch>
        </p:blipFill>
        <p:spPr>
          <a:xfrm>
            <a:off x="320040" y="1371600"/>
            <a:ext cx="7772400" cy="4389120"/>
          </a:xfrm>
          <a:prstGeom prst="rect">
            <a:avLst/>
          </a:prstGeom>
        </p:spPr>
      </p:pic>
      <p:sp>
        <p:nvSpPr>
          <p:cNvPr id="11" name="Rectangle 10"/>
          <p:cNvSpPr/>
          <p:nvPr/>
        </p:nvSpPr>
        <p:spPr>
          <a:xfrm>
            <a:off x="8321040" y="1371600"/>
            <a:ext cx="3520440" cy="438912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85632" y="1463040"/>
            <a:ext cx="3200400" cy="365760"/>
          </a:xfrm>
          <a:prstGeom prst="rect">
            <a:avLst/>
          </a:prstGeom>
          <a:noFill/>
        </p:spPr>
        <p:txBody>
          <a:bodyPr wrap="square">
            <a:spAutoFit/>
          </a:bodyPr>
          <a:lstStyle/>
          <a:p>
            <a:pPr algn="l"/>
            <a:r>
              <a:rPr sz="1300" b="1" i="0">
                <a:solidFill>
                  <a:srgbClr val="F5A623"/>
                </a:solidFill>
                <a:latin typeface="Calibri"/>
              </a:rPr>
              <a:t>Results at a Glance</a:t>
            </a:r>
          </a:p>
        </p:txBody>
      </p:sp>
      <p:sp>
        <p:nvSpPr>
          <p:cNvPr id="13" name="Rectangle 12"/>
          <p:cNvSpPr/>
          <p:nvPr/>
        </p:nvSpPr>
        <p:spPr>
          <a:xfrm>
            <a:off x="8458200" y="1920240"/>
            <a:ext cx="3246120" cy="658368"/>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77072" y="1965960"/>
            <a:ext cx="2286000" cy="320040"/>
          </a:xfrm>
          <a:prstGeom prst="rect">
            <a:avLst/>
          </a:prstGeom>
          <a:noFill/>
        </p:spPr>
        <p:txBody>
          <a:bodyPr wrap="square">
            <a:spAutoFit/>
          </a:bodyPr>
          <a:lstStyle/>
          <a:p>
            <a:pPr algn="l"/>
            <a:r>
              <a:rPr sz="1000" b="0" i="0">
                <a:solidFill>
                  <a:srgbClr val="D0D7E3"/>
                </a:solidFill>
                <a:latin typeface="Calibri"/>
              </a:rPr>
              <a:t>Spearman: Env↔Involvement</a:t>
            </a:r>
          </a:p>
        </p:txBody>
      </p:sp>
      <p:sp>
        <p:nvSpPr>
          <p:cNvPr id="15" name="TextBox 14"/>
          <p:cNvSpPr txBox="1"/>
          <p:nvPr/>
        </p:nvSpPr>
        <p:spPr>
          <a:xfrm>
            <a:off x="8577072" y="2267712"/>
            <a:ext cx="1645920" cy="256032"/>
          </a:xfrm>
          <a:prstGeom prst="rect">
            <a:avLst/>
          </a:prstGeom>
          <a:noFill/>
        </p:spPr>
        <p:txBody>
          <a:bodyPr wrap="square">
            <a:spAutoFit/>
          </a:bodyPr>
          <a:lstStyle/>
          <a:p>
            <a:pPr algn="l"/>
            <a:r>
              <a:rPr sz="950" b="0" i="0">
                <a:solidFill>
                  <a:srgbClr val="F5A623"/>
                </a:solidFill>
                <a:latin typeface="Calibri"/>
              </a:rPr>
              <a:t>p=0.8357</a:t>
            </a:r>
          </a:p>
        </p:txBody>
      </p:sp>
      <p:sp>
        <p:nvSpPr>
          <p:cNvPr id="16" name="TextBox 15"/>
          <p:cNvSpPr txBox="1"/>
          <p:nvPr/>
        </p:nvSpPr>
        <p:spPr>
          <a:xfrm>
            <a:off x="10835640" y="2029968"/>
            <a:ext cx="640080" cy="411480"/>
          </a:xfrm>
          <a:prstGeom prst="rect">
            <a:avLst/>
          </a:prstGeom>
          <a:noFill/>
        </p:spPr>
        <p:txBody>
          <a:bodyPr wrap="square">
            <a:spAutoFit/>
          </a:bodyPr>
          <a:lstStyle/>
          <a:p>
            <a:pPr algn="ctr"/>
            <a:r>
              <a:rPr sz="2000" b="1" i="0">
                <a:solidFill>
                  <a:srgbClr val="6B7A99"/>
                </a:solidFill>
                <a:latin typeface="Calibri"/>
              </a:rPr>
              <a:t>❌</a:t>
            </a:r>
          </a:p>
        </p:txBody>
      </p:sp>
      <p:sp>
        <p:nvSpPr>
          <p:cNvPr id="17" name="Rectangle 16"/>
          <p:cNvSpPr/>
          <p:nvPr/>
        </p:nvSpPr>
        <p:spPr>
          <a:xfrm>
            <a:off x="8458200" y="2670048"/>
            <a:ext cx="3246120" cy="658368"/>
          </a:xfrm>
          <a:prstGeom prst="rect">
            <a:avLst/>
          </a:prstGeom>
          <a:solidFill>
            <a:srgbClr val="0E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77072" y="2715768"/>
            <a:ext cx="2286000" cy="320040"/>
          </a:xfrm>
          <a:prstGeom prst="rect">
            <a:avLst/>
          </a:prstGeom>
          <a:noFill/>
        </p:spPr>
        <p:txBody>
          <a:bodyPr wrap="square">
            <a:spAutoFit/>
          </a:bodyPr>
          <a:lstStyle/>
          <a:p>
            <a:pPr algn="l"/>
            <a:r>
              <a:rPr sz="1000" b="0" i="0">
                <a:solidFill>
                  <a:srgbClr val="D0D7E3"/>
                </a:solidFill>
                <a:latin typeface="Calibri"/>
              </a:rPr>
              <a:t>Spearman: Env↔Attrition</a:t>
            </a:r>
          </a:p>
        </p:txBody>
      </p:sp>
      <p:sp>
        <p:nvSpPr>
          <p:cNvPr id="19" name="TextBox 18"/>
          <p:cNvSpPr txBox="1"/>
          <p:nvPr/>
        </p:nvSpPr>
        <p:spPr>
          <a:xfrm>
            <a:off x="8577072" y="3017520"/>
            <a:ext cx="1645920" cy="256032"/>
          </a:xfrm>
          <a:prstGeom prst="rect">
            <a:avLst/>
          </a:prstGeom>
          <a:noFill/>
        </p:spPr>
        <p:txBody>
          <a:bodyPr wrap="square">
            <a:spAutoFit/>
          </a:bodyPr>
          <a:lstStyle/>
          <a:p>
            <a:pPr algn="l"/>
            <a:r>
              <a:rPr sz="950" b="0" i="0">
                <a:solidFill>
                  <a:srgbClr val="F5A623"/>
                </a:solidFill>
                <a:latin typeface="Calibri"/>
              </a:rPr>
              <a:t>p=0.000062</a:t>
            </a:r>
          </a:p>
        </p:txBody>
      </p:sp>
      <p:sp>
        <p:nvSpPr>
          <p:cNvPr id="20" name="TextBox 19"/>
          <p:cNvSpPr txBox="1"/>
          <p:nvPr/>
        </p:nvSpPr>
        <p:spPr>
          <a:xfrm>
            <a:off x="10835640" y="2779776"/>
            <a:ext cx="640080" cy="411480"/>
          </a:xfrm>
          <a:prstGeom prst="rect">
            <a:avLst/>
          </a:prstGeom>
          <a:noFill/>
        </p:spPr>
        <p:txBody>
          <a:bodyPr wrap="square">
            <a:spAutoFit/>
          </a:bodyPr>
          <a:lstStyle/>
          <a:p>
            <a:pPr algn="ctr"/>
            <a:r>
              <a:rPr sz="2000" b="1" i="0">
                <a:solidFill>
                  <a:srgbClr val="2EA86B"/>
                </a:solidFill>
                <a:latin typeface="Calibri"/>
              </a:rPr>
              <a:t>✅</a:t>
            </a:r>
          </a:p>
        </p:txBody>
      </p:sp>
      <p:sp>
        <p:nvSpPr>
          <p:cNvPr id="21" name="Rectangle 20"/>
          <p:cNvSpPr/>
          <p:nvPr/>
        </p:nvSpPr>
        <p:spPr>
          <a:xfrm>
            <a:off x="8458200" y="3419856"/>
            <a:ext cx="3246120" cy="658368"/>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77072" y="3465576"/>
            <a:ext cx="2286000" cy="320040"/>
          </a:xfrm>
          <a:prstGeom prst="rect">
            <a:avLst/>
          </a:prstGeom>
          <a:noFill/>
        </p:spPr>
        <p:txBody>
          <a:bodyPr wrap="square">
            <a:spAutoFit/>
          </a:bodyPr>
          <a:lstStyle/>
          <a:p>
            <a:pPr algn="l"/>
            <a:r>
              <a:rPr sz="1000" b="0" i="0">
                <a:solidFill>
                  <a:srgbClr val="D0D7E3"/>
                </a:solidFill>
                <a:latin typeface="Calibri"/>
              </a:rPr>
              <a:t>Kruskal-Wallis</a:t>
            </a:r>
          </a:p>
        </p:txBody>
      </p:sp>
      <p:sp>
        <p:nvSpPr>
          <p:cNvPr id="23" name="TextBox 22"/>
          <p:cNvSpPr txBox="1"/>
          <p:nvPr/>
        </p:nvSpPr>
        <p:spPr>
          <a:xfrm>
            <a:off x="8577072" y="3767328"/>
            <a:ext cx="1645920" cy="256032"/>
          </a:xfrm>
          <a:prstGeom prst="rect">
            <a:avLst/>
          </a:prstGeom>
          <a:noFill/>
        </p:spPr>
        <p:txBody>
          <a:bodyPr wrap="square">
            <a:spAutoFit/>
          </a:bodyPr>
          <a:lstStyle/>
          <a:p>
            <a:pPr algn="l"/>
            <a:r>
              <a:rPr sz="950" b="0" i="0">
                <a:solidFill>
                  <a:srgbClr val="F5A623"/>
                </a:solidFill>
                <a:latin typeface="Calibri"/>
              </a:rPr>
              <a:t>p=0.4161</a:t>
            </a:r>
          </a:p>
        </p:txBody>
      </p:sp>
      <p:sp>
        <p:nvSpPr>
          <p:cNvPr id="24" name="TextBox 23"/>
          <p:cNvSpPr txBox="1"/>
          <p:nvPr/>
        </p:nvSpPr>
        <p:spPr>
          <a:xfrm>
            <a:off x="10835640" y="3529584"/>
            <a:ext cx="640080" cy="411480"/>
          </a:xfrm>
          <a:prstGeom prst="rect">
            <a:avLst/>
          </a:prstGeom>
          <a:noFill/>
        </p:spPr>
        <p:txBody>
          <a:bodyPr wrap="square">
            <a:spAutoFit/>
          </a:bodyPr>
          <a:lstStyle/>
          <a:p>
            <a:pPr algn="ctr"/>
            <a:r>
              <a:rPr sz="2000" b="1" i="0">
                <a:solidFill>
                  <a:srgbClr val="6B7A99"/>
                </a:solidFill>
                <a:latin typeface="Calibri"/>
              </a:rPr>
              <a:t>❌</a:t>
            </a:r>
          </a:p>
        </p:txBody>
      </p:sp>
      <p:sp>
        <p:nvSpPr>
          <p:cNvPr id="25" name="Rectangle 24"/>
          <p:cNvSpPr/>
          <p:nvPr/>
        </p:nvSpPr>
        <p:spPr>
          <a:xfrm>
            <a:off x="8458200" y="4169664"/>
            <a:ext cx="3246120" cy="658368"/>
          </a:xfrm>
          <a:prstGeom prst="rect">
            <a:avLst/>
          </a:prstGeom>
          <a:solidFill>
            <a:srgbClr val="0E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77072" y="4215384"/>
            <a:ext cx="2286000" cy="320040"/>
          </a:xfrm>
          <a:prstGeom prst="rect">
            <a:avLst/>
          </a:prstGeom>
          <a:noFill/>
        </p:spPr>
        <p:txBody>
          <a:bodyPr wrap="square">
            <a:spAutoFit/>
          </a:bodyPr>
          <a:lstStyle/>
          <a:p>
            <a:pPr algn="l"/>
            <a:r>
              <a:rPr sz="1000" b="0" i="0">
                <a:solidFill>
                  <a:srgbClr val="D0D7E3"/>
                </a:solidFill>
                <a:latin typeface="Calibri"/>
              </a:rPr>
              <a:t>Chi-Square</a:t>
            </a:r>
          </a:p>
        </p:txBody>
      </p:sp>
      <p:sp>
        <p:nvSpPr>
          <p:cNvPr id="27" name="TextBox 26"/>
          <p:cNvSpPr txBox="1"/>
          <p:nvPr/>
        </p:nvSpPr>
        <p:spPr>
          <a:xfrm>
            <a:off x="8577072" y="4517136"/>
            <a:ext cx="1645920" cy="256032"/>
          </a:xfrm>
          <a:prstGeom prst="rect">
            <a:avLst/>
          </a:prstGeom>
          <a:noFill/>
        </p:spPr>
        <p:txBody>
          <a:bodyPr wrap="square">
            <a:spAutoFit/>
          </a:bodyPr>
          <a:lstStyle/>
          <a:p>
            <a:pPr algn="l"/>
            <a:r>
              <a:rPr sz="950" b="0" i="0">
                <a:solidFill>
                  <a:srgbClr val="F5A623"/>
                </a:solidFill>
                <a:latin typeface="Calibri"/>
              </a:rPr>
              <a:t>p=0.000145</a:t>
            </a:r>
          </a:p>
        </p:txBody>
      </p:sp>
      <p:sp>
        <p:nvSpPr>
          <p:cNvPr id="28" name="TextBox 27"/>
          <p:cNvSpPr txBox="1"/>
          <p:nvPr/>
        </p:nvSpPr>
        <p:spPr>
          <a:xfrm>
            <a:off x="10835640" y="4279392"/>
            <a:ext cx="640080" cy="411480"/>
          </a:xfrm>
          <a:prstGeom prst="rect">
            <a:avLst/>
          </a:prstGeom>
          <a:noFill/>
        </p:spPr>
        <p:txBody>
          <a:bodyPr wrap="square">
            <a:spAutoFit/>
          </a:bodyPr>
          <a:lstStyle/>
          <a:p>
            <a:pPr algn="ctr"/>
            <a:r>
              <a:rPr sz="2000" b="1" i="0">
                <a:solidFill>
                  <a:srgbClr val="2EA86B"/>
                </a:solidFill>
                <a:latin typeface="Calibri"/>
              </a:rPr>
              <a:t>✅</a:t>
            </a:r>
          </a:p>
        </p:txBody>
      </p:sp>
      <p:sp>
        <p:nvSpPr>
          <p:cNvPr id="29" name="Rectangle 28"/>
          <p:cNvSpPr/>
          <p:nvPr/>
        </p:nvSpPr>
        <p:spPr>
          <a:xfrm>
            <a:off x="8458200" y="4919472"/>
            <a:ext cx="3246120" cy="658368"/>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77072" y="4965192"/>
            <a:ext cx="2286000" cy="320040"/>
          </a:xfrm>
          <a:prstGeom prst="rect">
            <a:avLst/>
          </a:prstGeom>
          <a:noFill/>
        </p:spPr>
        <p:txBody>
          <a:bodyPr wrap="square">
            <a:spAutoFit/>
          </a:bodyPr>
          <a:lstStyle/>
          <a:p>
            <a:pPr algn="l"/>
            <a:r>
              <a:rPr sz="1000" b="0" i="0">
                <a:solidFill>
                  <a:srgbClr val="D0D7E3"/>
                </a:solidFill>
                <a:latin typeface="Calibri"/>
              </a:rPr>
              <a:t>Mann-Whitney U</a:t>
            </a:r>
          </a:p>
        </p:txBody>
      </p:sp>
      <p:sp>
        <p:nvSpPr>
          <p:cNvPr id="31" name="TextBox 30"/>
          <p:cNvSpPr txBox="1"/>
          <p:nvPr/>
        </p:nvSpPr>
        <p:spPr>
          <a:xfrm>
            <a:off x="8577072" y="5266944"/>
            <a:ext cx="1645920" cy="256032"/>
          </a:xfrm>
          <a:prstGeom prst="rect">
            <a:avLst/>
          </a:prstGeom>
          <a:noFill/>
        </p:spPr>
        <p:txBody>
          <a:bodyPr wrap="square">
            <a:spAutoFit/>
          </a:bodyPr>
          <a:lstStyle/>
          <a:p>
            <a:pPr algn="l"/>
            <a:r>
              <a:rPr sz="950" b="0" i="0">
                <a:solidFill>
                  <a:srgbClr val="F5A623"/>
                </a:solidFill>
                <a:latin typeface="Calibri"/>
              </a:rPr>
              <a:t>p=0.5709</a:t>
            </a:r>
          </a:p>
        </p:txBody>
      </p:sp>
      <p:sp>
        <p:nvSpPr>
          <p:cNvPr id="32" name="TextBox 31"/>
          <p:cNvSpPr txBox="1"/>
          <p:nvPr/>
        </p:nvSpPr>
        <p:spPr>
          <a:xfrm>
            <a:off x="10835640" y="5029200"/>
            <a:ext cx="640080" cy="411480"/>
          </a:xfrm>
          <a:prstGeom prst="rect">
            <a:avLst/>
          </a:prstGeom>
          <a:noFill/>
        </p:spPr>
        <p:txBody>
          <a:bodyPr wrap="square">
            <a:spAutoFit/>
          </a:bodyPr>
          <a:lstStyle/>
          <a:p>
            <a:pPr algn="ctr"/>
            <a:r>
              <a:rPr sz="2000" b="1" i="0">
                <a:solidFill>
                  <a:srgbClr val="6B7A99"/>
                </a:solidFill>
                <a:latin typeface="Calibri"/>
              </a:rPr>
              <a:t>❌</a:t>
            </a:r>
          </a:p>
        </p:txBody>
      </p:sp>
      <p:sp>
        <p:nvSpPr>
          <p:cNvPr id="33" name="Rectangle 32"/>
          <p:cNvSpPr/>
          <p:nvPr/>
        </p:nvSpPr>
        <p:spPr>
          <a:xfrm>
            <a:off x="8458200" y="5870448"/>
            <a:ext cx="3246120" cy="658368"/>
          </a:xfrm>
          <a:prstGeom prst="rect">
            <a:avLst/>
          </a:prstGeom>
          <a:solidFill>
            <a:srgbClr val="0A2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49640" y="5897880"/>
            <a:ext cx="3063240" cy="594360"/>
          </a:xfrm>
          <a:prstGeom prst="rect">
            <a:avLst/>
          </a:prstGeom>
          <a:noFill/>
        </p:spPr>
        <p:txBody>
          <a:bodyPr wrap="square">
            <a:spAutoFit/>
          </a:bodyPr>
          <a:lstStyle/>
          <a:p>
            <a:pPr algn="l"/>
            <a:r>
              <a:rPr sz="1000" b="1" i="0">
                <a:solidFill>
                  <a:srgbClr val="2EA86B"/>
                </a:solidFill>
                <a:latin typeface="Calibri"/>
              </a:rPr>
              <a:t>2/5 significant — environment
strongly predicts EXIT behaviour
not self-reported motivation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185415" cy="256032"/>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002536" cy="228600"/>
          </a:xfrm>
          <a:prstGeom prst="rect">
            <a:avLst/>
          </a:prstGeom>
          <a:noFill/>
        </p:spPr>
        <p:txBody>
          <a:bodyPr wrap="square">
            <a:spAutoFit/>
          </a:bodyPr>
          <a:lstStyle/>
          <a:p>
            <a:pPr algn="l"/>
            <a:r>
              <a:rPr sz="900" b="1" i="0">
                <a:solidFill>
                  <a:srgbClr val="FFFFFF"/>
                </a:solidFill>
                <a:latin typeface="Calibri"/>
              </a:rPr>
              <a:t>PREDICTIVE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Machine Learning Setup &amp; Approach</a:t>
            </a:r>
          </a:p>
        </p:txBody>
      </p:sp>
      <p:sp>
        <p:nvSpPr>
          <p:cNvPr id="6" name="Rectangle 5"/>
          <p:cNvSpPr/>
          <p:nvPr/>
        </p:nvSpPr>
        <p:spPr>
          <a:xfrm>
            <a:off x="320040" y="1170432"/>
            <a:ext cx="11521440" cy="36576"/>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417320"/>
            <a:ext cx="1920240" cy="502920"/>
          </a:xfrm>
          <a:prstGeom prst="rect">
            <a:avLst/>
          </a:prstGeom>
          <a:noFill/>
        </p:spPr>
        <p:txBody>
          <a:bodyPr wrap="square">
            <a:spAutoFit/>
          </a:bodyPr>
          <a:lstStyle/>
          <a:p>
            <a:pPr algn="ctr"/>
            <a:r>
              <a:rPr sz="2600" b="1" i="0">
                <a:solidFill>
                  <a:srgbClr val="F5A623"/>
                </a:solidFill>
                <a:latin typeface="Calibri"/>
              </a:rPr>
              <a:t>8,000</a:t>
            </a:r>
          </a:p>
        </p:txBody>
      </p:sp>
      <p:sp>
        <p:nvSpPr>
          <p:cNvPr id="9" name="TextBox 8"/>
          <p:cNvSpPr txBox="1"/>
          <p:nvPr/>
        </p:nvSpPr>
        <p:spPr>
          <a:xfrm>
            <a:off x="411479" y="1901952"/>
            <a:ext cx="1920240" cy="411480"/>
          </a:xfrm>
          <a:prstGeom prst="rect">
            <a:avLst/>
          </a:prstGeom>
          <a:noFill/>
        </p:spPr>
        <p:txBody>
          <a:bodyPr wrap="square">
            <a:spAutoFit/>
          </a:bodyPr>
          <a:lstStyle/>
          <a:p>
            <a:pPr algn="ctr"/>
            <a:r>
              <a:rPr sz="1100" b="0" i="0">
                <a:solidFill>
                  <a:srgbClr val="D0D7E3"/>
                </a:solidFill>
                <a:latin typeface="Calibri"/>
              </a:rPr>
              <a:t>Training Samples</a:t>
            </a:r>
          </a:p>
        </p:txBody>
      </p:sp>
      <p:sp>
        <p:nvSpPr>
          <p:cNvPr id="10" name="Rectangle 9"/>
          <p:cNvSpPr/>
          <p:nvPr/>
        </p:nvSpPr>
        <p:spPr>
          <a:xfrm>
            <a:off x="2633472"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24912" y="1417320"/>
            <a:ext cx="1920240" cy="502920"/>
          </a:xfrm>
          <a:prstGeom prst="rect">
            <a:avLst/>
          </a:prstGeom>
          <a:noFill/>
        </p:spPr>
        <p:txBody>
          <a:bodyPr wrap="square">
            <a:spAutoFit/>
          </a:bodyPr>
          <a:lstStyle/>
          <a:p>
            <a:pPr algn="ctr"/>
            <a:r>
              <a:rPr sz="2600" b="1" i="0">
                <a:solidFill>
                  <a:srgbClr val="F5A623"/>
                </a:solidFill>
                <a:latin typeface="Calibri"/>
              </a:rPr>
              <a:t>2,000</a:t>
            </a:r>
          </a:p>
        </p:txBody>
      </p:sp>
      <p:sp>
        <p:nvSpPr>
          <p:cNvPr id="12" name="TextBox 11"/>
          <p:cNvSpPr txBox="1"/>
          <p:nvPr/>
        </p:nvSpPr>
        <p:spPr>
          <a:xfrm>
            <a:off x="2724912" y="1901952"/>
            <a:ext cx="1920240" cy="411480"/>
          </a:xfrm>
          <a:prstGeom prst="rect">
            <a:avLst/>
          </a:prstGeom>
          <a:noFill/>
        </p:spPr>
        <p:txBody>
          <a:bodyPr wrap="square">
            <a:spAutoFit/>
          </a:bodyPr>
          <a:lstStyle/>
          <a:p>
            <a:pPr algn="ctr"/>
            <a:r>
              <a:rPr sz="1100" b="0" i="0">
                <a:solidFill>
                  <a:srgbClr val="D0D7E3"/>
                </a:solidFill>
                <a:latin typeface="Calibri"/>
              </a:rPr>
              <a:t>Testing Samples</a:t>
            </a:r>
          </a:p>
        </p:txBody>
      </p:sp>
      <p:sp>
        <p:nvSpPr>
          <p:cNvPr id="13" name="Rectangle 12"/>
          <p:cNvSpPr/>
          <p:nvPr/>
        </p:nvSpPr>
        <p:spPr>
          <a:xfrm>
            <a:off x="4946904"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38344" y="1417320"/>
            <a:ext cx="1920240" cy="502920"/>
          </a:xfrm>
          <a:prstGeom prst="rect">
            <a:avLst/>
          </a:prstGeom>
          <a:noFill/>
        </p:spPr>
        <p:txBody>
          <a:bodyPr wrap="square">
            <a:spAutoFit/>
          </a:bodyPr>
          <a:lstStyle/>
          <a:p>
            <a:pPr algn="ctr"/>
            <a:r>
              <a:rPr sz="2600" b="1" i="0">
                <a:solidFill>
                  <a:srgbClr val="F5A623"/>
                </a:solidFill>
                <a:latin typeface="Calibri"/>
              </a:rPr>
              <a:t>13</a:t>
            </a:r>
          </a:p>
        </p:txBody>
      </p:sp>
      <p:sp>
        <p:nvSpPr>
          <p:cNvPr id="15" name="TextBox 14"/>
          <p:cNvSpPr txBox="1"/>
          <p:nvPr/>
        </p:nvSpPr>
        <p:spPr>
          <a:xfrm>
            <a:off x="5038344" y="1901952"/>
            <a:ext cx="1920240" cy="411480"/>
          </a:xfrm>
          <a:prstGeom prst="rect">
            <a:avLst/>
          </a:prstGeom>
          <a:noFill/>
        </p:spPr>
        <p:txBody>
          <a:bodyPr wrap="square">
            <a:spAutoFit/>
          </a:bodyPr>
          <a:lstStyle/>
          <a:p>
            <a:pPr algn="ctr"/>
            <a:r>
              <a:rPr sz="1100" b="0" i="0">
                <a:solidFill>
                  <a:srgbClr val="D0D7E3"/>
                </a:solidFill>
                <a:latin typeface="Calibri"/>
              </a:rPr>
              <a:t>Features Used</a:t>
            </a:r>
          </a:p>
        </p:txBody>
      </p:sp>
      <p:sp>
        <p:nvSpPr>
          <p:cNvPr id="16" name="Rectangle 15"/>
          <p:cNvSpPr/>
          <p:nvPr/>
        </p:nvSpPr>
        <p:spPr>
          <a:xfrm>
            <a:off x="722376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0" y="1417320"/>
            <a:ext cx="1920240" cy="502920"/>
          </a:xfrm>
          <a:prstGeom prst="rect">
            <a:avLst/>
          </a:prstGeom>
          <a:noFill/>
        </p:spPr>
        <p:txBody>
          <a:bodyPr wrap="square">
            <a:spAutoFit/>
          </a:bodyPr>
          <a:lstStyle/>
          <a:p>
            <a:pPr algn="ctr"/>
            <a:r>
              <a:rPr sz="2600" b="1" i="0">
                <a:solidFill>
                  <a:srgbClr val="F5A623"/>
                </a:solidFill>
                <a:latin typeface="Calibri"/>
              </a:rPr>
              <a:t>80/20</a:t>
            </a:r>
          </a:p>
        </p:txBody>
      </p:sp>
      <p:sp>
        <p:nvSpPr>
          <p:cNvPr id="18" name="TextBox 17"/>
          <p:cNvSpPr txBox="1"/>
          <p:nvPr/>
        </p:nvSpPr>
        <p:spPr>
          <a:xfrm>
            <a:off x="7315200" y="1901952"/>
            <a:ext cx="1920240" cy="411480"/>
          </a:xfrm>
          <a:prstGeom prst="rect">
            <a:avLst/>
          </a:prstGeom>
          <a:noFill/>
        </p:spPr>
        <p:txBody>
          <a:bodyPr wrap="square">
            <a:spAutoFit/>
          </a:bodyPr>
          <a:lstStyle/>
          <a:p>
            <a:pPr algn="ctr"/>
            <a:r>
              <a:rPr sz="1100" b="0" i="0">
                <a:solidFill>
                  <a:srgbClr val="D0D7E3"/>
                </a:solidFill>
                <a:latin typeface="Calibri"/>
              </a:rPr>
              <a:t>Train/Test Split</a:t>
            </a:r>
          </a:p>
        </p:txBody>
      </p:sp>
      <p:sp>
        <p:nvSpPr>
          <p:cNvPr id="19" name="Rectangle 18"/>
          <p:cNvSpPr/>
          <p:nvPr/>
        </p:nvSpPr>
        <p:spPr>
          <a:xfrm>
            <a:off x="9509760" y="1371600"/>
            <a:ext cx="2103120" cy="10058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0" y="1417320"/>
            <a:ext cx="1920240" cy="502920"/>
          </a:xfrm>
          <a:prstGeom prst="rect">
            <a:avLst/>
          </a:prstGeom>
          <a:noFill/>
        </p:spPr>
        <p:txBody>
          <a:bodyPr wrap="square">
            <a:spAutoFit/>
          </a:bodyPr>
          <a:lstStyle/>
          <a:p>
            <a:pPr algn="ctr"/>
            <a:r>
              <a:rPr sz="2600" b="1" i="0">
                <a:solidFill>
                  <a:srgbClr val="F5A623"/>
                </a:solidFill>
                <a:latin typeface="Calibri"/>
              </a:rPr>
              <a:t>Stratified</a:t>
            </a:r>
          </a:p>
        </p:txBody>
      </p:sp>
      <p:sp>
        <p:nvSpPr>
          <p:cNvPr id="21" name="TextBox 20"/>
          <p:cNvSpPr txBox="1"/>
          <p:nvPr/>
        </p:nvSpPr>
        <p:spPr>
          <a:xfrm>
            <a:off x="9601200" y="1901952"/>
            <a:ext cx="1920240" cy="411480"/>
          </a:xfrm>
          <a:prstGeom prst="rect">
            <a:avLst/>
          </a:prstGeom>
          <a:noFill/>
        </p:spPr>
        <p:txBody>
          <a:bodyPr wrap="square">
            <a:spAutoFit/>
          </a:bodyPr>
          <a:lstStyle/>
          <a:p>
            <a:pPr algn="ctr"/>
            <a:r>
              <a:rPr sz="1100" b="0" i="0">
                <a:solidFill>
                  <a:srgbClr val="D0D7E3"/>
                </a:solidFill>
                <a:latin typeface="Calibri"/>
              </a:rPr>
              <a:t>Sampling Type</a:t>
            </a:r>
          </a:p>
        </p:txBody>
      </p:sp>
      <p:sp>
        <p:nvSpPr>
          <p:cNvPr id="22" name="Rectangle 21"/>
          <p:cNvSpPr/>
          <p:nvPr/>
        </p:nvSpPr>
        <p:spPr>
          <a:xfrm>
            <a:off x="320040" y="2743200"/>
            <a:ext cx="3749039" cy="20116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2743200"/>
            <a:ext cx="3749039" cy="411480"/>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2788920"/>
            <a:ext cx="914400" cy="347472"/>
          </a:xfrm>
          <a:prstGeom prst="rect">
            <a:avLst/>
          </a:prstGeom>
          <a:noFill/>
        </p:spPr>
        <p:txBody>
          <a:bodyPr wrap="square">
            <a:spAutoFit/>
          </a:bodyPr>
          <a:lstStyle/>
          <a:p>
            <a:pPr algn="l"/>
            <a:r>
              <a:rPr sz="1000" b="1" i="0">
                <a:solidFill>
                  <a:srgbClr val="FFFFFF"/>
                </a:solidFill>
                <a:latin typeface="Calibri"/>
              </a:rPr>
              <a:t>Model 1</a:t>
            </a:r>
          </a:p>
        </p:txBody>
      </p:sp>
      <p:sp>
        <p:nvSpPr>
          <p:cNvPr id="25" name="TextBox 24"/>
          <p:cNvSpPr txBox="1"/>
          <p:nvPr/>
        </p:nvSpPr>
        <p:spPr>
          <a:xfrm>
            <a:off x="1234440" y="2788920"/>
            <a:ext cx="2651760" cy="347472"/>
          </a:xfrm>
          <a:prstGeom prst="rect">
            <a:avLst/>
          </a:prstGeom>
          <a:noFill/>
        </p:spPr>
        <p:txBody>
          <a:bodyPr wrap="square">
            <a:spAutoFit/>
          </a:bodyPr>
          <a:lstStyle/>
          <a:p>
            <a:pPr algn="l"/>
            <a:r>
              <a:rPr sz="1200" b="1" i="0">
                <a:solidFill>
                  <a:srgbClr val="FFFFFF"/>
                </a:solidFill>
                <a:latin typeface="Calibri"/>
              </a:rPr>
              <a:t>Logistic Regression</a:t>
            </a:r>
          </a:p>
        </p:txBody>
      </p:sp>
      <p:sp>
        <p:nvSpPr>
          <p:cNvPr id="26" name="TextBox 25"/>
          <p:cNvSpPr txBox="1"/>
          <p:nvPr/>
        </p:nvSpPr>
        <p:spPr>
          <a:xfrm>
            <a:off x="457200" y="3246120"/>
            <a:ext cx="3474720" cy="1188720"/>
          </a:xfrm>
          <a:prstGeom prst="rect">
            <a:avLst/>
          </a:prstGeom>
          <a:noFill/>
        </p:spPr>
        <p:txBody>
          <a:bodyPr wrap="square">
            <a:spAutoFit/>
          </a:bodyPr>
          <a:lstStyle/>
          <a:p>
            <a:pPr algn="l"/>
            <a:r>
              <a:rPr sz="1100" b="0" i="0">
                <a:solidFill>
                  <a:srgbClr val="D0D7E3"/>
                </a:solidFill>
                <a:latin typeface="Calibri"/>
              </a:rPr>
              <a:t>Baseline linear model.
Estimates probability of attrition.</a:t>
            </a:r>
          </a:p>
        </p:txBody>
      </p:sp>
      <p:sp>
        <p:nvSpPr>
          <p:cNvPr id="27" name="Rectangle 26"/>
          <p:cNvSpPr/>
          <p:nvPr/>
        </p:nvSpPr>
        <p:spPr>
          <a:xfrm>
            <a:off x="4297679" y="2743200"/>
            <a:ext cx="3749039" cy="20116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97679" y="2743200"/>
            <a:ext cx="3749039" cy="411480"/>
          </a:xfrm>
          <a:prstGeom prst="rect">
            <a:avLst/>
          </a:prstGeom>
          <a:solidFill>
            <a:srgbClr val="278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4840" y="2788920"/>
            <a:ext cx="914400" cy="347472"/>
          </a:xfrm>
          <a:prstGeom prst="rect">
            <a:avLst/>
          </a:prstGeom>
          <a:noFill/>
        </p:spPr>
        <p:txBody>
          <a:bodyPr wrap="square">
            <a:spAutoFit/>
          </a:bodyPr>
          <a:lstStyle/>
          <a:p>
            <a:pPr algn="l"/>
            <a:r>
              <a:rPr sz="1000" b="1" i="0">
                <a:solidFill>
                  <a:srgbClr val="FFFFFF"/>
                </a:solidFill>
                <a:latin typeface="Calibri"/>
              </a:rPr>
              <a:t>Model 2</a:t>
            </a:r>
          </a:p>
        </p:txBody>
      </p:sp>
      <p:sp>
        <p:nvSpPr>
          <p:cNvPr id="30" name="TextBox 29"/>
          <p:cNvSpPr txBox="1"/>
          <p:nvPr/>
        </p:nvSpPr>
        <p:spPr>
          <a:xfrm>
            <a:off x="5212079" y="2788920"/>
            <a:ext cx="2651760" cy="347472"/>
          </a:xfrm>
          <a:prstGeom prst="rect">
            <a:avLst/>
          </a:prstGeom>
          <a:noFill/>
        </p:spPr>
        <p:txBody>
          <a:bodyPr wrap="square">
            <a:spAutoFit/>
          </a:bodyPr>
          <a:lstStyle/>
          <a:p>
            <a:pPr algn="l"/>
            <a:r>
              <a:rPr sz="1200" b="1" i="0">
                <a:solidFill>
                  <a:srgbClr val="FFFFFF"/>
                </a:solidFill>
                <a:latin typeface="Calibri"/>
              </a:rPr>
              <a:t>Random Forest</a:t>
            </a:r>
          </a:p>
        </p:txBody>
      </p:sp>
      <p:sp>
        <p:nvSpPr>
          <p:cNvPr id="31" name="TextBox 30"/>
          <p:cNvSpPr txBox="1"/>
          <p:nvPr/>
        </p:nvSpPr>
        <p:spPr>
          <a:xfrm>
            <a:off x="4434840" y="3246120"/>
            <a:ext cx="3474720" cy="1188720"/>
          </a:xfrm>
          <a:prstGeom prst="rect">
            <a:avLst/>
          </a:prstGeom>
          <a:noFill/>
        </p:spPr>
        <p:txBody>
          <a:bodyPr wrap="square">
            <a:spAutoFit/>
          </a:bodyPr>
          <a:lstStyle/>
          <a:p>
            <a:pPr algn="l"/>
            <a:r>
              <a:rPr sz="1100" b="0" i="0">
                <a:solidFill>
                  <a:srgbClr val="D0D7E3"/>
                </a:solidFill>
                <a:latin typeface="Calibri"/>
              </a:rPr>
              <a:t>Ensemble of 150 decision trees.
Handles non-linear patterns well.</a:t>
            </a:r>
          </a:p>
        </p:txBody>
      </p:sp>
      <p:sp>
        <p:nvSpPr>
          <p:cNvPr id="32" name="Rectangle 31"/>
          <p:cNvSpPr/>
          <p:nvPr/>
        </p:nvSpPr>
        <p:spPr>
          <a:xfrm>
            <a:off x="8275319" y="2743200"/>
            <a:ext cx="3749039" cy="20116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275319" y="2743200"/>
            <a:ext cx="3749039" cy="4114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2480" y="2788920"/>
            <a:ext cx="914400" cy="347472"/>
          </a:xfrm>
          <a:prstGeom prst="rect">
            <a:avLst/>
          </a:prstGeom>
          <a:noFill/>
        </p:spPr>
        <p:txBody>
          <a:bodyPr wrap="square">
            <a:spAutoFit/>
          </a:bodyPr>
          <a:lstStyle/>
          <a:p>
            <a:pPr algn="l"/>
            <a:r>
              <a:rPr sz="1000" b="1" i="0">
                <a:solidFill>
                  <a:srgbClr val="FFFFFF"/>
                </a:solidFill>
                <a:latin typeface="Calibri"/>
              </a:rPr>
              <a:t>Model 3</a:t>
            </a:r>
          </a:p>
        </p:txBody>
      </p:sp>
      <p:sp>
        <p:nvSpPr>
          <p:cNvPr id="35" name="TextBox 34"/>
          <p:cNvSpPr txBox="1"/>
          <p:nvPr/>
        </p:nvSpPr>
        <p:spPr>
          <a:xfrm>
            <a:off x="9189719" y="2788920"/>
            <a:ext cx="2651760" cy="347472"/>
          </a:xfrm>
          <a:prstGeom prst="rect">
            <a:avLst/>
          </a:prstGeom>
          <a:noFill/>
        </p:spPr>
        <p:txBody>
          <a:bodyPr wrap="square">
            <a:spAutoFit/>
          </a:bodyPr>
          <a:lstStyle/>
          <a:p>
            <a:pPr algn="l"/>
            <a:r>
              <a:rPr sz="1200" b="1" i="0">
                <a:solidFill>
                  <a:srgbClr val="FFFFFF"/>
                </a:solidFill>
                <a:latin typeface="Calibri"/>
              </a:rPr>
              <a:t>Gradient Boosting</a:t>
            </a:r>
          </a:p>
        </p:txBody>
      </p:sp>
      <p:sp>
        <p:nvSpPr>
          <p:cNvPr id="36" name="TextBox 35"/>
          <p:cNvSpPr txBox="1"/>
          <p:nvPr/>
        </p:nvSpPr>
        <p:spPr>
          <a:xfrm>
            <a:off x="8412480" y="3246120"/>
            <a:ext cx="3474720" cy="1188720"/>
          </a:xfrm>
          <a:prstGeom prst="rect">
            <a:avLst/>
          </a:prstGeom>
          <a:noFill/>
        </p:spPr>
        <p:txBody>
          <a:bodyPr wrap="square">
            <a:spAutoFit/>
          </a:bodyPr>
          <a:lstStyle/>
          <a:p>
            <a:pPr algn="l"/>
            <a:r>
              <a:rPr sz="1100" b="0" i="0">
                <a:solidFill>
                  <a:srgbClr val="D0D7E3"/>
                </a:solidFill>
                <a:latin typeface="Calibri"/>
              </a:rPr>
              <a:t>Sequential tree boosting.
Best for complex tabular 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185415" cy="256032"/>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002536" cy="228600"/>
          </a:xfrm>
          <a:prstGeom prst="rect">
            <a:avLst/>
          </a:prstGeom>
          <a:noFill/>
        </p:spPr>
        <p:txBody>
          <a:bodyPr wrap="square">
            <a:spAutoFit/>
          </a:bodyPr>
          <a:lstStyle/>
          <a:p>
            <a:pPr algn="l"/>
            <a:r>
              <a:rPr sz="900" b="1" i="0">
                <a:solidFill>
                  <a:srgbClr val="FFFFFF"/>
                </a:solidFill>
                <a:latin typeface="Calibri"/>
              </a:rPr>
              <a:t>PREDICTIVE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Model Performance Comparison</a:t>
            </a:r>
          </a:p>
        </p:txBody>
      </p:sp>
      <p:sp>
        <p:nvSpPr>
          <p:cNvPr id="6" name="Rectangle 5"/>
          <p:cNvSpPr/>
          <p:nvPr/>
        </p:nvSpPr>
        <p:spPr>
          <a:xfrm>
            <a:off x="320040" y="1170432"/>
            <a:ext cx="11521440" cy="36576"/>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8_model_performance.png"/>
          <p:cNvPicPr>
            <a:picLocks noChangeAspect="1"/>
          </p:cNvPicPr>
          <p:nvPr/>
        </p:nvPicPr>
        <p:blipFill>
          <a:blip r:embed="rId3"/>
          <a:stretch>
            <a:fillRect/>
          </a:stretch>
        </p:blipFill>
        <p:spPr>
          <a:xfrm>
            <a:off x="320040" y="1371600"/>
            <a:ext cx="8229600" cy="5074920"/>
          </a:xfrm>
          <a:prstGeom prst="rect">
            <a:avLst/>
          </a:prstGeom>
        </p:spPr>
      </p:pic>
      <p:sp>
        <p:nvSpPr>
          <p:cNvPr id="11" name="Rectangle 10"/>
          <p:cNvSpPr/>
          <p:nvPr/>
        </p:nvSpPr>
        <p:spPr>
          <a:xfrm>
            <a:off x="8778240" y="1371600"/>
            <a:ext cx="3063240" cy="507492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42832" y="1508760"/>
            <a:ext cx="2743200" cy="347472"/>
          </a:xfrm>
          <a:prstGeom prst="rect">
            <a:avLst/>
          </a:prstGeom>
          <a:noFill/>
        </p:spPr>
        <p:txBody>
          <a:bodyPr wrap="square">
            <a:spAutoFit/>
          </a:bodyPr>
          <a:lstStyle/>
          <a:p>
            <a:pPr algn="l"/>
            <a:r>
              <a:rPr sz="1300" b="1" i="0">
                <a:solidFill>
                  <a:srgbClr val="F5A623"/>
                </a:solidFill>
                <a:latin typeface="Calibri"/>
              </a:rPr>
              <a:t>Final Scores</a:t>
            </a:r>
          </a:p>
        </p:txBody>
      </p:sp>
      <p:sp>
        <p:nvSpPr>
          <p:cNvPr id="13" name="Rectangle 12"/>
          <p:cNvSpPr/>
          <p:nvPr/>
        </p:nvSpPr>
        <p:spPr>
          <a:xfrm>
            <a:off x="8915400" y="1920240"/>
            <a:ext cx="2743200" cy="13258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15400" y="1920240"/>
            <a:ext cx="64008" cy="1325880"/>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98280" y="1965960"/>
            <a:ext cx="1737360" cy="457200"/>
          </a:xfrm>
          <a:prstGeom prst="rect">
            <a:avLst/>
          </a:prstGeom>
          <a:noFill/>
        </p:spPr>
        <p:txBody>
          <a:bodyPr wrap="square">
            <a:spAutoFit/>
          </a:bodyPr>
          <a:lstStyle/>
          <a:p>
            <a:pPr algn="l"/>
            <a:r>
              <a:rPr sz="1050" b="1" i="0">
                <a:solidFill>
                  <a:srgbClr val="FFFFFF"/>
                </a:solidFill>
                <a:latin typeface="Calibri"/>
              </a:rPr>
              <a:t>Logistic
Regression</a:t>
            </a:r>
          </a:p>
        </p:txBody>
      </p:sp>
      <p:sp>
        <p:nvSpPr>
          <p:cNvPr id="16" name="TextBox 15"/>
          <p:cNvSpPr txBox="1"/>
          <p:nvPr/>
        </p:nvSpPr>
        <p:spPr>
          <a:xfrm>
            <a:off x="9098280" y="2468880"/>
            <a:ext cx="2377440" cy="347472"/>
          </a:xfrm>
          <a:prstGeom prst="rect">
            <a:avLst/>
          </a:prstGeom>
          <a:noFill/>
        </p:spPr>
        <p:txBody>
          <a:bodyPr wrap="square">
            <a:spAutoFit/>
          </a:bodyPr>
          <a:lstStyle/>
          <a:p>
            <a:pPr algn="l"/>
            <a:r>
              <a:rPr sz="1200" b="0" i="0">
                <a:solidFill>
                  <a:srgbClr val="008B8B"/>
                </a:solidFill>
                <a:latin typeface="Calibri"/>
              </a:rPr>
              <a:t>AUC: 0.723</a:t>
            </a:r>
          </a:p>
        </p:txBody>
      </p:sp>
      <p:sp>
        <p:nvSpPr>
          <p:cNvPr id="17" name="TextBox 16"/>
          <p:cNvSpPr txBox="1"/>
          <p:nvPr/>
        </p:nvSpPr>
        <p:spPr>
          <a:xfrm>
            <a:off x="9098280" y="2816352"/>
            <a:ext cx="2377440" cy="347472"/>
          </a:xfrm>
          <a:prstGeom prst="rect">
            <a:avLst/>
          </a:prstGeom>
          <a:noFill/>
        </p:spPr>
        <p:txBody>
          <a:bodyPr wrap="square">
            <a:spAutoFit/>
          </a:bodyPr>
          <a:lstStyle/>
          <a:p>
            <a:pPr algn="l"/>
            <a:r>
              <a:rPr sz="1200" b="0" i="0">
                <a:solidFill>
                  <a:srgbClr val="D0D7E3"/>
                </a:solidFill>
                <a:latin typeface="Calibri"/>
              </a:rPr>
              <a:t>Acc: 80.4%</a:t>
            </a:r>
          </a:p>
        </p:txBody>
      </p:sp>
      <p:sp>
        <p:nvSpPr>
          <p:cNvPr id="18" name="Rectangle 17"/>
          <p:cNvSpPr/>
          <p:nvPr/>
        </p:nvSpPr>
        <p:spPr>
          <a:xfrm>
            <a:off x="8915400" y="3429000"/>
            <a:ext cx="2743200" cy="13258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15400" y="3429000"/>
            <a:ext cx="64008" cy="1325880"/>
          </a:xfrm>
          <a:prstGeom prst="rect">
            <a:avLst/>
          </a:prstGeom>
          <a:solidFill>
            <a:srgbClr val="278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98280" y="3474720"/>
            <a:ext cx="1737360" cy="457200"/>
          </a:xfrm>
          <a:prstGeom prst="rect">
            <a:avLst/>
          </a:prstGeom>
          <a:noFill/>
        </p:spPr>
        <p:txBody>
          <a:bodyPr wrap="square">
            <a:spAutoFit/>
          </a:bodyPr>
          <a:lstStyle/>
          <a:p>
            <a:pPr algn="l"/>
            <a:r>
              <a:rPr sz="1050" b="1" i="0">
                <a:solidFill>
                  <a:srgbClr val="FFFFFF"/>
                </a:solidFill>
                <a:latin typeface="Calibri"/>
              </a:rPr>
              <a:t>Random
Forest</a:t>
            </a:r>
          </a:p>
        </p:txBody>
      </p:sp>
      <p:sp>
        <p:nvSpPr>
          <p:cNvPr id="21" name="TextBox 20"/>
          <p:cNvSpPr txBox="1"/>
          <p:nvPr/>
        </p:nvSpPr>
        <p:spPr>
          <a:xfrm>
            <a:off x="9098280" y="3977639"/>
            <a:ext cx="2377440" cy="347472"/>
          </a:xfrm>
          <a:prstGeom prst="rect">
            <a:avLst/>
          </a:prstGeom>
          <a:noFill/>
        </p:spPr>
        <p:txBody>
          <a:bodyPr wrap="square">
            <a:spAutoFit/>
          </a:bodyPr>
          <a:lstStyle/>
          <a:p>
            <a:pPr algn="l"/>
            <a:r>
              <a:rPr sz="1200" b="0" i="0">
                <a:solidFill>
                  <a:srgbClr val="008B8B"/>
                </a:solidFill>
                <a:latin typeface="Calibri"/>
              </a:rPr>
              <a:t>AUC: 0.785</a:t>
            </a:r>
          </a:p>
        </p:txBody>
      </p:sp>
      <p:sp>
        <p:nvSpPr>
          <p:cNvPr id="22" name="TextBox 21"/>
          <p:cNvSpPr txBox="1"/>
          <p:nvPr/>
        </p:nvSpPr>
        <p:spPr>
          <a:xfrm>
            <a:off x="9098280" y="4325112"/>
            <a:ext cx="2377440" cy="347472"/>
          </a:xfrm>
          <a:prstGeom prst="rect">
            <a:avLst/>
          </a:prstGeom>
          <a:noFill/>
        </p:spPr>
        <p:txBody>
          <a:bodyPr wrap="square">
            <a:spAutoFit/>
          </a:bodyPr>
          <a:lstStyle/>
          <a:p>
            <a:pPr algn="l"/>
            <a:r>
              <a:rPr sz="1200" b="0" i="0">
                <a:solidFill>
                  <a:srgbClr val="D0D7E3"/>
                </a:solidFill>
                <a:latin typeface="Calibri"/>
              </a:rPr>
              <a:t>Acc: 84.1%</a:t>
            </a:r>
          </a:p>
        </p:txBody>
      </p:sp>
      <p:sp>
        <p:nvSpPr>
          <p:cNvPr id="23" name="Rectangle 22"/>
          <p:cNvSpPr/>
          <p:nvPr/>
        </p:nvSpPr>
        <p:spPr>
          <a:xfrm>
            <a:off x="8915400" y="4937760"/>
            <a:ext cx="2743200" cy="13258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15400" y="4937760"/>
            <a:ext cx="64008" cy="13258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8280" y="4983480"/>
            <a:ext cx="1737360" cy="457200"/>
          </a:xfrm>
          <a:prstGeom prst="rect">
            <a:avLst/>
          </a:prstGeom>
          <a:noFill/>
        </p:spPr>
        <p:txBody>
          <a:bodyPr wrap="square">
            <a:spAutoFit/>
          </a:bodyPr>
          <a:lstStyle/>
          <a:p>
            <a:pPr algn="l"/>
            <a:r>
              <a:rPr sz="1050" b="1" i="0">
                <a:solidFill>
                  <a:srgbClr val="FFFFFF"/>
                </a:solidFill>
                <a:latin typeface="Calibri"/>
              </a:rPr>
              <a:t>Gradient
Boosting 🏆</a:t>
            </a:r>
          </a:p>
        </p:txBody>
      </p:sp>
      <p:sp>
        <p:nvSpPr>
          <p:cNvPr id="26" name="TextBox 25"/>
          <p:cNvSpPr txBox="1"/>
          <p:nvPr/>
        </p:nvSpPr>
        <p:spPr>
          <a:xfrm>
            <a:off x="9098280" y="5486400"/>
            <a:ext cx="2377440" cy="347472"/>
          </a:xfrm>
          <a:prstGeom prst="rect">
            <a:avLst/>
          </a:prstGeom>
          <a:noFill/>
        </p:spPr>
        <p:txBody>
          <a:bodyPr wrap="square">
            <a:spAutoFit/>
          </a:bodyPr>
          <a:lstStyle/>
          <a:p>
            <a:pPr algn="l"/>
            <a:r>
              <a:rPr sz="1200" b="0" i="0">
                <a:solidFill>
                  <a:srgbClr val="008B8B"/>
                </a:solidFill>
                <a:latin typeface="Calibri"/>
              </a:rPr>
              <a:t>AUC: 0.800</a:t>
            </a:r>
          </a:p>
        </p:txBody>
      </p:sp>
      <p:sp>
        <p:nvSpPr>
          <p:cNvPr id="27" name="TextBox 26"/>
          <p:cNvSpPr txBox="1"/>
          <p:nvPr/>
        </p:nvSpPr>
        <p:spPr>
          <a:xfrm>
            <a:off x="9098280" y="5833872"/>
            <a:ext cx="2377440" cy="347472"/>
          </a:xfrm>
          <a:prstGeom prst="rect">
            <a:avLst/>
          </a:prstGeom>
          <a:noFill/>
        </p:spPr>
        <p:txBody>
          <a:bodyPr wrap="square">
            <a:spAutoFit/>
          </a:bodyPr>
          <a:lstStyle/>
          <a:p>
            <a:pPr algn="l"/>
            <a:r>
              <a:rPr sz="1200" b="0" i="0">
                <a:solidFill>
                  <a:srgbClr val="D0D7E3"/>
                </a:solidFill>
                <a:latin typeface="Calibri"/>
              </a:rPr>
              <a:t>Acc: 84.6%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185415" cy="256032"/>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002536" cy="228600"/>
          </a:xfrm>
          <a:prstGeom prst="rect">
            <a:avLst/>
          </a:prstGeom>
          <a:noFill/>
        </p:spPr>
        <p:txBody>
          <a:bodyPr wrap="square">
            <a:spAutoFit/>
          </a:bodyPr>
          <a:lstStyle/>
          <a:p>
            <a:pPr algn="l"/>
            <a:r>
              <a:rPr sz="900" b="1" i="0">
                <a:solidFill>
                  <a:srgbClr val="FFFFFF"/>
                </a:solidFill>
                <a:latin typeface="Calibri"/>
              </a:rPr>
              <a:t>PREDICTIVE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Feature Importance — What Drives Attrition?</a:t>
            </a:r>
          </a:p>
        </p:txBody>
      </p:sp>
      <p:sp>
        <p:nvSpPr>
          <p:cNvPr id="6" name="Rectangle 5"/>
          <p:cNvSpPr/>
          <p:nvPr/>
        </p:nvSpPr>
        <p:spPr>
          <a:xfrm>
            <a:off x="320040" y="1170432"/>
            <a:ext cx="11521440" cy="36576"/>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9_feature_importance.png"/>
          <p:cNvPicPr>
            <a:picLocks noChangeAspect="1"/>
          </p:cNvPicPr>
          <p:nvPr/>
        </p:nvPicPr>
        <p:blipFill>
          <a:blip r:embed="rId3"/>
          <a:stretch>
            <a:fillRect/>
          </a:stretch>
        </p:blipFill>
        <p:spPr>
          <a:xfrm>
            <a:off x="320040" y="1371600"/>
            <a:ext cx="8229600" cy="4754880"/>
          </a:xfrm>
          <a:prstGeom prst="rect">
            <a:avLst/>
          </a:prstGeom>
        </p:spPr>
      </p:pic>
      <p:sp>
        <p:nvSpPr>
          <p:cNvPr id="11" name="Rectangle 10"/>
          <p:cNvSpPr/>
          <p:nvPr/>
        </p:nvSpPr>
        <p:spPr>
          <a:xfrm>
            <a:off x="8778240" y="1371600"/>
            <a:ext cx="3063240" cy="475488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42832" y="1508760"/>
            <a:ext cx="2743200" cy="347472"/>
          </a:xfrm>
          <a:prstGeom prst="rect">
            <a:avLst/>
          </a:prstGeom>
          <a:noFill/>
        </p:spPr>
        <p:txBody>
          <a:bodyPr wrap="square">
            <a:spAutoFit/>
          </a:bodyPr>
          <a:lstStyle/>
          <a:p>
            <a:pPr algn="l"/>
            <a:r>
              <a:rPr sz="1300" b="1" i="0">
                <a:solidFill>
                  <a:srgbClr val="F5A623"/>
                </a:solidFill>
                <a:latin typeface="Calibri"/>
              </a:rPr>
              <a:t>⭐ Env Features</a:t>
            </a:r>
          </a:p>
        </p:txBody>
      </p:sp>
      <p:sp>
        <p:nvSpPr>
          <p:cNvPr id="13" name="Rectangle 12"/>
          <p:cNvSpPr/>
          <p:nvPr/>
        </p:nvSpPr>
        <p:spPr>
          <a:xfrm>
            <a:off x="8915400" y="1938528"/>
            <a:ext cx="2743200" cy="56692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34272" y="1993392"/>
            <a:ext cx="1828800" cy="320040"/>
          </a:xfrm>
          <a:prstGeom prst="rect">
            <a:avLst/>
          </a:prstGeom>
          <a:noFill/>
        </p:spPr>
        <p:txBody>
          <a:bodyPr wrap="square">
            <a:spAutoFit/>
          </a:bodyPr>
          <a:lstStyle/>
          <a:p>
            <a:pPr algn="l"/>
            <a:r>
              <a:rPr sz="1050" b="0" i="0">
                <a:solidFill>
                  <a:srgbClr val="D0D7E3"/>
                </a:solidFill>
                <a:latin typeface="Calibri"/>
              </a:rPr>
              <a:t>Env Satisfaction</a:t>
            </a:r>
          </a:p>
        </p:txBody>
      </p:sp>
      <p:sp>
        <p:nvSpPr>
          <p:cNvPr id="15" name="TextBox 14"/>
          <p:cNvSpPr txBox="1"/>
          <p:nvPr/>
        </p:nvSpPr>
        <p:spPr>
          <a:xfrm>
            <a:off x="10716768" y="1965960"/>
            <a:ext cx="822960" cy="457200"/>
          </a:xfrm>
          <a:prstGeom prst="rect">
            <a:avLst/>
          </a:prstGeom>
          <a:noFill/>
        </p:spPr>
        <p:txBody>
          <a:bodyPr wrap="square">
            <a:spAutoFit/>
          </a:bodyPr>
          <a:lstStyle/>
          <a:p>
            <a:pPr algn="r"/>
            <a:r>
              <a:rPr sz="1800" b="1" i="0">
                <a:solidFill>
                  <a:srgbClr val="F5A623"/>
                </a:solidFill>
                <a:latin typeface="Calibri"/>
              </a:rPr>
              <a:t>10.0%</a:t>
            </a:r>
          </a:p>
        </p:txBody>
      </p:sp>
      <p:sp>
        <p:nvSpPr>
          <p:cNvPr id="16" name="Rectangle 15"/>
          <p:cNvSpPr/>
          <p:nvPr/>
        </p:nvSpPr>
        <p:spPr>
          <a:xfrm>
            <a:off x="8915400" y="2596896"/>
            <a:ext cx="2743200" cy="56692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34272" y="2651760"/>
            <a:ext cx="1828800" cy="320040"/>
          </a:xfrm>
          <a:prstGeom prst="rect">
            <a:avLst/>
          </a:prstGeom>
          <a:noFill/>
        </p:spPr>
        <p:txBody>
          <a:bodyPr wrap="square">
            <a:spAutoFit/>
          </a:bodyPr>
          <a:lstStyle/>
          <a:p>
            <a:pPr algn="l"/>
            <a:r>
              <a:rPr sz="1050" b="0" i="0">
                <a:solidFill>
                  <a:srgbClr val="D0D7E3"/>
                </a:solidFill>
                <a:latin typeface="Calibri"/>
              </a:rPr>
              <a:t>Job Involvement</a:t>
            </a:r>
          </a:p>
        </p:txBody>
      </p:sp>
      <p:sp>
        <p:nvSpPr>
          <p:cNvPr id="18" name="TextBox 17"/>
          <p:cNvSpPr txBox="1"/>
          <p:nvPr/>
        </p:nvSpPr>
        <p:spPr>
          <a:xfrm>
            <a:off x="10716768" y="2624327"/>
            <a:ext cx="822960" cy="457200"/>
          </a:xfrm>
          <a:prstGeom prst="rect">
            <a:avLst/>
          </a:prstGeom>
          <a:noFill/>
        </p:spPr>
        <p:txBody>
          <a:bodyPr wrap="square">
            <a:spAutoFit/>
          </a:bodyPr>
          <a:lstStyle/>
          <a:p>
            <a:pPr algn="r"/>
            <a:r>
              <a:rPr sz="1800" b="1" i="0">
                <a:solidFill>
                  <a:srgbClr val="F5A623"/>
                </a:solidFill>
                <a:latin typeface="Calibri"/>
              </a:rPr>
              <a:t>8.3%</a:t>
            </a:r>
          </a:p>
        </p:txBody>
      </p:sp>
      <p:sp>
        <p:nvSpPr>
          <p:cNvPr id="19" name="Rectangle 18"/>
          <p:cNvSpPr/>
          <p:nvPr/>
        </p:nvSpPr>
        <p:spPr>
          <a:xfrm>
            <a:off x="8915400" y="3255264"/>
            <a:ext cx="2743200" cy="56692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34272" y="3310128"/>
            <a:ext cx="1828800" cy="320040"/>
          </a:xfrm>
          <a:prstGeom prst="rect">
            <a:avLst/>
          </a:prstGeom>
          <a:noFill/>
        </p:spPr>
        <p:txBody>
          <a:bodyPr wrap="square">
            <a:spAutoFit/>
          </a:bodyPr>
          <a:lstStyle/>
          <a:p>
            <a:pPr algn="l"/>
            <a:r>
              <a:rPr sz="1050" b="0" i="0">
                <a:solidFill>
                  <a:srgbClr val="D0D7E3"/>
                </a:solidFill>
                <a:latin typeface="Calibri"/>
              </a:rPr>
              <a:t>Work-Life Balance</a:t>
            </a:r>
          </a:p>
        </p:txBody>
      </p:sp>
      <p:sp>
        <p:nvSpPr>
          <p:cNvPr id="21" name="TextBox 20"/>
          <p:cNvSpPr txBox="1"/>
          <p:nvPr/>
        </p:nvSpPr>
        <p:spPr>
          <a:xfrm>
            <a:off x="10716768" y="3282696"/>
            <a:ext cx="822960" cy="457200"/>
          </a:xfrm>
          <a:prstGeom prst="rect">
            <a:avLst/>
          </a:prstGeom>
          <a:noFill/>
        </p:spPr>
        <p:txBody>
          <a:bodyPr wrap="square">
            <a:spAutoFit/>
          </a:bodyPr>
          <a:lstStyle/>
          <a:p>
            <a:pPr algn="r"/>
            <a:r>
              <a:rPr sz="1800" b="1" i="0">
                <a:solidFill>
                  <a:srgbClr val="F5A623"/>
                </a:solidFill>
                <a:latin typeface="Calibri"/>
              </a:rPr>
              <a:t>8.1%</a:t>
            </a:r>
          </a:p>
        </p:txBody>
      </p:sp>
      <p:sp>
        <p:nvSpPr>
          <p:cNvPr id="22" name="Rectangle 21"/>
          <p:cNvSpPr/>
          <p:nvPr/>
        </p:nvSpPr>
        <p:spPr>
          <a:xfrm>
            <a:off x="8915400" y="3913632"/>
            <a:ext cx="2743200" cy="56692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34272" y="3968496"/>
            <a:ext cx="1828800" cy="320040"/>
          </a:xfrm>
          <a:prstGeom prst="rect">
            <a:avLst/>
          </a:prstGeom>
          <a:noFill/>
        </p:spPr>
        <p:txBody>
          <a:bodyPr wrap="square">
            <a:spAutoFit/>
          </a:bodyPr>
          <a:lstStyle/>
          <a:p>
            <a:pPr algn="l"/>
            <a:r>
              <a:rPr sz="1050" b="0" i="0">
                <a:solidFill>
                  <a:srgbClr val="D0D7E3"/>
                </a:solidFill>
                <a:latin typeface="Calibri"/>
              </a:rPr>
              <a:t>Job Satisfaction</a:t>
            </a:r>
          </a:p>
        </p:txBody>
      </p:sp>
      <p:sp>
        <p:nvSpPr>
          <p:cNvPr id="24" name="TextBox 23"/>
          <p:cNvSpPr txBox="1"/>
          <p:nvPr/>
        </p:nvSpPr>
        <p:spPr>
          <a:xfrm>
            <a:off x="10716768" y="3941064"/>
            <a:ext cx="822960" cy="457200"/>
          </a:xfrm>
          <a:prstGeom prst="rect">
            <a:avLst/>
          </a:prstGeom>
          <a:noFill/>
        </p:spPr>
        <p:txBody>
          <a:bodyPr wrap="square">
            <a:spAutoFit/>
          </a:bodyPr>
          <a:lstStyle/>
          <a:p>
            <a:pPr algn="r"/>
            <a:r>
              <a:rPr sz="1800" b="1" i="0">
                <a:solidFill>
                  <a:srgbClr val="F5A623"/>
                </a:solidFill>
                <a:latin typeface="Calibri"/>
              </a:rPr>
              <a:t>6.7%</a:t>
            </a:r>
          </a:p>
        </p:txBody>
      </p:sp>
      <p:sp>
        <p:nvSpPr>
          <p:cNvPr id="25" name="Rectangle 24"/>
          <p:cNvSpPr/>
          <p:nvPr/>
        </p:nvSpPr>
        <p:spPr>
          <a:xfrm>
            <a:off x="8915400" y="4572000"/>
            <a:ext cx="2743200" cy="566928"/>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34272" y="4626864"/>
            <a:ext cx="1828800" cy="320040"/>
          </a:xfrm>
          <a:prstGeom prst="rect">
            <a:avLst/>
          </a:prstGeom>
          <a:noFill/>
        </p:spPr>
        <p:txBody>
          <a:bodyPr wrap="square">
            <a:spAutoFit/>
          </a:bodyPr>
          <a:lstStyle/>
          <a:p>
            <a:pPr algn="l"/>
            <a:r>
              <a:rPr sz="1050" b="0" i="0">
                <a:solidFill>
                  <a:srgbClr val="D0D7E3"/>
                </a:solidFill>
                <a:latin typeface="Calibri"/>
              </a:rPr>
              <a:t>Overtime</a:t>
            </a:r>
          </a:p>
        </p:txBody>
      </p:sp>
      <p:sp>
        <p:nvSpPr>
          <p:cNvPr id="27" name="TextBox 26"/>
          <p:cNvSpPr txBox="1"/>
          <p:nvPr/>
        </p:nvSpPr>
        <p:spPr>
          <a:xfrm>
            <a:off x="10716768" y="4599432"/>
            <a:ext cx="822960" cy="457200"/>
          </a:xfrm>
          <a:prstGeom prst="rect">
            <a:avLst/>
          </a:prstGeom>
          <a:noFill/>
        </p:spPr>
        <p:txBody>
          <a:bodyPr wrap="square">
            <a:spAutoFit/>
          </a:bodyPr>
          <a:lstStyle/>
          <a:p>
            <a:pPr algn="r"/>
            <a:r>
              <a:rPr sz="1800" b="1" i="0">
                <a:solidFill>
                  <a:srgbClr val="F5A623"/>
                </a:solidFill>
                <a:latin typeface="Calibri"/>
              </a:rPr>
              <a:t>2.1%</a:t>
            </a:r>
          </a:p>
        </p:txBody>
      </p:sp>
      <p:sp>
        <p:nvSpPr>
          <p:cNvPr id="28" name="Rectangle 27"/>
          <p:cNvSpPr/>
          <p:nvPr/>
        </p:nvSpPr>
        <p:spPr>
          <a:xfrm>
            <a:off x="8915400" y="5303520"/>
            <a:ext cx="2743200" cy="685800"/>
          </a:xfrm>
          <a:prstGeom prst="rect">
            <a:avLst/>
          </a:prstGeom>
          <a:solidFill>
            <a:srgbClr val="0A3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06840" y="5321808"/>
            <a:ext cx="2560320" cy="640080"/>
          </a:xfrm>
          <a:prstGeom prst="rect">
            <a:avLst/>
          </a:prstGeom>
          <a:noFill/>
        </p:spPr>
        <p:txBody>
          <a:bodyPr wrap="square">
            <a:spAutoFit/>
          </a:bodyPr>
          <a:lstStyle/>
          <a:p>
            <a:pPr algn="l"/>
            <a:r>
              <a:rPr sz="1100" b="1" i="0">
                <a:solidFill>
                  <a:srgbClr val="2EA86B"/>
                </a:solidFill>
                <a:latin typeface="Calibri"/>
              </a:rPr>
              <a:t>Combined: ~47% of
total predictive power
comes from env features!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2185415" cy="256032"/>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2002536" cy="228600"/>
          </a:xfrm>
          <a:prstGeom prst="rect">
            <a:avLst/>
          </a:prstGeom>
          <a:noFill/>
        </p:spPr>
        <p:txBody>
          <a:bodyPr wrap="square">
            <a:spAutoFit/>
          </a:bodyPr>
          <a:lstStyle/>
          <a:p>
            <a:pPr algn="l"/>
            <a:r>
              <a:rPr sz="900" b="1" i="0">
                <a:solidFill>
                  <a:srgbClr val="FFFFFF"/>
                </a:solidFill>
                <a:latin typeface="Calibri"/>
              </a:rPr>
              <a:t>PREDICTIVE ANALYSIS</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Predictive Scenario Analysis — The Key Proof</a:t>
            </a:r>
          </a:p>
        </p:txBody>
      </p:sp>
      <p:sp>
        <p:nvSpPr>
          <p:cNvPr id="6" name="Rectangle 5"/>
          <p:cNvSpPr/>
          <p:nvPr/>
        </p:nvSpPr>
        <p:spPr>
          <a:xfrm>
            <a:off x="320040" y="1170432"/>
            <a:ext cx="11521440" cy="36576"/>
          </a:xfrm>
          <a:prstGeom prst="rect">
            <a:avLst/>
          </a:prstGeom>
          <a:solidFill>
            <a:srgbClr val="1A6E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417320"/>
            <a:ext cx="10972800" cy="365760"/>
          </a:xfrm>
          <a:prstGeom prst="rect">
            <a:avLst/>
          </a:prstGeom>
          <a:noFill/>
        </p:spPr>
        <p:txBody>
          <a:bodyPr wrap="square">
            <a:spAutoFit/>
          </a:bodyPr>
          <a:lstStyle/>
          <a:p>
            <a:pPr algn="l"/>
            <a:r>
              <a:rPr sz="1300" b="0" i="1">
                <a:solidFill>
                  <a:srgbClr val="D0D7E3"/>
                </a:solidFill>
                <a:latin typeface="Calibri"/>
              </a:rPr>
              <a:t>Same average developer profile — ONLY the work environment changes:</a:t>
            </a:r>
          </a:p>
        </p:txBody>
      </p:sp>
      <p:sp>
        <p:nvSpPr>
          <p:cNvPr id="8" name="Rectangle 7"/>
          <p:cNvSpPr/>
          <p:nvPr/>
        </p:nvSpPr>
        <p:spPr>
          <a:xfrm>
            <a:off x="320040" y="1874519"/>
            <a:ext cx="3657600" cy="42062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874519"/>
            <a:ext cx="3657600" cy="50292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901952"/>
            <a:ext cx="3383280" cy="457200"/>
          </a:xfrm>
          <a:prstGeom prst="rect">
            <a:avLst/>
          </a:prstGeom>
          <a:noFill/>
        </p:spPr>
        <p:txBody>
          <a:bodyPr wrap="square">
            <a:spAutoFit/>
          </a:bodyPr>
          <a:lstStyle/>
          <a:p>
            <a:pPr algn="l"/>
            <a:r>
              <a:rPr sz="1400" b="1" i="0">
                <a:solidFill>
                  <a:srgbClr val="FFFFFF"/>
                </a:solidFill>
                <a:latin typeface="Calibri"/>
              </a:rPr>
              <a:t>😔  LOW
Environment</a:t>
            </a:r>
          </a:p>
        </p:txBody>
      </p:sp>
      <p:sp>
        <p:nvSpPr>
          <p:cNvPr id="11" name="TextBox 10"/>
          <p:cNvSpPr txBox="1"/>
          <p:nvPr/>
        </p:nvSpPr>
        <p:spPr>
          <a:xfrm>
            <a:off x="502920" y="2514600"/>
            <a:ext cx="3291840" cy="822960"/>
          </a:xfrm>
          <a:prstGeom prst="rect">
            <a:avLst/>
          </a:prstGeom>
          <a:noFill/>
        </p:spPr>
        <p:txBody>
          <a:bodyPr wrap="square">
            <a:spAutoFit/>
          </a:bodyPr>
          <a:lstStyle/>
          <a:p>
            <a:pPr algn="l"/>
            <a:r>
              <a:rPr sz="1200" b="0" i="0">
                <a:solidFill>
                  <a:srgbClr val="D0D7E3"/>
                </a:solidFill>
                <a:latin typeface="Calibri"/>
              </a:rPr>
              <a:t>Env Sat = 1
WLB = 1
Overtime = Yes</a:t>
            </a:r>
          </a:p>
        </p:txBody>
      </p:sp>
      <p:sp>
        <p:nvSpPr>
          <p:cNvPr id="12" name="Rectangle 11"/>
          <p:cNvSpPr/>
          <p:nvPr/>
        </p:nvSpPr>
        <p:spPr>
          <a:xfrm>
            <a:off x="594359" y="3429000"/>
            <a:ext cx="3108960" cy="1280160"/>
          </a:xfrm>
          <a:prstGeom prst="rect">
            <a:avLst/>
          </a:prstGeom>
          <a:solidFill>
            <a:srgbClr val="06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59" y="3493008"/>
            <a:ext cx="3108960" cy="777240"/>
          </a:xfrm>
          <a:prstGeom prst="rect">
            <a:avLst/>
          </a:prstGeom>
          <a:noFill/>
        </p:spPr>
        <p:txBody>
          <a:bodyPr wrap="square">
            <a:spAutoFit/>
          </a:bodyPr>
          <a:lstStyle/>
          <a:p>
            <a:pPr algn="ctr"/>
            <a:r>
              <a:rPr sz="4000" b="1" i="0">
                <a:solidFill>
                  <a:srgbClr val="E83A3A"/>
                </a:solidFill>
                <a:latin typeface="Calibri"/>
              </a:rPr>
              <a:t>31.1%</a:t>
            </a:r>
          </a:p>
        </p:txBody>
      </p:sp>
      <p:sp>
        <p:nvSpPr>
          <p:cNvPr id="14" name="TextBox 13"/>
          <p:cNvSpPr txBox="1"/>
          <p:nvPr/>
        </p:nvSpPr>
        <p:spPr>
          <a:xfrm>
            <a:off x="594359" y="4187952"/>
            <a:ext cx="3108960" cy="411480"/>
          </a:xfrm>
          <a:prstGeom prst="rect">
            <a:avLst/>
          </a:prstGeom>
          <a:noFill/>
        </p:spPr>
        <p:txBody>
          <a:bodyPr wrap="square">
            <a:spAutoFit/>
          </a:bodyPr>
          <a:lstStyle/>
          <a:p>
            <a:pPr algn="ctr"/>
            <a:r>
              <a:rPr sz="1100" b="0" i="0">
                <a:solidFill>
                  <a:srgbClr val="D0D7E3"/>
                </a:solidFill>
                <a:latin typeface="Calibri"/>
              </a:rPr>
              <a:t>Attrition
Risk</a:t>
            </a:r>
          </a:p>
        </p:txBody>
      </p:sp>
      <p:sp>
        <p:nvSpPr>
          <p:cNvPr id="15" name="TextBox 14"/>
          <p:cNvSpPr txBox="1"/>
          <p:nvPr/>
        </p:nvSpPr>
        <p:spPr>
          <a:xfrm>
            <a:off x="502920" y="4846320"/>
            <a:ext cx="3291840" cy="1097280"/>
          </a:xfrm>
          <a:prstGeom prst="rect">
            <a:avLst/>
          </a:prstGeom>
          <a:noFill/>
        </p:spPr>
        <p:txBody>
          <a:bodyPr wrap="square">
            <a:spAutoFit/>
          </a:bodyPr>
          <a:lstStyle/>
          <a:p>
            <a:pPr algn="l"/>
            <a:r>
              <a:rPr sz="1100" b="0" i="1">
                <a:solidFill>
                  <a:srgbClr val="D0D7E3"/>
                </a:solidFill>
                <a:latin typeface="Calibri"/>
              </a:rPr>
              <a:t>High disengagement.
Developers likely to
leave soon.</a:t>
            </a:r>
          </a:p>
        </p:txBody>
      </p:sp>
      <p:sp>
        <p:nvSpPr>
          <p:cNvPr id="16" name="TextBox 15"/>
          <p:cNvSpPr txBox="1"/>
          <p:nvPr/>
        </p:nvSpPr>
        <p:spPr>
          <a:xfrm>
            <a:off x="3954780" y="3634740"/>
            <a:ext cx="228600" cy="731520"/>
          </a:xfrm>
          <a:prstGeom prst="rect">
            <a:avLst/>
          </a:prstGeom>
          <a:noFill/>
        </p:spPr>
        <p:txBody>
          <a:bodyPr wrap="square">
            <a:spAutoFit/>
          </a:bodyPr>
          <a:lstStyle/>
          <a:p>
            <a:pPr algn="ctr"/>
            <a:r>
              <a:rPr sz="2800" b="1" i="0" dirty="0">
                <a:solidFill>
                  <a:srgbClr val="6B7A99"/>
                </a:solidFill>
                <a:latin typeface="Calibri"/>
              </a:rPr>
              <a:t>→</a:t>
            </a:r>
          </a:p>
        </p:txBody>
      </p:sp>
      <p:sp>
        <p:nvSpPr>
          <p:cNvPr id="17" name="Rectangle 16"/>
          <p:cNvSpPr/>
          <p:nvPr/>
        </p:nvSpPr>
        <p:spPr>
          <a:xfrm>
            <a:off x="4270248" y="1874519"/>
            <a:ext cx="3657600" cy="42062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70248" y="1874519"/>
            <a:ext cx="3657600" cy="502920"/>
          </a:xfrm>
          <a:prstGeom prst="rect">
            <a:avLst/>
          </a:prstGeom>
          <a:solidFill>
            <a:srgbClr val="E8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07408" y="1901952"/>
            <a:ext cx="3383280" cy="457200"/>
          </a:xfrm>
          <a:prstGeom prst="rect">
            <a:avLst/>
          </a:prstGeom>
          <a:noFill/>
        </p:spPr>
        <p:txBody>
          <a:bodyPr wrap="square">
            <a:spAutoFit/>
          </a:bodyPr>
          <a:lstStyle/>
          <a:p>
            <a:pPr algn="l"/>
            <a:r>
              <a:rPr sz="1400" b="1" i="0">
                <a:solidFill>
                  <a:srgbClr val="FFFFFF"/>
                </a:solidFill>
                <a:latin typeface="Calibri"/>
              </a:rPr>
              <a:t>😐  MEDIUM
Environment</a:t>
            </a:r>
          </a:p>
        </p:txBody>
      </p:sp>
      <p:sp>
        <p:nvSpPr>
          <p:cNvPr id="20" name="TextBox 19"/>
          <p:cNvSpPr txBox="1"/>
          <p:nvPr/>
        </p:nvSpPr>
        <p:spPr>
          <a:xfrm>
            <a:off x="4453128" y="2514600"/>
            <a:ext cx="3291840" cy="822960"/>
          </a:xfrm>
          <a:prstGeom prst="rect">
            <a:avLst/>
          </a:prstGeom>
          <a:noFill/>
        </p:spPr>
        <p:txBody>
          <a:bodyPr wrap="square">
            <a:spAutoFit/>
          </a:bodyPr>
          <a:lstStyle/>
          <a:p>
            <a:pPr algn="l"/>
            <a:r>
              <a:rPr sz="1200" b="0" i="0">
                <a:solidFill>
                  <a:srgbClr val="D0D7E3"/>
                </a:solidFill>
                <a:latin typeface="Calibri"/>
              </a:rPr>
              <a:t>Env Sat = 3
WLB = 3
Overtime = No</a:t>
            </a:r>
          </a:p>
        </p:txBody>
      </p:sp>
      <p:sp>
        <p:nvSpPr>
          <p:cNvPr id="21" name="Rectangle 20"/>
          <p:cNvSpPr/>
          <p:nvPr/>
        </p:nvSpPr>
        <p:spPr>
          <a:xfrm>
            <a:off x="4544568" y="3429000"/>
            <a:ext cx="3108960" cy="1280160"/>
          </a:xfrm>
          <a:prstGeom prst="rect">
            <a:avLst/>
          </a:prstGeom>
          <a:solidFill>
            <a:srgbClr val="06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44568" y="3493008"/>
            <a:ext cx="3108960" cy="777240"/>
          </a:xfrm>
          <a:prstGeom prst="rect">
            <a:avLst/>
          </a:prstGeom>
          <a:noFill/>
        </p:spPr>
        <p:txBody>
          <a:bodyPr wrap="square">
            <a:spAutoFit/>
          </a:bodyPr>
          <a:lstStyle/>
          <a:p>
            <a:pPr algn="ctr"/>
            <a:r>
              <a:rPr sz="4000" b="1" i="0">
                <a:solidFill>
                  <a:srgbClr val="E88A00"/>
                </a:solidFill>
                <a:latin typeface="Calibri"/>
              </a:rPr>
              <a:t>20.4%</a:t>
            </a:r>
          </a:p>
        </p:txBody>
      </p:sp>
      <p:sp>
        <p:nvSpPr>
          <p:cNvPr id="23" name="TextBox 22"/>
          <p:cNvSpPr txBox="1"/>
          <p:nvPr/>
        </p:nvSpPr>
        <p:spPr>
          <a:xfrm>
            <a:off x="4544568" y="4187952"/>
            <a:ext cx="3108960" cy="411480"/>
          </a:xfrm>
          <a:prstGeom prst="rect">
            <a:avLst/>
          </a:prstGeom>
          <a:noFill/>
        </p:spPr>
        <p:txBody>
          <a:bodyPr wrap="square">
            <a:spAutoFit/>
          </a:bodyPr>
          <a:lstStyle/>
          <a:p>
            <a:pPr algn="ctr"/>
            <a:r>
              <a:rPr sz="1100" b="0" i="0">
                <a:solidFill>
                  <a:srgbClr val="D0D7E3"/>
                </a:solidFill>
                <a:latin typeface="Calibri"/>
              </a:rPr>
              <a:t>Attrition
Risk</a:t>
            </a:r>
          </a:p>
        </p:txBody>
      </p:sp>
      <p:sp>
        <p:nvSpPr>
          <p:cNvPr id="24" name="TextBox 23"/>
          <p:cNvSpPr txBox="1"/>
          <p:nvPr/>
        </p:nvSpPr>
        <p:spPr>
          <a:xfrm>
            <a:off x="4453128" y="4846320"/>
            <a:ext cx="3291840" cy="1097280"/>
          </a:xfrm>
          <a:prstGeom prst="rect">
            <a:avLst/>
          </a:prstGeom>
          <a:noFill/>
        </p:spPr>
        <p:txBody>
          <a:bodyPr wrap="square">
            <a:spAutoFit/>
          </a:bodyPr>
          <a:lstStyle/>
          <a:p>
            <a:pPr algn="l"/>
            <a:r>
              <a:rPr sz="1100" b="0" i="1">
                <a:solidFill>
                  <a:srgbClr val="D0D7E3"/>
                </a:solidFill>
                <a:latin typeface="Calibri"/>
              </a:rPr>
              <a:t>Moderate risk.
Some stability,
room to improve.</a:t>
            </a:r>
          </a:p>
        </p:txBody>
      </p:sp>
      <p:sp>
        <p:nvSpPr>
          <p:cNvPr id="25" name="TextBox 24"/>
          <p:cNvSpPr txBox="1"/>
          <p:nvPr/>
        </p:nvSpPr>
        <p:spPr>
          <a:xfrm>
            <a:off x="7904988" y="3566160"/>
            <a:ext cx="228600" cy="731520"/>
          </a:xfrm>
          <a:prstGeom prst="rect">
            <a:avLst/>
          </a:prstGeom>
          <a:noFill/>
        </p:spPr>
        <p:txBody>
          <a:bodyPr wrap="square">
            <a:spAutoFit/>
          </a:bodyPr>
          <a:lstStyle/>
          <a:p>
            <a:pPr algn="ctr"/>
            <a:r>
              <a:rPr sz="2800" b="1" i="0" dirty="0">
                <a:solidFill>
                  <a:srgbClr val="6B7A99"/>
                </a:solidFill>
                <a:latin typeface="Calibri"/>
              </a:rPr>
              <a:t>→</a:t>
            </a:r>
          </a:p>
        </p:txBody>
      </p:sp>
      <p:sp>
        <p:nvSpPr>
          <p:cNvPr id="26" name="Rectangle 25"/>
          <p:cNvSpPr/>
          <p:nvPr/>
        </p:nvSpPr>
        <p:spPr>
          <a:xfrm>
            <a:off x="8220456" y="1874519"/>
            <a:ext cx="3657600" cy="420624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20456" y="1874519"/>
            <a:ext cx="3657600" cy="50292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57616" y="1901952"/>
            <a:ext cx="3383280" cy="457200"/>
          </a:xfrm>
          <a:prstGeom prst="rect">
            <a:avLst/>
          </a:prstGeom>
          <a:noFill/>
        </p:spPr>
        <p:txBody>
          <a:bodyPr wrap="square">
            <a:spAutoFit/>
          </a:bodyPr>
          <a:lstStyle/>
          <a:p>
            <a:pPr algn="l"/>
            <a:r>
              <a:rPr sz="1400" b="1" i="0">
                <a:solidFill>
                  <a:srgbClr val="FFFFFF"/>
                </a:solidFill>
                <a:latin typeface="Calibri"/>
              </a:rPr>
              <a:t>😊  HIGH
Environment</a:t>
            </a:r>
          </a:p>
        </p:txBody>
      </p:sp>
      <p:sp>
        <p:nvSpPr>
          <p:cNvPr id="29" name="TextBox 28"/>
          <p:cNvSpPr txBox="1"/>
          <p:nvPr/>
        </p:nvSpPr>
        <p:spPr>
          <a:xfrm>
            <a:off x="8403336" y="2514600"/>
            <a:ext cx="3291840" cy="822960"/>
          </a:xfrm>
          <a:prstGeom prst="rect">
            <a:avLst/>
          </a:prstGeom>
          <a:noFill/>
        </p:spPr>
        <p:txBody>
          <a:bodyPr wrap="square">
            <a:spAutoFit/>
          </a:bodyPr>
          <a:lstStyle/>
          <a:p>
            <a:pPr algn="l"/>
            <a:r>
              <a:rPr sz="1200" b="0" i="0">
                <a:solidFill>
                  <a:srgbClr val="D0D7E3"/>
                </a:solidFill>
                <a:latin typeface="Calibri"/>
              </a:rPr>
              <a:t>Env Sat = 5
WLB = 5
Overtime = No</a:t>
            </a:r>
          </a:p>
        </p:txBody>
      </p:sp>
      <p:sp>
        <p:nvSpPr>
          <p:cNvPr id="30" name="Rectangle 29"/>
          <p:cNvSpPr/>
          <p:nvPr/>
        </p:nvSpPr>
        <p:spPr>
          <a:xfrm>
            <a:off x="8494776" y="3429000"/>
            <a:ext cx="3108960" cy="1280160"/>
          </a:xfrm>
          <a:prstGeom prst="rect">
            <a:avLst/>
          </a:prstGeom>
          <a:solidFill>
            <a:srgbClr val="06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94776" y="3493008"/>
            <a:ext cx="3108960" cy="777240"/>
          </a:xfrm>
          <a:prstGeom prst="rect">
            <a:avLst/>
          </a:prstGeom>
          <a:noFill/>
        </p:spPr>
        <p:txBody>
          <a:bodyPr wrap="square">
            <a:spAutoFit/>
          </a:bodyPr>
          <a:lstStyle/>
          <a:p>
            <a:pPr algn="ctr"/>
            <a:r>
              <a:rPr sz="4000" b="1" i="0">
                <a:solidFill>
                  <a:srgbClr val="2EA86B"/>
                </a:solidFill>
                <a:latin typeface="Calibri"/>
              </a:rPr>
              <a:t>6.3%</a:t>
            </a:r>
          </a:p>
        </p:txBody>
      </p:sp>
      <p:sp>
        <p:nvSpPr>
          <p:cNvPr id="32" name="TextBox 31"/>
          <p:cNvSpPr txBox="1"/>
          <p:nvPr/>
        </p:nvSpPr>
        <p:spPr>
          <a:xfrm>
            <a:off x="8494776" y="4187952"/>
            <a:ext cx="3108960" cy="411480"/>
          </a:xfrm>
          <a:prstGeom prst="rect">
            <a:avLst/>
          </a:prstGeom>
          <a:noFill/>
        </p:spPr>
        <p:txBody>
          <a:bodyPr wrap="square">
            <a:spAutoFit/>
          </a:bodyPr>
          <a:lstStyle/>
          <a:p>
            <a:pPr algn="ctr"/>
            <a:r>
              <a:rPr sz="1100" b="0" i="0">
                <a:solidFill>
                  <a:srgbClr val="D0D7E3"/>
                </a:solidFill>
                <a:latin typeface="Calibri"/>
              </a:rPr>
              <a:t>Attrition
Risk</a:t>
            </a:r>
          </a:p>
        </p:txBody>
      </p:sp>
      <p:sp>
        <p:nvSpPr>
          <p:cNvPr id="33" name="TextBox 32"/>
          <p:cNvSpPr txBox="1"/>
          <p:nvPr/>
        </p:nvSpPr>
        <p:spPr>
          <a:xfrm>
            <a:off x="8403336" y="4846320"/>
            <a:ext cx="3291840" cy="1097280"/>
          </a:xfrm>
          <a:prstGeom prst="rect">
            <a:avLst/>
          </a:prstGeom>
          <a:noFill/>
        </p:spPr>
        <p:txBody>
          <a:bodyPr wrap="square">
            <a:spAutoFit/>
          </a:bodyPr>
          <a:lstStyle/>
          <a:p>
            <a:pPr algn="l"/>
            <a:r>
              <a:rPr sz="1100" b="0" i="1">
                <a:solidFill>
                  <a:srgbClr val="D0D7E3"/>
                </a:solidFill>
                <a:latin typeface="Calibri"/>
              </a:rPr>
              <a:t>Low disengagement.
Developers engaged
and staying!</a:t>
            </a:r>
          </a:p>
        </p:txBody>
      </p:sp>
      <p:sp>
        <p:nvSpPr>
          <p:cNvPr id="34" name="Rectangle 33"/>
          <p:cNvSpPr/>
          <p:nvPr/>
        </p:nvSpPr>
        <p:spPr>
          <a:xfrm>
            <a:off x="320040" y="6217920"/>
            <a:ext cx="11521440" cy="457200"/>
          </a:xfrm>
          <a:prstGeom prst="rect">
            <a:avLst/>
          </a:prstGeom>
          <a:solidFill>
            <a:srgbClr val="0A3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6263640"/>
            <a:ext cx="11155680" cy="384048"/>
          </a:xfrm>
          <a:prstGeom prst="rect">
            <a:avLst/>
          </a:prstGeom>
          <a:noFill/>
        </p:spPr>
        <p:txBody>
          <a:bodyPr wrap="square">
            <a:spAutoFit/>
          </a:bodyPr>
          <a:lstStyle/>
          <a:p>
            <a:pPr algn="ctr"/>
            <a:r>
              <a:rPr sz="1200" b="1" i="0">
                <a:solidFill>
                  <a:srgbClr val="2EA86B"/>
                </a:solidFill>
                <a:latin typeface="Calibri"/>
              </a:rPr>
              <a:t>⚡  Improving environment from LOW → HIGH reduces attrition risk by 5× (from 31.1% to 6.3%) — SAME developer profile, ONLY the environment changed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D2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280160" cy="256032"/>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1097280" cy="228600"/>
          </a:xfrm>
          <a:prstGeom prst="rect">
            <a:avLst/>
          </a:prstGeom>
          <a:noFill/>
        </p:spPr>
        <p:txBody>
          <a:bodyPr wrap="square">
            <a:spAutoFit/>
          </a:bodyPr>
          <a:lstStyle/>
          <a:p>
            <a:pPr algn="l"/>
            <a:r>
              <a:rPr sz="900" b="1" i="0">
                <a:solidFill>
                  <a:srgbClr val="FFFFFF"/>
                </a:solidFill>
                <a:latin typeface="Calibri"/>
              </a:rPr>
              <a:t>CONCLUSION</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Final Summary Dashboard</a:t>
            </a:r>
          </a:p>
        </p:txBody>
      </p:sp>
      <p:sp>
        <p:nvSpPr>
          <p:cNvPr id="6" name="Rectangle 5"/>
          <p:cNvSpPr/>
          <p:nvPr/>
        </p:nvSpPr>
        <p:spPr>
          <a:xfrm>
            <a:off x="320040" y="1170432"/>
            <a:ext cx="11521440" cy="36576"/>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10_final_dashboard.png"/>
          <p:cNvPicPr>
            <a:picLocks noChangeAspect="1"/>
          </p:cNvPicPr>
          <p:nvPr/>
        </p:nvPicPr>
        <p:blipFill>
          <a:blip r:embed="rId3"/>
          <a:stretch>
            <a:fillRect/>
          </a:stretch>
        </p:blipFill>
        <p:spPr>
          <a:xfrm>
            <a:off x="320040" y="1371600"/>
            <a:ext cx="11521440" cy="52120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280160" cy="256032"/>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1097280" cy="228600"/>
          </a:xfrm>
          <a:prstGeom prst="rect">
            <a:avLst/>
          </a:prstGeom>
          <a:noFill/>
        </p:spPr>
        <p:txBody>
          <a:bodyPr wrap="square">
            <a:spAutoFit/>
          </a:bodyPr>
          <a:lstStyle/>
          <a:p>
            <a:pPr algn="l"/>
            <a:r>
              <a:rPr sz="900" b="1" i="0">
                <a:solidFill>
                  <a:srgbClr val="FFFFFF"/>
                </a:solidFill>
                <a:latin typeface="Calibri"/>
              </a:rPr>
              <a:t>CONCLUSION</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Verdict &amp; Key Takeaways</a:t>
            </a:r>
          </a:p>
        </p:txBody>
      </p:sp>
      <p:sp>
        <p:nvSpPr>
          <p:cNvPr id="6" name="Rectangle 5"/>
          <p:cNvSpPr/>
          <p:nvPr/>
        </p:nvSpPr>
        <p:spPr>
          <a:xfrm>
            <a:off x="320040" y="1170432"/>
            <a:ext cx="11521440" cy="36576"/>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11521440" cy="804672"/>
          </a:xfrm>
          <a:prstGeom prst="rect">
            <a:avLst/>
          </a:prstGeom>
          <a:solidFill>
            <a:srgbClr val="0A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71600"/>
            <a:ext cx="91440" cy="804672"/>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463040"/>
            <a:ext cx="10972800" cy="594360"/>
          </a:xfrm>
          <a:prstGeom prst="rect">
            <a:avLst/>
          </a:prstGeom>
          <a:noFill/>
        </p:spPr>
        <p:txBody>
          <a:bodyPr wrap="square">
            <a:spAutoFit/>
          </a:bodyPr>
          <a:lstStyle/>
          <a:p>
            <a:pPr algn="l"/>
            <a:r>
              <a:rPr sz="1700" b="1" i="0">
                <a:solidFill>
                  <a:srgbClr val="2EA86B"/>
                </a:solidFill>
                <a:latin typeface="Calibri"/>
              </a:rPr>
              <a:t>✅  VERDICT: PARTIALLY SUPPORTED — Strong Behavioural Evidence</a:t>
            </a:r>
          </a:p>
        </p:txBody>
      </p:sp>
      <p:sp>
        <p:nvSpPr>
          <p:cNvPr id="10" name="Rectangle 9"/>
          <p:cNvSpPr/>
          <p:nvPr/>
        </p:nvSpPr>
        <p:spPr>
          <a:xfrm>
            <a:off x="320040" y="2331720"/>
            <a:ext cx="3749039" cy="37947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2331720"/>
            <a:ext cx="3749039" cy="4572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359152"/>
            <a:ext cx="3474720" cy="411480"/>
          </a:xfrm>
          <a:prstGeom prst="rect">
            <a:avLst/>
          </a:prstGeom>
          <a:noFill/>
        </p:spPr>
        <p:txBody>
          <a:bodyPr wrap="square">
            <a:spAutoFit/>
          </a:bodyPr>
          <a:lstStyle/>
          <a:p>
            <a:pPr algn="l"/>
            <a:r>
              <a:rPr sz="1200" b="1" i="0">
                <a:solidFill>
                  <a:srgbClr val="FFFFFF"/>
                </a:solidFill>
                <a:latin typeface="Calibri"/>
              </a:rPr>
              <a:t>📊 Descriptive
Evidence</a:t>
            </a:r>
          </a:p>
        </p:txBody>
      </p:sp>
      <p:sp>
        <p:nvSpPr>
          <p:cNvPr id="13" name="TextBox 12"/>
          <p:cNvSpPr txBox="1"/>
          <p:nvPr/>
        </p:nvSpPr>
        <p:spPr>
          <a:xfrm>
            <a:off x="457200" y="2880360"/>
            <a:ext cx="3520440" cy="3108960"/>
          </a:xfrm>
          <a:prstGeom prst="rect">
            <a:avLst/>
          </a:prstGeom>
          <a:noFill/>
        </p:spPr>
        <p:txBody>
          <a:bodyPr wrap="square">
            <a:spAutoFit/>
          </a:bodyPr>
          <a:lstStyle/>
          <a:p>
            <a:pPr algn="l">
              <a:spcAft>
                <a:spcPts val="400"/>
              </a:spcAft>
            </a:pPr>
            <a:r>
              <a:rPr sz="1100">
                <a:solidFill>
                  <a:srgbClr val="D0D7E3"/>
                </a:solidFill>
                <a:latin typeface="Calibri"/>
              </a:rPr>
              <a:t>▸  Level 1 env → 27.1% attrition</a:t>
            </a:r>
          </a:p>
          <a:p>
            <a:pPr algn="l">
              <a:spcAft>
                <a:spcPts val="400"/>
              </a:spcAft>
            </a:pPr>
            <a:r>
              <a:rPr sz="1100">
                <a:solidFill>
                  <a:srgbClr val="D0D7E3"/>
                </a:solidFill>
                <a:latin typeface="Calibri"/>
              </a:rPr>
              <a:t>▸  Level 4 env → 12.7% attrition</a:t>
            </a:r>
          </a:p>
          <a:p>
            <a:pPr algn="l">
              <a:spcAft>
                <a:spcPts val="400"/>
              </a:spcAft>
            </a:pPr>
            <a:r>
              <a:rPr sz="1100">
                <a:solidFill>
                  <a:srgbClr val="D0D7E3"/>
                </a:solidFill>
                <a:latin typeface="Calibri"/>
              </a:rPr>
              <a:t>▸  2× more developers leave in poor environments</a:t>
            </a:r>
          </a:p>
          <a:p>
            <a:pPr algn="l">
              <a:spcAft>
                <a:spcPts val="400"/>
              </a:spcAft>
            </a:pPr>
            <a:r>
              <a:rPr sz="1100">
                <a:solidFill>
                  <a:srgbClr val="D0D7E3"/>
                </a:solidFill>
                <a:latin typeface="Calibri"/>
              </a:rPr>
              <a:t>▸  Motivation peaks at Level 3 (3.132)</a:t>
            </a:r>
          </a:p>
        </p:txBody>
      </p:sp>
      <p:sp>
        <p:nvSpPr>
          <p:cNvPr id="14" name="Rectangle 13"/>
          <p:cNvSpPr/>
          <p:nvPr/>
        </p:nvSpPr>
        <p:spPr>
          <a:xfrm>
            <a:off x="4270248" y="2331720"/>
            <a:ext cx="3749039" cy="37947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2331720"/>
            <a:ext cx="3749039" cy="457200"/>
          </a:xfrm>
          <a:prstGeom prst="rect">
            <a:avLst/>
          </a:prstGeom>
          <a:solidFill>
            <a:srgbClr val="9B5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07408" y="2359152"/>
            <a:ext cx="3474720" cy="411480"/>
          </a:xfrm>
          <a:prstGeom prst="rect">
            <a:avLst/>
          </a:prstGeom>
          <a:noFill/>
        </p:spPr>
        <p:txBody>
          <a:bodyPr wrap="square">
            <a:spAutoFit/>
          </a:bodyPr>
          <a:lstStyle/>
          <a:p>
            <a:pPr algn="l"/>
            <a:r>
              <a:rPr sz="1200" b="1" i="0">
                <a:solidFill>
                  <a:srgbClr val="FFFFFF"/>
                </a:solidFill>
                <a:latin typeface="Calibri"/>
              </a:rPr>
              <a:t>🔬 Statistical
Evidence</a:t>
            </a:r>
          </a:p>
        </p:txBody>
      </p:sp>
      <p:sp>
        <p:nvSpPr>
          <p:cNvPr id="17" name="TextBox 16"/>
          <p:cNvSpPr txBox="1"/>
          <p:nvPr/>
        </p:nvSpPr>
        <p:spPr>
          <a:xfrm>
            <a:off x="4407408" y="2880360"/>
            <a:ext cx="3520440" cy="3108960"/>
          </a:xfrm>
          <a:prstGeom prst="rect">
            <a:avLst/>
          </a:prstGeom>
          <a:noFill/>
        </p:spPr>
        <p:txBody>
          <a:bodyPr wrap="square">
            <a:spAutoFit/>
          </a:bodyPr>
          <a:lstStyle/>
          <a:p>
            <a:pPr algn="l">
              <a:spcAft>
                <a:spcPts val="400"/>
              </a:spcAft>
            </a:pPr>
            <a:r>
              <a:rPr sz="1100">
                <a:solidFill>
                  <a:srgbClr val="D0D7E3"/>
                </a:solidFill>
                <a:latin typeface="Calibri"/>
              </a:rPr>
              <a:t>▸  Chi-Square: p = 0.000145 ✅</a:t>
            </a:r>
          </a:p>
          <a:p>
            <a:pPr algn="l">
              <a:spcAft>
                <a:spcPts val="400"/>
              </a:spcAft>
            </a:pPr>
            <a:r>
              <a:rPr sz="1100">
                <a:solidFill>
                  <a:srgbClr val="D0D7E3"/>
                </a:solidFill>
                <a:latin typeface="Calibri"/>
              </a:rPr>
              <a:t>▸  Spearman (Env↔Attrition): p = 0.000062 ✅</a:t>
            </a:r>
          </a:p>
          <a:p>
            <a:pPr algn="l">
              <a:spcAft>
                <a:spcPts val="400"/>
              </a:spcAft>
            </a:pPr>
            <a:r>
              <a:rPr sz="1100">
                <a:solidFill>
                  <a:srgbClr val="D0D7E3"/>
                </a:solidFill>
                <a:latin typeface="Calibri"/>
              </a:rPr>
              <a:t>▸  Clear association between environment and exit behaviour</a:t>
            </a:r>
          </a:p>
          <a:p>
            <a:pPr algn="l">
              <a:spcAft>
                <a:spcPts val="400"/>
              </a:spcAft>
            </a:pPr>
            <a:r>
              <a:rPr sz="1100">
                <a:solidFill>
                  <a:srgbClr val="D0D7E3"/>
                </a:solidFill>
                <a:latin typeface="Calibri"/>
              </a:rPr>
              <a:t>▸  3 tests not significant (motivation scores stable)</a:t>
            </a:r>
          </a:p>
        </p:txBody>
      </p:sp>
      <p:sp>
        <p:nvSpPr>
          <p:cNvPr id="18" name="Rectangle 17"/>
          <p:cNvSpPr/>
          <p:nvPr/>
        </p:nvSpPr>
        <p:spPr>
          <a:xfrm>
            <a:off x="8220456" y="2331720"/>
            <a:ext cx="3749039" cy="379476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0456" y="2331720"/>
            <a:ext cx="3749039" cy="457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57616" y="2359152"/>
            <a:ext cx="3474720" cy="411480"/>
          </a:xfrm>
          <a:prstGeom prst="rect">
            <a:avLst/>
          </a:prstGeom>
          <a:noFill/>
        </p:spPr>
        <p:txBody>
          <a:bodyPr wrap="square">
            <a:spAutoFit/>
          </a:bodyPr>
          <a:lstStyle/>
          <a:p>
            <a:pPr algn="l"/>
            <a:r>
              <a:rPr sz="1200" b="1" i="0">
                <a:solidFill>
                  <a:srgbClr val="FFFFFF"/>
                </a:solidFill>
                <a:latin typeface="Calibri"/>
              </a:rPr>
              <a:t>🤖 Predictive
Evidence</a:t>
            </a:r>
          </a:p>
        </p:txBody>
      </p:sp>
      <p:sp>
        <p:nvSpPr>
          <p:cNvPr id="21" name="TextBox 20"/>
          <p:cNvSpPr txBox="1"/>
          <p:nvPr/>
        </p:nvSpPr>
        <p:spPr>
          <a:xfrm>
            <a:off x="8357616" y="2880360"/>
            <a:ext cx="3520440" cy="3108960"/>
          </a:xfrm>
          <a:prstGeom prst="rect">
            <a:avLst/>
          </a:prstGeom>
          <a:noFill/>
        </p:spPr>
        <p:txBody>
          <a:bodyPr wrap="square">
            <a:spAutoFit/>
          </a:bodyPr>
          <a:lstStyle/>
          <a:p>
            <a:pPr algn="l">
              <a:spcAft>
                <a:spcPts val="400"/>
              </a:spcAft>
            </a:pPr>
            <a:r>
              <a:rPr sz="1100">
                <a:solidFill>
                  <a:srgbClr val="D0D7E3"/>
                </a:solidFill>
                <a:latin typeface="Calibri"/>
              </a:rPr>
              <a:t>▸  Gradient Boosting: AUC = 0.800</a:t>
            </a:r>
          </a:p>
          <a:p>
            <a:pPr algn="l">
              <a:spcAft>
                <a:spcPts val="400"/>
              </a:spcAft>
            </a:pPr>
            <a:r>
              <a:rPr sz="1100">
                <a:solidFill>
                  <a:srgbClr val="D0D7E3"/>
                </a:solidFill>
                <a:latin typeface="Calibri"/>
              </a:rPr>
              <a:t>▸  Env features = 47% of predictive power</a:t>
            </a:r>
          </a:p>
          <a:p>
            <a:pPr algn="l">
              <a:spcAft>
                <a:spcPts val="400"/>
              </a:spcAft>
            </a:pPr>
            <a:r>
              <a:rPr sz="1100">
                <a:solidFill>
                  <a:srgbClr val="D0D7E3"/>
                </a:solidFill>
                <a:latin typeface="Calibri"/>
              </a:rPr>
              <a:t>▸  Low→High env cuts attrition 5× (31.1%→6.3%)</a:t>
            </a:r>
          </a:p>
          <a:p>
            <a:pPr algn="l">
              <a:spcAft>
                <a:spcPts val="400"/>
              </a:spcAft>
            </a:pPr>
            <a:r>
              <a:rPr sz="1100">
                <a:solidFill>
                  <a:srgbClr val="D0D7E3"/>
                </a:solidFill>
                <a:latin typeface="Calibri"/>
              </a:rPr>
              <a:t>▸  Environment is the single most actionable factor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08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164592"/>
            <a:ext cx="1280160" cy="256032"/>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82879"/>
            <a:ext cx="1097280" cy="228600"/>
          </a:xfrm>
          <a:prstGeom prst="rect">
            <a:avLst/>
          </a:prstGeom>
          <a:noFill/>
        </p:spPr>
        <p:txBody>
          <a:bodyPr wrap="square">
            <a:spAutoFit/>
          </a:bodyPr>
          <a:lstStyle/>
          <a:p>
            <a:pPr algn="l"/>
            <a:r>
              <a:rPr sz="900" b="1" i="0">
                <a:solidFill>
                  <a:srgbClr val="FFFFFF"/>
                </a:solidFill>
                <a:latin typeface="Calibri"/>
              </a:rPr>
              <a:t>CONCLUSION</a:t>
            </a:r>
          </a:p>
        </p:txBody>
      </p:sp>
      <p:sp>
        <p:nvSpPr>
          <p:cNvPr id="5" name="TextBox 4"/>
          <p:cNvSpPr txBox="1"/>
          <p:nvPr/>
        </p:nvSpPr>
        <p:spPr>
          <a:xfrm>
            <a:off x="320040" y="475488"/>
            <a:ext cx="11521440" cy="640080"/>
          </a:xfrm>
          <a:prstGeom prst="rect">
            <a:avLst/>
          </a:prstGeom>
          <a:noFill/>
        </p:spPr>
        <p:txBody>
          <a:bodyPr wrap="square">
            <a:spAutoFit/>
          </a:bodyPr>
          <a:lstStyle/>
          <a:p>
            <a:pPr algn="l"/>
            <a:r>
              <a:rPr sz="3000" b="1" i="0">
                <a:solidFill>
                  <a:srgbClr val="FFFFFF"/>
                </a:solidFill>
                <a:latin typeface="Calibri"/>
              </a:rPr>
              <a:t>Limitations &amp; Recommendations</a:t>
            </a:r>
          </a:p>
        </p:txBody>
      </p:sp>
      <p:sp>
        <p:nvSpPr>
          <p:cNvPr id="6" name="Rectangle 5"/>
          <p:cNvSpPr/>
          <p:nvPr/>
        </p:nvSpPr>
        <p:spPr>
          <a:xfrm>
            <a:off x="320040" y="1170432"/>
            <a:ext cx="11521440" cy="36576"/>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5394960" cy="52120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71600"/>
            <a:ext cx="5394960" cy="411480"/>
          </a:xfrm>
          <a:prstGeom prst="rect">
            <a:avLst/>
          </a:prstGeom>
          <a:solidFill>
            <a:srgbClr val="E8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17320"/>
            <a:ext cx="5029200" cy="347472"/>
          </a:xfrm>
          <a:prstGeom prst="rect">
            <a:avLst/>
          </a:prstGeom>
          <a:noFill/>
        </p:spPr>
        <p:txBody>
          <a:bodyPr wrap="square">
            <a:spAutoFit/>
          </a:bodyPr>
          <a:lstStyle/>
          <a:p>
            <a:pPr algn="l"/>
            <a:r>
              <a:rPr sz="1300" b="1" i="0">
                <a:solidFill>
                  <a:srgbClr val="FFFFFF"/>
                </a:solidFill>
                <a:latin typeface="Calibri"/>
              </a:rPr>
              <a:t>⚠️ Limitations</a:t>
            </a:r>
          </a:p>
        </p:txBody>
      </p:sp>
      <p:sp>
        <p:nvSpPr>
          <p:cNvPr id="10" name="TextBox 9"/>
          <p:cNvSpPr txBox="1"/>
          <p:nvPr/>
        </p:nvSpPr>
        <p:spPr>
          <a:xfrm>
            <a:off x="457200" y="1874519"/>
            <a:ext cx="5166360" cy="4572000"/>
          </a:xfrm>
          <a:prstGeom prst="rect">
            <a:avLst/>
          </a:prstGeom>
          <a:noFill/>
        </p:spPr>
        <p:txBody>
          <a:bodyPr wrap="square">
            <a:spAutoFit/>
          </a:bodyPr>
          <a:lstStyle/>
          <a:p>
            <a:pPr algn="l">
              <a:spcAft>
                <a:spcPts val="400"/>
              </a:spcAft>
            </a:pPr>
            <a:r>
              <a:rPr sz="1150">
                <a:solidFill>
                  <a:srgbClr val="D0D7E3"/>
                </a:solidFill>
                <a:latin typeface="Calibri"/>
              </a:rPr>
              <a:t>▸  Motivation measured indirectly through proxies (Job Involvement &amp; Satisfaction), not a dedicated motivation scale</a:t>
            </a:r>
          </a:p>
          <a:p>
            <a:pPr algn="l">
              <a:spcAft>
                <a:spcPts val="400"/>
              </a:spcAft>
            </a:pPr>
            <a:r>
              <a:rPr sz="1150">
                <a:solidFill>
                  <a:srgbClr val="D0D7E3"/>
                </a:solidFill>
                <a:latin typeface="Calibri"/>
              </a:rPr>
              <a:t>▸  Cross-sectional data — no before/after comparison to show causation</a:t>
            </a:r>
          </a:p>
          <a:p>
            <a:pPr algn="l">
              <a:spcAft>
                <a:spcPts val="400"/>
              </a:spcAft>
            </a:pPr>
            <a:r>
              <a:rPr sz="1150">
                <a:solidFill>
                  <a:srgbClr val="D0D7E3"/>
                </a:solidFill>
                <a:latin typeface="Calibri"/>
              </a:rPr>
              <a:t>▸  Self-reported scores may have social desirability bias — employees may rate higher than actual feelings</a:t>
            </a:r>
          </a:p>
          <a:p>
            <a:pPr algn="l">
              <a:spcAft>
                <a:spcPts val="400"/>
              </a:spcAft>
            </a:pPr>
            <a:r>
              <a:rPr sz="1150">
                <a:solidFill>
                  <a:srgbClr val="D0D7E3"/>
                </a:solidFill>
                <a:latin typeface="Calibri"/>
              </a:rPr>
              <a:t>▸  Attrition as motivation proxy assumes all leavers were unmotivated, which may not always be true</a:t>
            </a:r>
          </a:p>
          <a:p>
            <a:pPr algn="l">
              <a:spcAft>
                <a:spcPts val="400"/>
              </a:spcAft>
            </a:pPr>
            <a:r>
              <a:rPr sz="1150">
                <a:solidFill>
                  <a:srgbClr val="D0D7E3"/>
                </a:solidFill>
                <a:latin typeface="Calibri"/>
              </a:rPr>
              <a:t>▸  Dataset is synthetic/anonymised — real-world patterns may differ slightly</a:t>
            </a:r>
          </a:p>
        </p:txBody>
      </p:sp>
      <p:sp>
        <p:nvSpPr>
          <p:cNvPr id="11" name="Rectangle 10"/>
          <p:cNvSpPr/>
          <p:nvPr/>
        </p:nvSpPr>
        <p:spPr>
          <a:xfrm>
            <a:off x="5989320" y="1371600"/>
            <a:ext cx="5852160" cy="5212080"/>
          </a:xfrm>
          <a:prstGeom prst="rect">
            <a:avLst/>
          </a:prstGeom>
          <a:solidFill>
            <a:srgbClr val="0A2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89320" y="1371600"/>
            <a:ext cx="5852160" cy="411480"/>
          </a:xfrm>
          <a:prstGeom prst="rect">
            <a:avLst/>
          </a:prstGeom>
          <a:solidFill>
            <a:srgbClr val="2E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72200" y="1417320"/>
            <a:ext cx="5394960" cy="347472"/>
          </a:xfrm>
          <a:prstGeom prst="rect">
            <a:avLst/>
          </a:prstGeom>
          <a:noFill/>
        </p:spPr>
        <p:txBody>
          <a:bodyPr wrap="square">
            <a:spAutoFit/>
          </a:bodyPr>
          <a:lstStyle/>
          <a:p>
            <a:pPr algn="l"/>
            <a:r>
              <a:rPr sz="1300" b="1" i="0">
                <a:solidFill>
                  <a:srgbClr val="FFFFFF"/>
                </a:solidFill>
                <a:latin typeface="Calibri"/>
              </a:rPr>
              <a:t>✅ Recommendations</a:t>
            </a:r>
          </a:p>
        </p:txBody>
      </p:sp>
      <p:sp>
        <p:nvSpPr>
          <p:cNvPr id="14" name="TextBox 13"/>
          <p:cNvSpPr txBox="1"/>
          <p:nvPr/>
        </p:nvSpPr>
        <p:spPr>
          <a:xfrm>
            <a:off x="6108192" y="1874519"/>
            <a:ext cx="5623560" cy="4572000"/>
          </a:xfrm>
          <a:prstGeom prst="rect">
            <a:avLst/>
          </a:prstGeom>
          <a:noFill/>
        </p:spPr>
        <p:txBody>
          <a:bodyPr wrap="square">
            <a:spAutoFit/>
          </a:bodyPr>
          <a:lstStyle/>
          <a:p>
            <a:pPr algn="l">
              <a:spcAft>
                <a:spcPts val="400"/>
              </a:spcAft>
            </a:pPr>
            <a:r>
              <a:rPr sz="1150">
                <a:solidFill>
                  <a:srgbClr val="D0D7E3"/>
                </a:solidFill>
                <a:latin typeface="Calibri"/>
              </a:rPr>
              <a:t>▸  Invest in environment improvement programs — data shows they reduce attrition by up to 5×</a:t>
            </a:r>
          </a:p>
          <a:p>
            <a:pPr algn="l">
              <a:spcAft>
                <a:spcPts val="400"/>
              </a:spcAft>
            </a:pPr>
            <a:r>
              <a:rPr sz="1150">
                <a:solidFill>
                  <a:srgbClr val="D0D7E3"/>
                </a:solidFill>
                <a:latin typeface="Calibri"/>
              </a:rPr>
              <a:t>▸  Focus especially on Levels 1–2 environments — they have 27–30% attrition risk</a:t>
            </a:r>
          </a:p>
          <a:p>
            <a:pPr algn="l">
              <a:spcAft>
                <a:spcPts val="400"/>
              </a:spcAft>
            </a:pPr>
            <a:r>
              <a:rPr sz="1150">
                <a:solidFill>
                  <a:srgbClr val="D0D7E3"/>
                </a:solidFill>
                <a:latin typeface="Calibri"/>
              </a:rPr>
              <a:t>▸  Reduce mandatory overtime — even if it doesn't hurt motivation scores, it increases exit rate</a:t>
            </a:r>
          </a:p>
          <a:p>
            <a:pPr algn="l">
              <a:spcAft>
                <a:spcPts val="400"/>
              </a:spcAft>
            </a:pPr>
            <a:r>
              <a:rPr sz="1150">
                <a:solidFill>
                  <a:srgbClr val="D0D7E3"/>
                </a:solidFill>
                <a:latin typeface="Calibri"/>
              </a:rPr>
              <a:t>▸  Conduct regular environment satisfaction surveys to track changes over time</a:t>
            </a:r>
          </a:p>
          <a:p>
            <a:pPr algn="l">
              <a:spcAft>
                <a:spcPts val="400"/>
              </a:spcAft>
            </a:pPr>
            <a:r>
              <a:rPr sz="1150">
                <a:solidFill>
                  <a:srgbClr val="D0D7E3"/>
                </a:solidFill>
                <a:latin typeface="Calibri"/>
              </a:rPr>
              <a:t>▸  Future research: longitudinal study tracking same employees before/after environment changes would establish true causation</a:t>
            </a:r>
          </a:p>
          <a:p>
            <a:pPr algn="l">
              <a:spcAft>
                <a:spcPts val="400"/>
              </a:spcAft>
            </a:pPr>
            <a:r>
              <a:rPr sz="1150">
                <a:solidFill>
                  <a:srgbClr val="D0D7E3"/>
                </a:solidFill>
                <a:latin typeface="Calibri"/>
              </a:rPr>
              <a:t>▸  Consider adding a dedicated developer motivation scale to HR surveys for more direct measurement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234A"/>
        </a:solidFill>
        <a:effectLst/>
      </p:bgPr>
    </p:bg>
    <p:spTree>
      <p:nvGrpSpPr>
        <p:cNvPr id="1" name=""/>
        <p:cNvGrpSpPr/>
        <p:nvPr/>
      </p:nvGrpSpPr>
      <p:grpSpPr>
        <a:xfrm>
          <a:off x="0" y="0"/>
          <a:ext cx="0" cy="0"/>
          <a:chOff x="0" y="0"/>
          <a:chExt cx="0" cy="0"/>
        </a:xfrm>
      </p:grpSpPr>
      <p:sp>
        <p:nvSpPr>
          <p:cNvPr id="2" name="Rectangle 1"/>
          <p:cNvSpPr/>
          <p:nvPr/>
        </p:nvSpPr>
        <p:spPr>
          <a:xfrm>
            <a:off x="0" y="0"/>
            <a:ext cx="502920" cy="68580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2743200"/>
            <a:ext cx="1168603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005840"/>
            <a:ext cx="10515600" cy="1188720"/>
          </a:xfrm>
          <a:prstGeom prst="rect">
            <a:avLst/>
          </a:prstGeom>
          <a:noFill/>
        </p:spPr>
        <p:txBody>
          <a:bodyPr wrap="square">
            <a:spAutoFit/>
          </a:bodyPr>
          <a:lstStyle/>
          <a:p>
            <a:pPr algn="ctr"/>
            <a:r>
              <a:rPr sz="5200" b="1" i="0">
                <a:solidFill>
                  <a:srgbClr val="FFFFFF"/>
                </a:solidFill>
                <a:latin typeface="Calibri"/>
              </a:rPr>
              <a:t>Thank You</a:t>
            </a:r>
          </a:p>
        </p:txBody>
      </p:sp>
      <p:sp>
        <p:nvSpPr>
          <p:cNvPr id="5" name="TextBox 4"/>
          <p:cNvSpPr txBox="1"/>
          <p:nvPr/>
        </p:nvSpPr>
        <p:spPr>
          <a:xfrm>
            <a:off x="777240" y="2286000"/>
            <a:ext cx="10515600" cy="411480"/>
          </a:xfrm>
          <a:prstGeom prst="rect">
            <a:avLst/>
          </a:prstGeom>
          <a:noFill/>
        </p:spPr>
        <p:txBody>
          <a:bodyPr wrap="square">
            <a:spAutoFit/>
          </a:bodyPr>
          <a:lstStyle/>
          <a:p>
            <a:pPr algn="ctr"/>
            <a:r>
              <a:rPr sz="1800" b="0" i="0">
                <a:solidFill>
                  <a:srgbClr val="F5A623"/>
                </a:solidFill>
                <a:latin typeface="Calibri"/>
              </a:rPr>
              <a:t>Questions &amp; Discussion</a:t>
            </a:r>
          </a:p>
        </p:txBody>
      </p:sp>
      <p:sp>
        <p:nvSpPr>
          <p:cNvPr id="6" name="Rectangle 5"/>
          <p:cNvSpPr/>
          <p:nvPr/>
        </p:nvSpPr>
        <p:spPr>
          <a:xfrm>
            <a:off x="320040" y="2834640"/>
            <a:ext cx="2176272" cy="10972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2907792"/>
            <a:ext cx="2011680" cy="320040"/>
          </a:xfrm>
          <a:prstGeom prst="rect">
            <a:avLst/>
          </a:prstGeom>
          <a:noFill/>
        </p:spPr>
        <p:txBody>
          <a:bodyPr wrap="square">
            <a:spAutoFit/>
          </a:bodyPr>
          <a:lstStyle/>
          <a:p>
            <a:pPr algn="ctr"/>
            <a:r>
              <a:rPr sz="900" b="0" i="0">
                <a:solidFill>
                  <a:srgbClr val="6B7A99"/>
                </a:solidFill>
                <a:latin typeface="Calibri"/>
              </a:rPr>
              <a:t>Statement</a:t>
            </a:r>
          </a:p>
        </p:txBody>
      </p:sp>
      <p:sp>
        <p:nvSpPr>
          <p:cNvPr id="8" name="TextBox 7"/>
          <p:cNvSpPr txBox="1"/>
          <p:nvPr/>
        </p:nvSpPr>
        <p:spPr>
          <a:xfrm>
            <a:off x="393192" y="3246120"/>
            <a:ext cx="2029968" cy="594360"/>
          </a:xfrm>
          <a:prstGeom prst="rect">
            <a:avLst/>
          </a:prstGeom>
          <a:noFill/>
        </p:spPr>
        <p:txBody>
          <a:bodyPr wrap="square">
            <a:spAutoFit/>
          </a:bodyPr>
          <a:lstStyle/>
          <a:p>
            <a:pPr algn="ctr"/>
            <a:r>
              <a:rPr sz="1100" b="1" i="0">
                <a:solidFill>
                  <a:srgbClr val="F5A623"/>
                </a:solidFill>
                <a:latin typeface="Calibri"/>
              </a:rPr>
              <a:t>Partially Supported ✅</a:t>
            </a:r>
          </a:p>
        </p:txBody>
      </p:sp>
      <p:sp>
        <p:nvSpPr>
          <p:cNvPr id="9" name="Rectangle 8"/>
          <p:cNvSpPr/>
          <p:nvPr/>
        </p:nvSpPr>
        <p:spPr>
          <a:xfrm>
            <a:off x="2633472" y="2834640"/>
            <a:ext cx="2176272" cy="10972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24912" y="2907792"/>
            <a:ext cx="2011680" cy="320040"/>
          </a:xfrm>
          <a:prstGeom prst="rect">
            <a:avLst/>
          </a:prstGeom>
          <a:noFill/>
        </p:spPr>
        <p:txBody>
          <a:bodyPr wrap="square">
            <a:spAutoFit/>
          </a:bodyPr>
          <a:lstStyle/>
          <a:p>
            <a:pPr algn="ctr"/>
            <a:r>
              <a:rPr sz="900" b="0" i="0">
                <a:solidFill>
                  <a:srgbClr val="6B7A99"/>
                </a:solidFill>
                <a:latin typeface="Calibri"/>
              </a:rPr>
              <a:t>Dataset</a:t>
            </a:r>
          </a:p>
        </p:txBody>
      </p:sp>
      <p:sp>
        <p:nvSpPr>
          <p:cNvPr id="11" name="TextBox 10"/>
          <p:cNvSpPr txBox="1"/>
          <p:nvPr/>
        </p:nvSpPr>
        <p:spPr>
          <a:xfrm>
            <a:off x="2706624" y="3246120"/>
            <a:ext cx="2029968" cy="594360"/>
          </a:xfrm>
          <a:prstGeom prst="rect">
            <a:avLst/>
          </a:prstGeom>
          <a:noFill/>
        </p:spPr>
        <p:txBody>
          <a:bodyPr wrap="square">
            <a:spAutoFit/>
          </a:bodyPr>
          <a:lstStyle/>
          <a:p>
            <a:pPr algn="ctr"/>
            <a:r>
              <a:rPr sz="1100" b="1" i="0">
                <a:solidFill>
                  <a:srgbClr val="F5A623"/>
                </a:solidFill>
                <a:latin typeface="Calibri"/>
              </a:rPr>
              <a:t>10,000 Records</a:t>
            </a:r>
          </a:p>
        </p:txBody>
      </p:sp>
      <p:sp>
        <p:nvSpPr>
          <p:cNvPr id="12" name="Rectangle 11"/>
          <p:cNvSpPr/>
          <p:nvPr/>
        </p:nvSpPr>
        <p:spPr>
          <a:xfrm>
            <a:off x="4946903" y="2834640"/>
            <a:ext cx="2176272" cy="10972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38343" y="2907792"/>
            <a:ext cx="2011680" cy="320040"/>
          </a:xfrm>
          <a:prstGeom prst="rect">
            <a:avLst/>
          </a:prstGeom>
          <a:noFill/>
        </p:spPr>
        <p:txBody>
          <a:bodyPr wrap="square">
            <a:spAutoFit/>
          </a:bodyPr>
          <a:lstStyle/>
          <a:p>
            <a:pPr algn="ctr"/>
            <a:r>
              <a:rPr sz="900" b="0" i="0">
                <a:solidFill>
                  <a:srgbClr val="6B7A99"/>
                </a:solidFill>
                <a:latin typeface="Calibri"/>
              </a:rPr>
              <a:t>Tests</a:t>
            </a:r>
          </a:p>
        </p:txBody>
      </p:sp>
      <p:sp>
        <p:nvSpPr>
          <p:cNvPr id="14" name="TextBox 13"/>
          <p:cNvSpPr txBox="1"/>
          <p:nvPr/>
        </p:nvSpPr>
        <p:spPr>
          <a:xfrm>
            <a:off x="5020055" y="3246120"/>
            <a:ext cx="2029968" cy="594360"/>
          </a:xfrm>
          <a:prstGeom prst="rect">
            <a:avLst/>
          </a:prstGeom>
          <a:noFill/>
        </p:spPr>
        <p:txBody>
          <a:bodyPr wrap="square">
            <a:spAutoFit/>
          </a:bodyPr>
          <a:lstStyle/>
          <a:p>
            <a:pPr algn="ctr"/>
            <a:r>
              <a:rPr sz="1100" b="1" i="0">
                <a:solidFill>
                  <a:srgbClr val="F5A623"/>
                </a:solidFill>
                <a:latin typeface="Calibri"/>
              </a:rPr>
              <a:t>4 Statistical Tests</a:t>
            </a:r>
          </a:p>
        </p:txBody>
      </p:sp>
      <p:sp>
        <p:nvSpPr>
          <p:cNvPr id="15" name="Rectangle 14"/>
          <p:cNvSpPr/>
          <p:nvPr/>
        </p:nvSpPr>
        <p:spPr>
          <a:xfrm>
            <a:off x="7260336" y="2834640"/>
            <a:ext cx="2176272" cy="10972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51775" y="2907792"/>
            <a:ext cx="2011680" cy="320040"/>
          </a:xfrm>
          <a:prstGeom prst="rect">
            <a:avLst/>
          </a:prstGeom>
          <a:noFill/>
        </p:spPr>
        <p:txBody>
          <a:bodyPr wrap="square">
            <a:spAutoFit/>
          </a:bodyPr>
          <a:lstStyle/>
          <a:p>
            <a:pPr algn="ctr"/>
            <a:r>
              <a:rPr sz="900" b="0" i="0">
                <a:solidFill>
                  <a:srgbClr val="6B7A99"/>
                </a:solidFill>
                <a:latin typeface="Calibri"/>
              </a:rPr>
              <a:t>Best Model</a:t>
            </a:r>
          </a:p>
        </p:txBody>
      </p:sp>
      <p:sp>
        <p:nvSpPr>
          <p:cNvPr id="17" name="TextBox 16"/>
          <p:cNvSpPr txBox="1"/>
          <p:nvPr/>
        </p:nvSpPr>
        <p:spPr>
          <a:xfrm>
            <a:off x="7333488" y="3246120"/>
            <a:ext cx="2029968" cy="594360"/>
          </a:xfrm>
          <a:prstGeom prst="rect">
            <a:avLst/>
          </a:prstGeom>
          <a:noFill/>
        </p:spPr>
        <p:txBody>
          <a:bodyPr wrap="square">
            <a:spAutoFit/>
          </a:bodyPr>
          <a:lstStyle/>
          <a:p>
            <a:pPr algn="ctr"/>
            <a:r>
              <a:rPr sz="1100" b="1" i="0">
                <a:solidFill>
                  <a:srgbClr val="F5A623"/>
                </a:solidFill>
                <a:latin typeface="Calibri"/>
              </a:rPr>
              <a:t>Gradient Boosting AUC 0.800</a:t>
            </a:r>
          </a:p>
        </p:txBody>
      </p:sp>
      <p:sp>
        <p:nvSpPr>
          <p:cNvPr id="18" name="Rectangle 17"/>
          <p:cNvSpPr/>
          <p:nvPr/>
        </p:nvSpPr>
        <p:spPr>
          <a:xfrm>
            <a:off x="9573767" y="2834640"/>
            <a:ext cx="2176272" cy="1097280"/>
          </a:xfrm>
          <a:prstGeom prst="rect">
            <a:avLst/>
          </a:prstGeom>
          <a:solidFill>
            <a:srgbClr val="0A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65207" y="2907792"/>
            <a:ext cx="2011680" cy="320040"/>
          </a:xfrm>
          <a:prstGeom prst="rect">
            <a:avLst/>
          </a:prstGeom>
          <a:noFill/>
        </p:spPr>
        <p:txBody>
          <a:bodyPr wrap="square">
            <a:spAutoFit/>
          </a:bodyPr>
          <a:lstStyle/>
          <a:p>
            <a:pPr algn="ctr"/>
            <a:r>
              <a:rPr sz="900" b="0" i="0">
                <a:solidFill>
                  <a:srgbClr val="6B7A99"/>
                </a:solidFill>
                <a:latin typeface="Calibri"/>
              </a:rPr>
              <a:t>Key Finding</a:t>
            </a:r>
          </a:p>
        </p:txBody>
      </p:sp>
      <p:sp>
        <p:nvSpPr>
          <p:cNvPr id="20" name="TextBox 19"/>
          <p:cNvSpPr txBox="1"/>
          <p:nvPr/>
        </p:nvSpPr>
        <p:spPr>
          <a:xfrm>
            <a:off x="9646919" y="3246120"/>
            <a:ext cx="2029968" cy="594360"/>
          </a:xfrm>
          <a:prstGeom prst="rect">
            <a:avLst/>
          </a:prstGeom>
          <a:noFill/>
        </p:spPr>
        <p:txBody>
          <a:bodyPr wrap="square">
            <a:spAutoFit/>
          </a:bodyPr>
          <a:lstStyle/>
          <a:p>
            <a:pPr algn="ctr"/>
            <a:r>
              <a:rPr sz="1100" b="1" i="0">
                <a:solidFill>
                  <a:srgbClr val="F5A623"/>
                </a:solidFill>
                <a:latin typeface="Calibri"/>
              </a:rPr>
              <a:t>5× Attrition Reduction</a:t>
            </a:r>
          </a:p>
        </p:txBody>
      </p:sp>
      <p:sp>
        <p:nvSpPr>
          <p:cNvPr id="23" name="Rectangle 22"/>
          <p:cNvSpPr/>
          <p:nvPr/>
        </p:nvSpPr>
        <p:spPr>
          <a:xfrm>
            <a:off x="777240" y="5166360"/>
            <a:ext cx="10515600" cy="36576"/>
          </a:xfrm>
          <a:prstGeom prst="rect">
            <a:avLst/>
          </a:prstGeom>
          <a:solidFill>
            <a:srgbClr val="D0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3623</Words>
  <Application>Microsoft Office PowerPoint</Application>
  <PresentationFormat>Custom</PresentationFormat>
  <Paragraphs>440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dasuni samaraweera</dc:creator>
  <cp:keywords/>
  <dc:description>generated using python-pptx</dc:description>
  <cp:lastModifiedBy>BANDARA K M R H A it23222168</cp:lastModifiedBy>
  <cp:revision>4</cp:revision>
  <dcterms:created xsi:type="dcterms:W3CDTF">2013-01-27T09:14:16Z</dcterms:created>
  <dcterms:modified xsi:type="dcterms:W3CDTF">2026-04-26T03:13:16Z</dcterms:modified>
  <cp:category/>
</cp:coreProperties>
</file>